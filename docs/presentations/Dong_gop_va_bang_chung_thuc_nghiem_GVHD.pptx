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Thưa thầy, em trình bày lại nội dung dự án theo ba đóng góp chính: dung hợp tĩnh–động, chọn mẫu gán nhãn bằng XAI và kiểm tra chất lượng giải thích. Với mỗi phần, em nêu điểm khác biệt của cách tiếp cận và bảng hoặc biểu đồ đánh giá. Phần cuối đối chiếu các nội dung đã bổ sung theo góp ý Seminar. Các việc cần đối soát và bổ sung hình thực nghiệm được tách thành tài liệu làm việc đi kèm.</a:t>
            </a:r>
          </a:p>
          <a:p/>
          <a:p>
            <a:r>
              <a:t>Nguồn: luuvan.pdf; báo cáo gói thực nghiệm bổ sung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án kế thừa biểu diễn PE, mô hình học máy, PID, active learning và SHAP. Phần phát triển nằm ở cách tích hợp ba cơ chế. Thứ nhất là điều chỉnh trọng số khi kết hợp hai nguồn dự đoán. Thứ hai là dùng cấu trúc giải thích để chọn mẫu cần nhãn. Thứ ba là kiểm tra lời giải thích bằng phép đo thay vì chỉ xem biểu đồ. Các hướng kế thừa ở đây là mốc so sánh phương pháp; không dùng điểm AUC trên bộ dữ liệu khác để tuyên bố vượt nghiên cứu trước.</a:t>
            </a:r>
          </a:p>
          <a:p/>
          <a:p>
            <a:r>
              <a:t>Nguồn: luuvan.pdf §2.4, §3.2–3.4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Đầu tiên mô hình tĩnh cho xác suất. Cổng bất định xác định mẫu nào cần phân tích động. Khi có cả hai tín hiệu, PID xác định trọng số dung hợp. Song song, AL chọn mẫu để chuyên gia hoặc oracle cung cấp nhãn, rồi học lại mô hình trên tập nhãn tích lũy. Khung Fidelity đánh giá giải thích của mô hình tĩnh đang được sử dụng.</a:t>
            </a:r>
          </a:p>
          <a:p/>
          <a:p>
            <a:r>
              <a:t>Nguồn: luuvan.pdf §3.1–3.4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khác biệt của PID là trọng số thay đổi theo tín hiệu và trạng thái, thay vì cố định cho mọi trường hợp. P phản ứng với bất đồng hiện tại; I và D đưa thông tin về chuỗi vào cơ chế. Bảng bên phải trích Bảng 4.5 đang được báo cáo trong luận văn để trình bày cấu trúc so sánh tĩnh, động và các cách fusion. Bảng này thuộc nguồn bản thảo; công việc tái lập và thay thế bảng/hình được quản lý riêng trong phiếu đính kèm. Không dùng các số này như kết quả của pilot AL hoặc Fidelity mới chạy.</a:t>
            </a:r>
          </a:p>
          <a:p/>
          <a:p>
            <a:r>
              <a:t>Nguồn: luuvan.pdf §3.2; Bảng 4.5; Ke_hoach_bo_sung_thuc_nghiem.md, mục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 đo bất định từ xác suất. H là entropy của tỷ lệ tổng độ lớn SHAP dương và âm; nếu tổng bằng 0 thì H bằng 0. V là phương sai SHAP có dấu trên các chiều, bỏ thành phần bias. Mỗi thành phần được min-max trên pool ở vòng hiện tại. Trọng số 0,3/0,4/0,3 lấy từ cấu hình bản thảo. SHAP được tính lại bằng mô hình vừa huấn luyện của mỗi vòng. Pilot so Random, U, U+H, U+V và XAI đầy đủ ở cùng tập khởi tạo và ngân sách.</a:t>
            </a:r>
          </a:p>
          <a:p/>
          <a:p>
            <a:r>
              <a:t>Nguồn: pilot_al/config.json; §3.3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số đo mới của pilot trên CSV trong repository. Tại 700 nhãn, XAI đầy đủ đạt AUC 0,9749±0,0040; Uncertainty đạt 0,9691±0,0046 và Random đạt 0,9634±0,0063. Chênh lệch ghép cặp XAI trừ U là 0,005787 và dương ở cả năm seed. AP cũng tăng từ 0,9363 lên0,9442. Đường học thể hiện trung bình; vùng tô là±1 độ lệch chuẩn, không phải khoảng tin cậy. Bảng cắt bỏ cho biết kết quả cuối của H,V riêng và tổ hợp. Phạm vi dữ liệu, diễn giải FPR, ngân sách validation và các phép đo cần bổ sung nằm trong phiếu công việc.</a:t>
            </a:r>
          </a:p>
          <a:p/>
          <a:p>
            <a:r>
              <a:t>Nguồn: pilot_al/summary.json; REPORT.md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Khung này bổ sung cách đánh giá định lượng cho lời giải thích. Trong phép thử, che các chiều quan trọng theo SHAP làm AUC giảm mạnh hơn che ngẫu nhiên cùng số chiều. Tại k = 25, AUC giảm từ 0,9802 xuống 0,8185, trong khi random trung bình còn 0,9799. Kết quả hỗ trợ thứ hạng SHAP dưới phép masking đã chọn. EC mô tả tương quan cấu trúc tương đồng giữa PE và SHAP; CF mô tả phân tách hai nhãn trong không gian giải thích. Đây là mô hình Fidelity riêng, không lấy AUC của nó trừ AUC của mô hình AL để suy ra lợi ích. Các điều chỉnh PE-aware, FF và OFS được quản lý trong tài liệu đính kèm.</a:t>
            </a:r>
          </a:p>
          <a:p/>
          <a:p>
            <a:r>
              <a:t>Nguồn: pilot_fidelity/run_seed42/summary.json; luuvan.pdf §3.4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này trả lời trực tiếp các nhận xét trước. Đối với PID, em làm rõ vai trò cổng và dung hợp, đồng thời trình bày các mốc trong bảng so sánh của luận văn. Đối với AL, đã có thí nghiệm mới với năm chiến lược và năm seed ở cùng ngân sách. Với câu hỏi AUC tăng ít, em đưa độ phân tán và chênh lệch ghép cặp thay vì chỉ một số cuối. Với XAI, có phép che top-SHAP và random cùng k cùng baseline. Những đầu việc kiểm chứng tiếp và hình cần thay nằm riêng trong phiếu công việc để tiếp tục hoàn thiện.</a:t>
            </a:r>
          </a:p>
          <a:p/>
          <a:p>
            <a:r>
              <a:t>Nguồn: góp ý.txt; các báo cáo pilot; phiếu công việc đính kèm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phần bổ sung cho nhau trong quy trình: PID xử lý kết hợp tín hiệu, AL lựa chọn dữ liệu cần gán nhãn, Fidelity kiểm tra lời giải thích. Điểm số mới rõ nhất là AL tăng AUC tại cùng ngân sách qua năm seed, và thứ hạng SHAP tạo tác động lớn hơn random trong phép masking. Mỗi kết quả gắn với một phép so sánh cụ thể. Tài liệu làm việc riêng giữ các đầu việc đối soát, ảnh cần bổ sung và điều kiện thay bảng để tiếp tục hoàn thiện nội dung.</a:t>
            </a:r>
          </a:p>
          <a:p/>
          <a:p>
            <a:r>
              <a:t>Nguồn: Bảng 4.5; pilot_al/summary.json; pilot_fidelity/run_seed42/summary.json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Rectangle 1"/>
          <p:cNvSpPr/>
          <p:nvPr/>
        </p:nvSpPr>
        <p:spPr>
          <a:xfrm>
            <a:off x="621792" y="603504"/>
            <a:ext cx="73152" cy="5468112"/>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58368"/>
            <a:ext cx="10424160" cy="393192"/>
          </a:xfrm>
          <a:prstGeom prst="rect">
            <a:avLst/>
          </a:prstGeom>
          <a:noFill/>
        </p:spPr>
        <p:txBody>
          <a:bodyPr wrap="square" lIns="9144" rIns="9144" tIns="9144" bIns="9144">
            <a:spAutoFit/>
          </a:bodyPr>
          <a:lstStyle/>
          <a:p>
            <a:pPr>
              <a:lnSpc>
                <a:spcPct val="104000"/>
              </a:lnSpc>
              <a:spcAft>
                <a:spcPts val="300"/>
              </a:spcAft>
              <a:defRPr sz="1300" b="1">
                <a:solidFill>
                  <a:srgbClr val="9FD4CF"/>
                </a:solidFill>
                <a:latin typeface="DejaVu Sans"/>
              </a:defRPr>
            </a:pPr>
            <a:r>
              <a:t>TRƯỜNG ĐẠI HỌC CÔNG NGHỆ — ĐHQGHN</a:t>
            </a:r>
          </a:p>
        </p:txBody>
      </p:sp>
      <p:sp>
        <p:nvSpPr>
          <p:cNvPr id="4" name="TextBox 3"/>
          <p:cNvSpPr txBox="1"/>
          <p:nvPr/>
        </p:nvSpPr>
        <p:spPr>
          <a:xfrm>
            <a:off x="914400" y="1408176"/>
            <a:ext cx="10378440" cy="1426464"/>
          </a:xfrm>
          <a:prstGeom prst="rect">
            <a:avLst/>
          </a:prstGeom>
          <a:noFill/>
        </p:spPr>
        <p:txBody>
          <a:bodyPr wrap="square" lIns="9144" rIns="9144" tIns="9144" bIns="9144">
            <a:spAutoFit/>
          </a:bodyPr>
          <a:lstStyle/>
          <a:p>
            <a:pPr>
              <a:lnSpc>
                <a:spcPct val="104000"/>
              </a:lnSpc>
              <a:spcAft>
                <a:spcPts val="300"/>
              </a:spcAft>
              <a:defRPr sz="3300" b="1">
                <a:solidFill>
                  <a:srgbClr val="FFFFFF"/>
                </a:solidFill>
                <a:latin typeface="DejaVu Sans"/>
              </a:defRPr>
            </a:pPr>
            <a:r>
              <a:t>Hệ thống phát hiện Ransomware</a:t>
            </a:r>
          </a:p>
          <a:p>
            <a:pPr>
              <a:lnSpc>
                <a:spcPct val="104000"/>
              </a:lnSpc>
              <a:spcAft>
                <a:spcPts val="300"/>
              </a:spcAft>
              <a:defRPr sz="3300" b="1">
                <a:solidFill>
                  <a:srgbClr val="FFFFFF"/>
                </a:solidFill>
                <a:latin typeface="DejaVu Sans"/>
              </a:defRPr>
            </a:pPr>
            <a:r>
              <a:t>bằng phân tích đa tầng</a:t>
            </a:r>
          </a:p>
        </p:txBody>
      </p:sp>
      <p:sp>
        <p:nvSpPr>
          <p:cNvPr id="5" name="TextBox 4"/>
          <p:cNvSpPr txBox="1"/>
          <p:nvPr/>
        </p:nvSpPr>
        <p:spPr>
          <a:xfrm>
            <a:off x="941832" y="3054096"/>
            <a:ext cx="10195560" cy="886968"/>
          </a:xfrm>
          <a:prstGeom prst="rect">
            <a:avLst/>
          </a:prstGeom>
          <a:noFill/>
        </p:spPr>
        <p:txBody>
          <a:bodyPr wrap="square" lIns="9144" rIns="9144" tIns="9144" bIns="9144">
            <a:spAutoFit/>
          </a:bodyPr>
          <a:lstStyle/>
          <a:p>
            <a:pPr>
              <a:lnSpc>
                <a:spcPct val="104000"/>
              </a:lnSpc>
              <a:spcAft>
                <a:spcPts val="300"/>
              </a:spcAft>
              <a:defRPr sz="2300" b="0">
                <a:solidFill>
                  <a:srgbClr val="B9E4DF"/>
                </a:solidFill>
                <a:latin typeface="DejaVu Sans"/>
              </a:defRPr>
            </a:pPr>
            <a:r>
              <a:t>Dung hợp PID • Học tích cực dựa trên XAI</a:t>
            </a:r>
          </a:p>
          <a:p>
            <a:pPr>
              <a:lnSpc>
                <a:spcPct val="104000"/>
              </a:lnSpc>
              <a:spcAft>
                <a:spcPts val="300"/>
              </a:spcAft>
              <a:defRPr sz="2300" b="0">
                <a:solidFill>
                  <a:srgbClr val="B9E4DF"/>
                </a:solidFill>
                <a:latin typeface="DejaVu Sans"/>
              </a:defRPr>
            </a:pPr>
            <a:r>
              <a:t>Đánh giá độ trung thực của giải thích</a:t>
            </a:r>
          </a:p>
        </p:txBody>
      </p:sp>
      <p:cxnSp>
        <p:nvCxnSpPr>
          <p:cNvPr id="6" name="Connector 5"/>
          <p:cNvCxnSpPr/>
          <p:nvPr/>
        </p:nvCxnSpPr>
        <p:spPr>
          <a:xfrm>
            <a:off x="941832" y="4398264"/>
            <a:ext cx="10040112" cy="0"/>
          </a:xfrm>
          <a:prstGeom prst="line">
            <a:avLst/>
          </a:prstGeom>
          <a:ln w="12700">
            <a:solidFill>
              <a:srgbClr val="36506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41832" y="4727448"/>
            <a:ext cx="10149840" cy="548640"/>
          </a:xfrm>
          <a:prstGeom prst="rect">
            <a:avLst/>
          </a:prstGeom>
          <a:noFill/>
        </p:spPr>
        <p:txBody>
          <a:bodyPr wrap="square" lIns="9144" rIns="9144" tIns="9144" bIns="9144">
            <a:spAutoFit/>
          </a:bodyPr>
          <a:lstStyle/>
          <a:p>
            <a:pPr>
              <a:lnSpc>
                <a:spcPct val="104000"/>
              </a:lnSpc>
              <a:spcAft>
                <a:spcPts val="300"/>
              </a:spcAft>
              <a:defRPr sz="1900" b="1">
                <a:solidFill>
                  <a:srgbClr val="FFFFFF"/>
                </a:solidFill>
                <a:latin typeface="DejaVu Sans"/>
              </a:defRPr>
            </a:pPr>
            <a:r>
              <a:t>Ba đóng góp — kết quả thực nghiệm — tiếp thu góp ý Seminar</a:t>
            </a:r>
          </a:p>
        </p:txBody>
      </p:sp>
      <p:sp>
        <p:nvSpPr>
          <p:cNvPr id="8" name="TextBox 7"/>
          <p:cNvSpPr txBox="1"/>
          <p:nvPr/>
        </p:nvSpPr>
        <p:spPr>
          <a:xfrm>
            <a:off x="941832" y="5559552"/>
            <a:ext cx="10241280" cy="740664"/>
          </a:xfrm>
          <a:prstGeom prst="rect">
            <a:avLst/>
          </a:prstGeom>
          <a:noFill/>
        </p:spPr>
        <p:txBody>
          <a:bodyPr wrap="square" lIns="9144" rIns="9144" tIns="9144" bIns="9144">
            <a:spAutoFit/>
          </a:bodyPr>
          <a:lstStyle/>
          <a:p>
            <a:pPr>
              <a:lnSpc>
                <a:spcPct val="104000"/>
              </a:lnSpc>
              <a:spcAft>
                <a:spcPts val="300"/>
              </a:spcAft>
              <a:defRPr sz="1800" b="0">
                <a:solidFill>
                  <a:srgbClr val="C8D8E5"/>
                </a:solidFill>
                <a:latin typeface="DejaVu Sans"/>
              </a:defRPr>
            </a:pPr>
            <a:r>
              <a:t>Học viên: Lưu Văn Doanh</a:t>
            </a:r>
          </a:p>
          <a:p>
            <a:pPr>
              <a:lnSpc>
                <a:spcPct val="104000"/>
              </a:lnSpc>
              <a:spcAft>
                <a:spcPts val="300"/>
              </a:spcAft>
              <a:defRPr sz="1800" b="0">
                <a:solidFill>
                  <a:srgbClr val="C8D8E5"/>
                </a:solidFill>
                <a:latin typeface="DejaVu Sans"/>
              </a:defRPr>
            </a:pPr>
            <a:r>
              <a:t>GVHD: PGS.TS. Trương Ninh Thuận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01 / BÀI TOÁN VÀ ĐIỂM KHÁC BIỆT</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900" b="1">
                <a:solidFill>
                  <a:srgbClr val="17324D"/>
                </a:solidFill>
                <a:latin typeface="DejaVu Sans"/>
              </a:defRPr>
            </a:pPr>
            <a:r>
              <a:t>Ba vấn đề cần giải quyết trong cùng một hệ thống</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Mục tiêu: phát hiện có chọn lọc, sử dụng nhãn hiệu quả và kiểm tra được lời giải thích.</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Nền tảng kế thừa: EMBER (Anderson &amp; Roth, 2018), AL (Settles, 2009), SHAP (Lundberg &amp; Lee, 2017), Yeh và cs. (2019).</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02 / 09</a:t>
            </a:r>
          </a:p>
        </p:txBody>
      </p:sp>
      <p:sp>
        <p:nvSpPr>
          <p:cNvPr id="9" name="Rectangle 8"/>
          <p:cNvSpPr/>
          <p:nvPr/>
        </p:nvSpPr>
        <p:spPr>
          <a:xfrm>
            <a:off x="502920" y="2148840"/>
            <a:ext cx="11183112" cy="438912"/>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2249424"/>
            <a:ext cx="3026663"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HƯỚNG TIẾP CẬN KẾ THỪA</a:t>
            </a:r>
          </a:p>
        </p:txBody>
      </p:sp>
      <p:sp>
        <p:nvSpPr>
          <p:cNvPr id="11" name="TextBox 10"/>
          <p:cNvSpPr txBox="1"/>
          <p:nvPr/>
        </p:nvSpPr>
        <p:spPr>
          <a:xfrm>
            <a:off x="3858768" y="2249424"/>
            <a:ext cx="4672583"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PHẦN DỰ ÁN PHÁT TRIỂN</a:t>
            </a:r>
          </a:p>
        </p:txBody>
      </p:sp>
      <p:sp>
        <p:nvSpPr>
          <p:cNvPr id="12" name="TextBox 11"/>
          <p:cNvSpPr txBox="1"/>
          <p:nvPr/>
        </p:nvSpPr>
        <p:spPr>
          <a:xfrm>
            <a:off x="8750807" y="2249424"/>
            <a:ext cx="2825496"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ĐẠI LƯỢNG ĐÁNH GIÁ</a:t>
            </a:r>
          </a:p>
        </p:txBody>
      </p:sp>
      <p:sp>
        <p:nvSpPr>
          <p:cNvPr id="13" name="Rectangle 12"/>
          <p:cNvSpPr/>
          <p:nvPr/>
        </p:nvSpPr>
        <p:spPr>
          <a:xfrm>
            <a:off x="502920" y="2587752"/>
            <a:ext cx="11183112"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715768"/>
            <a:ext cx="3026663" cy="822960"/>
          </a:xfrm>
          <a:prstGeom prst="rect">
            <a:avLst/>
          </a:prstGeom>
          <a:noFill/>
        </p:spPr>
        <p:txBody>
          <a:bodyPr wrap="square" lIns="9144" rIns="9144" tIns="9144" bIns="9144">
            <a:spAutoFit/>
          </a:bodyPr>
          <a:lstStyle/>
          <a:p>
            <a:pPr>
              <a:lnSpc>
                <a:spcPct val="104000"/>
              </a:lnSpc>
              <a:spcAft>
                <a:spcPts val="300"/>
              </a:spcAft>
              <a:defRPr sz="1350" b="1">
                <a:solidFill>
                  <a:srgbClr val="17324D"/>
                </a:solidFill>
                <a:latin typeface="DejaVu Sans"/>
              </a:defRPr>
            </a:pPr>
            <a:r>
              <a:t>Mô hình tĩnh trên đặc trưng PE</a:t>
            </a:r>
          </a:p>
          <a:p>
            <a:pPr>
              <a:lnSpc>
                <a:spcPct val="104000"/>
              </a:lnSpc>
              <a:spcAft>
                <a:spcPts val="300"/>
              </a:spcAft>
              <a:defRPr sz="1350" b="1">
                <a:solidFill>
                  <a:srgbClr val="17324D"/>
                </a:solidFill>
                <a:latin typeface="DejaVu Sans"/>
              </a:defRPr>
            </a:pPr>
            <a:r>
              <a:t>Dung hợp với trọng số cố định</a:t>
            </a:r>
          </a:p>
        </p:txBody>
      </p:sp>
      <p:sp>
        <p:nvSpPr>
          <p:cNvPr id="15" name="TextBox 14"/>
          <p:cNvSpPr txBox="1"/>
          <p:nvPr/>
        </p:nvSpPr>
        <p:spPr>
          <a:xfrm>
            <a:off x="3858768" y="2715768"/>
            <a:ext cx="4672583" cy="822960"/>
          </a:xfrm>
          <a:prstGeom prst="rect">
            <a:avLst/>
          </a:prstGeom>
          <a:noFill/>
        </p:spPr>
        <p:txBody>
          <a:bodyPr wrap="square" lIns="9144" rIns="9144" tIns="9144" bIns="9144">
            <a:spAutoFit/>
          </a:bodyPr>
          <a:lstStyle/>
          <a:p>
            <a:pPr>
              <a:lnSpc>
                <a:spcPct val="104000"/>
              </a:lnSpc>
              <a:spcAft>
                <a:spcPts val="300"/>
              </a:spcAft>
              <a:defRPr sz="1650" b="0">
                <a:solidFill>
                  <a:srgbClr val="17324D"/>
                </a:solidFill>
                <a:latin typeface="DejaVu Sans"/>
              </a:defRPr>
            </a:pPr>
            <a:r>
              <a:t>① PID Fusion</a:t>
            </a:r>
          </a:p>
          <a:p>
            <a:pPr>
              <a:lnSpc>
                <a:spcPct val="104000"/>
              </a:lnSpc>
              <a:spcAft>
                <a:spcPts val="300"/>
              </a:spcAft>
              <a:defRPr sz="1650" b="0">
                <a:solidFill>
                  <a:srgbClr val="17324D"/>
                </a:solidFill>
                <a:latin typeface="DejaVu Sans"/>
              </a:defRPr>
            </a:pPr>
            <a:r>
              <a:t>Điều chỉnh trọng số giữa điểm tĩnh và động.</a:t>
            </a:r>
          </a:p>
        </p:txBody>
      </p:sp>
      <p:sp>
        <p:nvSpPr>
          <p:cNvPr id="16" name="TextBox 15"/>
          <p:cNvSpPr txBox="1"/>
          <p:nvPr/>
        </p:nvSpPr>
        <p:spPr>
          <a:xfrm>
            <a:off x="8750807" y="2715768"/>
            <a:ext cx="2825496" cy="822960"/>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AUC • FPR / TPR</a:t>
            </a:r>
          </a:p>
          <a:p>
            <a:pPr>
              <a:lnSpc>
                <a:spcPct val="104000"/>
              </a:lnSpc>
              <a:spcAft>
                <a:spcPts val="300"/>
              </a:spcAft>
              <a:defRPr sz="1700" b="0">
                <a:solidFill>
                  <a:srgbClr val="526779"/>
                </a:solidFill>
                <a:latin typeface="DejaVu Sans"/>
              </a:defRPr>
            </a:pPr>
            <a:r>
              <a:t>Chi phí từng tầng</a:t>
            </a:r>
          </a:p>
        </p:txBody>
      </p:sp>
      <p:sp>
        <p:nvSpPr>
          <p:cNvPr id="17" name="Rectangle 16"/>
          <p:cNvSpPr/>
          <p:nvPr/>
        </p:nvSpPr>
        <p:spPr>
          <a:xfrm>
            <a:off x="502920" y="3593592"/>
            <a:ext cx="11183112" cy="1005840"/>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721608"/>
            <a:ext cx="3026663" cy="822960"/>
          </a:xfrm>
          <a:prstGeom prst="rect">
            <a:avLst/>
          </a:prstGeom>
          <a:noFill/>
        </p:spPr>
        <p:txBody>
          <a:bodyPr wrap="square" lIns="9144" rIns="9144" tIns="9144" bIns="9144">
            <a:spAutoFit/>
          </a:bodyPr>
          <a:lstStyle/>
          <a:p>
            <a:pPr>
              <a:lnSpc>
                <a:spcPct val="104000"/>
              </a:lnSpc>
              <a:spcAft>
                <a:spcPts val="300"/>
              </a:spcAft>
              <a:defRPr sz="1550" b="1">
                <a:solidFill>
                  <a:srgbClr val="17324D"/>
                </a:solidFill>
                <a:latin typeface="DejaVu Sans"/>
              </a:defRPr>
            </a:pPr>
            <a:r>
              <a:t>AL chọn mẫu ngẫu nhiên</a:t>
            </a:r>
          </a:p>
          <a:p>
            <a:pPr>
              <a:lnSpc>
                <a:spcPct val="104000"/>
              </a:lnSpc>
              <a:spcAft>
                <a:spcPts val="300"/>
              </a:spcAft>
              <a:defRPr sz="1550" b="1">
                <a:solidFill>
                  <a:srgbClr val="17324D"/>
                </a:solidFill>
                <a:latin typeface="DejaVu Sans"/>
              </a:defRPr>
            </a:pPr>
            <a:r>
              <a:t>hoặc theo bất định dự đoán</a:t>
            </a:r>
          </a:p>
        </p:txBody>
      </p:sp>
      <p:sp>
        <p:nvSpPr>
          <p:cNvPr id="19" name="TextBox 18"/>
          <p:cNvSpPr txBox="1"/>
          <p:nvPr/>
        </p:nvSpPr>
        <p:spPr>
          <a:xfrm>
            <a:off x="3858768" y="3721608"/>
            <a:ext cx="4672583" cy="822960"/>
          </a:xfrm>
          <a:prstGeom prst="rect">
            <a:avLst/>
          </a:prstGeom>
          <a:noFill/>
        </p:spPr>
        <p:txBody>
          <a:bodyPr wrap="square" lIns="9144" rIns="9144" tIns="9144" bIns="9144">
            <a:spAutoFit/>
          </a:bodyPr>
          <a:lstStyle/>
          <a:p>
            <a:pPr>
              <a:lnSpc>
                <a:spcPct val="104000"/>
              </a:lnSpc>
              <a:spcAft>
                <a:spcPts val="300"/>
              </a:spcAft>
              <a:defRPr sz="1650" b="0">
                <a:solidFill>
                  <a:srgbClr val="17324D"/>
                </a:solidFill>
                <a:latin typeface="DejaVu Sans"/>
              </a:defRPr>
            </a:pPr>
            <a:r>
              <a:t>② XAI-Guided AL</a:t>
            </a:r>
          </a:p>
          <a:p>
            <a:pPr>
              <a:lnSpc>
                <a:spcPct val="104000"/>
              </a:lnSpc>
              <a:spcAft>
                <a:spcPts val="300"/>
              </a:spcAft>
              <a:defRPr sz="1650" b="0">
                <a:solidFill>
                  <a:srgbClr val="17324D"/>
                </a:solidFill>
                <a:latin typeface="DejaVu Sans"/>
              </a:defRPr>
            </a:pPr>
            <a:r>
              <a:t>Thêm xung đột hướng và phương sai SHAP.</a:t>
            </a:r>
          </a:p>
        </p:txBody>
      </p:sp>
      <p:sp>
        <p:nvSpPr>
          <p:cNvPr id="20" name="TextBox 19"/>
          <p:cNvSpPr txBox="1"/>
          <p:nvPr/>
        </p:nvSpPr>
        <p:spPr>
          <a:xfrm>
            <a:off x="8750807" y="3721608"/>
            <a:ext cx="2825496" cy="82296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Chất lượng ở cùng số nhãn</a:t>
            </a:r>
          </a:p>
          <a:p>
            <a:pPr>
              <a:lnSpc>
                <a:spcPct val="104000"/>
              </a:lnSpc>
              <a:spcAft>
                <a:spcPts val="300"/>
              </a:spcAft>
              <a:defRPr sz="1600" b="0">
                <a:solidFill>
                  <a:srgbClr val="526779"/>
                </a:solidFill>
                <a:latin typeface="DejaVu Sans"/>
              </a:defRPr>
            </a:pPr>
            <a:r>
              <a:t>Chi phí tính điểm</a:t>
            </a:r>
          </a:p>
        </p:txBody>
      </p:sp>
      <p:sp>
        <p:nvSpPr>
          <p:cNvPr id="21" name="Rectangle 20"/>
          <p:cNvSpPr/>
          <p:nvPr/>
        </p:nvSpPr>
        <p:spPr>
          <a:xfrm>
            <a:off x="502920" y="4599432"/>
            <a:ext cx="11183112"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727448"/>
            <a:ext cx="3026663" cy="822960"/>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SHAP thể hiện đóng góp</a:t>
            </a:r>
          </a:p>
          <a:p>
            <a:pPr>
              <a:lnSpc>
                <a:spcPct val="104000"/>
              </a:lnSpc>
              <a:spcAft>
                <a:spcPts val="300"/>
              </a:spcAft>
              <a:defRPr sz="1700" b="1">
                <a:solidFill>
                  <a:srgbClr val="17324D"/>
                </a:solidFill>
                <a:latin typeface="DejaVu Sans"/>
              </a:defRPr>
            </a:pPr>
            <a:r>
              <a:t>của từng đặc trưng</a:t>
            </a:r>
          </a:p>
        </p:txBody>
      </p:sp>
      <p:sp>
        <p:nvSpPr>
          <p:cNvPr id="23" name="TextBox 22"/>
          <p:cNvSpPr txBox="1"/>
          <p:nvPr/>
        </p:nvSpPr>
        <p:spPr>
          <a:xfrm>
            <a:off x="3858768" y="4727448"/>
            <a:ext cx="4672583" cy="822960"/>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③ Đánh giá Fidelity</a:t>
            </a:r>
          </a:p>
          <a:p>
            <a:pPr>
              <a:lnSpc>
                <a:spcPct val="104000"/>
              </a:lnSpc>
              <a:spcAft>
                <a:spcPts val="300"/>
              </a:spcAft>
              <a:defRPr sz="1700" b="0">
                <a:solidFill>
                  <a:srgbClr val="17324D"/>
                </a:solidFill>
                <a:latin typeface="DejaVu Sans"/>
              </a:defRPr>
            </a:pPr>
            <a:r>
              <a:t>Đo tác động, tương đồng và phân tách.</a:t>
            </a:r>
          </a:p>
        </p:txBody>
      </p:sp>
      <p:sp>
        <p:nvSpPr>
          <p:cNvPr id="24" name="TextBox 23"/>
          <p:cNvSpPr txBox="1"/>
          <p:nvPr/>
        </p:nvSpPr>
        <p:spPr>
          <a:xfrm>
            <a:off x="8750807" y="4727448"/>
            <a:ext cx="2825496" cy="822960"/>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Che top-SHAP / random</a:t>
            </a:r>
          </a:p>
          <a:p>
            <a:pPr>
              <a:lnSpc>
                <a:spcPct val="104000"/>
              </a:lnSpc>
              <a:spcAft>
                <a:spcPts val="300"/>
              </a:spcAft>
              <a:defRPr sz="1700" b="0">
                <a:solidFill>
                  <a:srgbClr val="526779"/>
                </a:solidFill>
                <a:latin typeface="DejaVu Sans"/>
              </a:defRPr>
            </a:pPr>
            <a:r>
              <a:t>EC • CF</a:t>
            </a:r>
          </a:p>
        </p:txBody>
      </p:sp>
      <p:sp>
        <p:nvSpPr>
          <p:cNvPr id="25" name="Rounded Rectangle 24"/>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600" b="1">
                <a:solidFill>
                  <a:srgbClr val="007F7A"/>
                </a:solidFill>
                <a:latin typeface="DejaVu Sans"/>
              </a:defRPr>
            </a:pPr>
            <a:r>
              <a:t>Đóng góp tập trung vào cách tích hợp và đánh giá các cơ chế trên bài toán phát hiện mã độc.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02 / KIẾN TRÚC DỰ ÁN</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750" b="1">
                <a:solidFill>
                  <a:srgbClr val="17324D"/>
                </a:solidFill>
                <a:latin typeface="DejaVu Sans"/>
              </a:defRPr>
            </a:pPr>
            <a:r>
              <a:t>Một luồng phát hiện; hai cơ chế hỗ trợ cải thiện mô hình</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Cổng bất định điều phối phân tích động; PID kết hợp hai điểm dự đoán.</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luuvan.pdf §3.1–3.4; mã nguồn src/pid_fusion.py, src/xai_active_learning.py, src/fidelity_framework.py.</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03 / 09</a:t>
            </a:r>
          </a:p>
        </p:txBody>
      </p:sp>
      <p:sp>
        <p:nvSpPr>
          <p:cNvPr id="9" name="Rounded Rectangle 8"/>
          <p:cNvSpPr/>
          <p:nvPr/>
        </p:nvSpPr>
        <p:spPr>
          <a:xfrm>
            <a:off x="502920" y="2395728"/>
            <a:ext cx="2029968" cy="1042415"/>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560320"/>
            <a:ext cx="1773936" cy="832103"/>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Tệp PE</a:t>
            </a:r>
          </a:p>
          <a:p>
            <a:pPr>
              <a:lnSpc>
                <a:spcPct val="104000"/>
              </a:lnSpc>
              <a:spcAft>
                <a:spcPts val="300"/>
              </a:spcAft>
              <a:defRPr sz="1700" b="1">
                <a:solidFill>
                  <a:srgbClr val="17324D"/>
                </a:solidFill>
                <a:latin typeface="DejaVu Sans"/>
              </a:defRPr>
            </a:pPr>
            <a:r>
              <a:t>LightGBM → pₛ</a:t>
            </a:r>
          </a:p>
        </p:txBody>
      </p:sp>
      <p:sp>
        <p:nvSpPr>
          <p:cNvPr id="11" name="Rounded Rectangle 10"/>
          <p:cNvSpPr/>
          <p:nvPr/>
        </p:nvSpPr>
        <p:spPr>
          <a:xfrm>
            <a:off x="2926080" y="2395728"/>
            <a:ext cx="2103120" cy="1042415"/>
          </a:xfrm>
          <a:prstGeom prst="roundRect">
            <a:avLst>
              <a:gd name="adj" fmla="val 10000"/>
            </a:avLst>
          </a:prstGeom>
          <a:solidFill>
            <a:srgbClr val="E4F3E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54096" y="2560320"/>
            <a:ext cx="1847087" cy="832103"/>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Cổng bất định</a:t>
            </a:r>
          </a:p>
          <a:p>
            <a:pPr>
              <a:lnSpc>
                <a:spcPct val="104000"/>
              </a:lnSpc>
              <a:spcAft>
                <a:spcPts val="300"/>
              </a:spcAft>
              <a:defRPr sz="1700" b="1">
                <a:solidFill>
                  <a:srgbClr val="17324D"/>
                </a:solidFill>
                <a:latin typeface="DejaVu Sans"/>
              </a:defRPr>
            </a:pPr>
            <a:r>
              <a:t>[θ_low, θ_high]</a:t>
            </a:r>
          </a:p>
        </p:txBody>
      </p:sp>
      <p:sp>
        <p:nvSpPr>
          <p:cNvPr id="13" name="Rounded Rectangle 12"/>
          <p:cNvSpPr/>
          <p:nvPr/>
        </p:nvSpPr>
        <p:spPr>
          <a:xfrm>
            <a:off x="8915400" y="2075688"/>
            <a:ext cx="2770632" cy="758952"/>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6" y="2240280"/>
            <a:ext cx="2514600" cy="548640"/>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Quyết định tĩnh</a:t>
            </a:r>
          </a:p>
        </p:txBody>
      </p:sp>
      <p:sp>
        <p:nvSpPr>
          <p:cNvPr id="15" name="Rounded Rectangle 14"/>
          <p:cNvSpPr/>
          <p:nvPr/>
        </p:nvSpPr>
        <p:spPr>
          <a:xfrm>
            <a:off x="5532120" y="3118104"/>
            <a:ext cx="2331720" cy="96012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0136" y="3282696"/>
            <a:ext cx="2075687" cy="749808"/>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Phân tích động</a:t>
            </a:r>
          </a:p>
          <a:p>
            <a:pPr>
              <a:lnSpc>
                <a:spcPct val="104000"/>
              </a:lnSpc>
              <a:spcAft>
                <a:spcPts val="300"/>
              </a:spcAft>
              <a:defRPr sz="1700" b="1">
                <a:solidFill>
                  <a:srgbClr val="17324D"/>
                </a:solidFill>
                <a:latin typeface="DejaVu Sans"/>
              </a:defRPr>
            </a:pPr>
            <a:r>
              <a:t>→ p_d</a:t>
            </a:r>
          </a:p>
        </p:txBody>
      </p:sp>
      <p:sp>
        <p:nvSpPr>
          <p:cNvPr id="17" name="Rounded Rectangle 16"/>
          <p:cNvSpPr/>
          <p:nvPr/>
        </p:nvSpPr>
        <p:spPr>
          <a:xfrm>
            <a:off x="8915400" y="3118104"/>
            <a:ext cx="2770632" cy="960120"/>
          </a:xfrm>
          <a:prstGeom prst="roundRect">
            <a:avLst>
              <a:gd name="adj" fmla="val 10000"/>
            </a:avLst>
          </a:prstGeom>
          <a:solidFill>
            <a:srgbClr val="E4F3E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43416" y="3282696"/>
            <a:ext cx="2514600" cy="749808"/>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① PID: pₛ + p_d</a:t>
            </a:r>
          </a:p>
          <a:p>
            <a:pPr>
              <a:lnSpc>
                <a:spcPct val="104000"/>
              </a:lnSpc>
              <a:spcAft>
                <a:spcPts val="300"/>
              </a:spcAft>
              <a:defRPr sz="1700" b="1">
                <a:solidFill>
                  <a:srgbClr val="17324D"/>
                </a:solidFill>
                <a:latin typeface="DejaVu Sans"/>
              </a:defRPr>
            </a:pPr>
            <a:r>
              <a:t>→ quyết định</a:t>
            </a:r>
          </a:p>
        </p:txBody>
      </p:sp>
      <p:cxnSp>
        <p:nvCxnSpPr>
          <p:cNvPr id="19" name="Connector 18"/>
          <p:cNvCxnSpPr/>
          <p:nvPr/>
        </p:nvCxnSpPr>
        <p:spPr>
          <a:xfrm>
            <a:off x="2532888" y="2907792"/>
            <a:ext cx="393192" cy="0"/>
          </a:xfrm>
          <a:prstGeom prst="line">
            <a:avLst/>
          </a:prstGeom>
          <a:ln w="25400">
            <a:solidFill>
              <a:srgbClr val="007F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977639" y="2313432"/>
            <a:ext cx="0" cy="82296"/>
          </a:xfrm>
          <a:prstGeom prst="line">
            <a:avLst/>
          </a:prstGeom>
          <a:ln w="25400">
            <a:solidFill>
              <a:srgbClr val="007F7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977639" y="2313432"/>
            <a:ext cx="4937761" cy="0"/>
          </a:xfrm>
          <a:prstGeom prst="line">
            <a:avLst/>
          </a:prstGeom>
          <a:ln w="25400">
            <a:solidFill>
              <a:srgbClr val="007F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39512" y="1993392"/>
            <a:ext cx="3566160" cy="265176"/>
          </a:xfrm>
          <a:prstGeom prst="rect">
            <a:avLst/>
          </a:prstGeom>
          <a:noFill/>
        </p:spPr>
        <p:txBody>
          <a:bodyPr wrap="square" lIns="9144" rIns="9144" tIns="9144" bIns="9144">
            <a:spAutoFit/>
          </a:bodyPr>
          <a:lstStyle/>
          <a:p>
            <a:pPr>
              <a:lnSpc>
                <a:spcPct val="104000"/>
              </a:lnSpc>
              <a:spcAft>
                <a:spcPts val="300"/>
              </a:spcAft>
              <a:defRPr sz="1300" b="1">
                <a:solidFill>
                  <a:srgbClr val="007F7A"/>
                </a:solidFill>
                <a:latin typeface="DejaVu Sans"/>
              </a:defRPr>
            </a:pPr>
            <a:r>
              <a:t>Ngoài vùng bất định</a:t>
            </a:r>
          </a:p>
        </p:txBody>
      </p:sp>
      <p:cxnSp>
        <p:nvCxnSpPr>
          <p:cNvPr id="23" name="Connector 22"/>
          <p:cNvCxnSpPr/>
          <p:nvPr/>
        </p:nvCxnSpPr>
        <p:spPr>
          <a:xfrm>
            <a:off x="5029200" y="3136392"/>
            <a:ext cx="502920" cy="420624"/>
          </a:xfrm>
          <a:prstGeom prst="line">
            <a:avLst/>
          </a:prstGeom>
          <a:ln w="25400">
            <a:solidFill>
              <a:srgbClr val="007F7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63840" y="3602736"/>
            <a:ext cx="1051560" cy="0"/>
          </a:xfrm>
          <a:prstGeom prst="line">
            <a:avLst/>
          </a:prstGeom>
          <a:ln w="25400">
            <a:solidFill>
              <a:srgbClr val="007F7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230368" y="2743200"/>
            <a:ext cx="3566160" cy="265176"/>
          </a:xfrm>
          <a:prstGeom prst="rect">
            <a:avLst/>
          </a:prstGeom>
          <a:noFill/>
        </p:spPr>
        <p:txBody>
          <a:bodyPr wrap="square" lIns="9144" rIns="9144" tIns="9144" bIns="9144">
            <a:spAutoFit/>
          </a:bodyPr>
          <a:lstStyle/>
          <a:p>
            <a:pPr>
              <a:lnSpc>
                <a:spcPct val="104000"/>
              </a:lnSpc>
              <a:spcAft>
                <a:spcPts val="300"/>
              </a:spcAft>
              <a:defRPr sz="1300" b="1">
                <a:solidFill>
                  <a:srgbClr val="007F7A"/>
                </a:solidFill>
                <a:latin typeface="DejaVu Sans"/>
              </a:defRPr>
            </a:pPr>
            <a:r>
              <a:t>Trong vùng bất định</a:t>
            </a:r>
          </a:p>
        </p:txBody>
      </p:sp>
      <p:sp>
        <p:nvSpPr>
          <p:cNvPr id="26" name="Rounded Rectangle 25"/>
          <p:cNvSpPr/>
          <p:nvPr/>
        </p:nvSpPr>
        <p:spPr>
          <a:xfrm>
            <a:off x="502920" y="4453128"/>
            <a:ext cx="7104888" cy="109728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645152"/>
            <a:ext cx="6693408" cy="758952"/>
          </a:xfrm>
          <a:prstGeom prst="rect">
            <a:avLst/>
          </a:prstGeom>
          <a:noFill/>
        </p:spPr>
        <p:txBody>
          <a:bodyPr wrap="square" lIns="9144" rIns="9144" tIns="9144" bIns="9144">
            <a:spAutoFit/>
          </a:bodyPr>
          <a:lstStyle/>
          <a:p>
            <a:pPr>
              <a:lnSpc>
                <a:spcPct val="104000"/>
              </a:lnSpc>
              <a:spcAft>
                <a:spcPts val="300"/>
              </a:spcAft>
              <a:defRPr sz="1800" b="1">
                <a:solidFill>
                  <a:srgbClr val="17324D"/>
                </a:solidFill>
                <a:latin typeface="DejaVu Sans"/>
              </a:defRPr>
            </a:pPr>
            <a:r>
              <a:t>② AL: SHAP → chọn mẫu → chuyên gia gán nhãn</a:t>
            </a:r>
          </a:p>
          <a:p>
            <a:pPr>
              <a:lnSpc>
                <a:spcPct val="104000"/>
              </a:lnSpc>
              <a:spcAft>
                <a:spcPts val="300"/>
              </a:spcAft>
              <a:defRPr sz="1800" b="1">
                <a:solidFill>
                  <a:srgbClr val="17324D"/>
                </a:solidFill>
                <a:latin typeface="DejaVu Sans"/>
              </a:defRPr>
            </a:pPr>
            <a:r>
              <a:t>→ học lại mô hình trên toàn bộ nhãn tích lũy</a:t>
            </a:r>
          </a:p>
        </p:txBody>
      </p:sp>
      <p:sp>
        <p:nvSpPr>
          <p:cNvPr id="28" name="Rounded Rectangle 27"/>
          <p:cNvSpPr/>
          <p:nvPr/>
        </p:nvSpPr>
        <p:spPr>
          <a:xfrm>
            <a:off x="7836408" y="4453128"/>
            <a:ext cx="3849624" cy="109728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37575" y="4645152"/>
            <a:ext cx="3447288" cy="749808"/>
          </a:xfrm>
          <a:prstGeom prst="rect">
            <a:avLst/>
          </a:prstGeom>
          <a:noFill/>
        </p:spPr>
        <p:txBody>
          <a:bodyPr wrap="square" lIns="9144" rIns="9144" tIns="9144" bIns="9144">
            <a:spAutoFit/>
          </a:bodyPr>
          <a:lstStyle/>
          <a:p>
            <a:pPr>
              <a:lnSpc>
                <a:spcPct val="104000"/>
              </a:lnSpc>
              <a:spcAft>
                <a:spcPts val="300"/>
              </a:spcAft>
              <a:defRPr sz="1750" b="1">
                <a:solidFill>
                  <a:srgbClr val="17324D"/>
                </a:solidFill>
                <a:latin typeface="DejaVu Sans"/>
              </a:defRPr>
            </a:pPr>
            <a:r>
              <a:t>③ Fidelity: đo chất lượng</a:t>
            </a:r>
          </a:p>
          <a:p>
            <a:pPr>
              <a:lnSpc>
                <a:spcPct val="104000"/>
              </a:lnSpc>
              <a:spcAft>
                <a:spcPts val="300"/>
              </a:spcAft>
              <a:defRPr sz="1750" b="1">
                <a:solidFill>
                  <a:srgbClr val="17324D"/>
                </a:solidFill>
                <a:latin typeface="DejaVu Sans"/>
              </a:defRPr>
            </a:pPr>
            <a:r>
              <a:t>giải thích của mô hình tĩnh</a:t>
            </a:r>
          </a:p>
        </p:txBody>
      </p:sp>
      <p:sp>
        <p:nvSpPr>
          <p:cNvPr id="30" name="Rounded Rectangle 29"/>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800" b="1">
                <a:solidFill>
                  <a:srgbClr val="007F7A"/>
                </a:solidFill>
                <a:latin typeface="DejaVu Sans"/>
              </a:defRPr>
            </a:pPr>
            <a:r>
              <a:t>PID xử lý dung hợp • AL cải thiện lựa chọn mẫu • Fidelity đánh giá lời giải thích.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03 / ĐÓNG GÓP 1 — PID FUSION</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900" b="1">
                <a:solidFill>
                  <a:srgbClr val="17324D"/>
                </a:solidFill>
                <a:latin typeface="DejaVu Sans"/>
              </a:defRPr>
            </a:pPr>
            <a:r>
              <a:t>PID điều chỉnh trọng số giữa hai nguồn dự đoán</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Bổ sung trạng thái và phản ứng theo tín hiệu vào cơ chế dung hợp tĩnh–động.</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bảng: luuvan.pdf, Bảng 4.5, tr.53 — số liệu báo cáo trong bản thảo; đối soát tại phiếu công việc đính kèm, mục 1.</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04 / 09</a:t>
            </a:r>
          </a:p>
        </p:txBody>
      </p:sp>
      <p:sp>
        <p:nvSpPr>
          <p:cNvPr id="9" name="Rounded Rectangle 8"/>
          <p:cNvSpPr/>
          <p:nvPr/>
        </p:nvSpPr>
        <p:spPr>
          <a:xfrm>
            <a:off x="502920" y="2130552"/>
            <a:ext cx="4261104" cy="3401568"/>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350008"/>
            <a:ext cx="3822191" cy="411480"/>
          </a:xfrm>
          <a:prstGeom prst="rect">
            <a:avLst/>
          </a:prstGeom>
          <a:noFill/>
        </p:spPr>
        <p:txBody>
          <a:bodyPr wrap="square" lIns="9144" rIns="9144" tIns="9144" bIns="9144">
            <a:spAutoFit/>
          </a:bodyPr>
          <a:lstStyle/>
          <a:p>
            <a:pPr>
              <a:lnSpc>
                <a:spcPct val="104000"/>
              </a:lnSpc>
              <a:spcAft>
                <a:spcPts val="300"/>
              </a:spcAft>
              <a:defRPr sz="2200" b="1">
                <a:solidFill>
                  <a:srgbClr val="007F7A"/>
                </a:solidFill>
                <a:latin typeface="DejaVu Sans"/>
              </a:defRPr>
            </a:pPr>
            <a:r>
              <a:t>Cơ chế đề xuất</a:t>
            </a:r>
          </a:p>
        </p:txBody>
      </p:sp>
      <p:sp>
        <p:nvSpPr>
          <p:cNvPr id="11" name="TextBox 10"/>
          <p:cNvSpPr txBox="1"/>
          <p:nvPr/>
        </p:nvSpPr>
        <p:spPr>
          <a:xfrm>
            <a:off x="713232" y="2953512"/>
            <a:ext cx="3794760" cy="832104"/>
          </a:xfrm>
          <a:prstGeom prst="rect">
            <a:avLst/>
          </a:prstGeom>
          <a:noFill/>
        </p:spPr>
        <p:txBody>
          <a:bodyPr wrap="square" lIns="9144" rIns="9144" tIns="9144" bIns="9144">
            <a:spAutoFit/>
          </a:bodyPr>
          <a:lstStyle/>
          <a:p>
            <a:pPr>
              <a:lnSpc>
                <a:spcPct val="104000"/>
              </a:lnSpc>
              <a:spcAft>
                <a:spcPts val="300"/>
              </a:spcAft>
              <a:defRPr sz="1750" b="1">
                <a:solidFill>
                  <a:srgbClr val="17324D"/>
                </a:solidFill>
                <a:latin typeface="DejaVu Sans"/>
              </a:defRPr>
            </a:pPr>
            <a:r>
              <a:t>p = wₛpₛ + (1 − wₛ)p_d</a:t>
            </a:r>
          </a:p>
          <a:p>
            <a:pPr>
              <a:lnSpc>
                <a:spcPct val="104000"/>
              </a:lnSpc>
              <a:spcAft>
                <a:spcPts val="300"/>
              </a:spcAft>
              <a:defRPr sz="1750" b="1">
                <a:solidFill>
                  <a:srgbClr val="17324D"/>
                </a:solidFill>
                <a:latin typeface="DejaVu Sans"/>
              </a:defRPr>
            </a:pPr>
            <a:r>
              <a:t>wₛ = clip(sigmoid(u), 0,1; 0,9)</a:t>
            </a:r>
          </a:p>
        </p:txBody>
      </p:sp>
      <p:sp>
        <p:nvSpPr>
          <p:cNvPr id="12" name="TextBox 11"/>
          <p:cNvSpPr txBox="1"/>
          <p:nvPr/>
        </p:nvSpPr>
        <p:spPr>
          <a:xfrm>
            <a:off x="713232" y="4059936"/>
            <a:ext cx="3794760" cy="1179576"/>
          </a:xfrm>
          <a:prstGeom prst="rect">
            <a:avLst/>
          </a:prstGeom>
          <a:noFill/>
        </p:spPr>
        <p:txBody>
          <a:bodyPr wrap="square" lIns="9144" rIns="9144" tIns="9144" bIns="9144">
            <a:spAutoFit/>
          </a:bodyPr>
          <a:lstStyle/>
          <a:p>
            <a:pPr>
              <a:lnSpc>
                <a:spcPct val="104000"/>
              </a:lnSpc>
              <a:spcAft>
                <a:spcPts val="300"/>
              </a:spcAft>
              <a:defRPr sz="1800" b="0">
                <a:solidFill>
                  <a:srgbClr val="17324D"/>
                </a:solidFill>
                <a:latin typeface="DejaVu Sans"/>
              </a:defRPr>
            </a:pPr>
            <a:r>
              <a:t>P: bất đồng hiện tại</a:t>
            </a:r>
          </a:p>
          <a:p>
            <a:pPr>
              <a:lnSpc>
                <a:spcPct val="104000"/>
              </a:lnSpc>
              <a:spcAft>
                <a:spcPts val="300"/>
              </a:spcAft>
              <a:defRPr sz="1800" b="0">
                <a:solidFill>
                  <a:srgbClr val="17324D"/>
                </a:solidFill>
                <a:latin typeface="DejaVu Sans"/>
              </a:defRPr>
            </a:pPr>
            <a:r>
              <a:t>I: tích lũy qua chuỗi</a:t>
            </a:r>
          </a:p>
          <a:p>
            <a:pPr>
              <a:lnSpc>
                <a:spcPct val="104000"/>
              </a:lnSpc>
              <a:spcAft>
                <a:spcPts val="300"/>
              </a:spcAft>
              <a:defRPr sz="1800" b="0">
                <a:solidFill>
                  <a:srgbClr val="17324D"/>
                </a:solidFill>
                <a:latin typeface="DejaVu Sans"/>
              </a:defRPr>
            </a:pPr>
            <a:r>
              <a:t>D: biến thiên của bất đồng</a:t>
            </a:r>
          </a:p>
        </p:txBody>
      </p:sp>
      <p:sp>
        <p:nvSpPr>
          <p:cNvPr id="13" name="TextBox 12"/>
          <p:cNvSpPr txBox="1"/>
          <p:nvPr/>
        </p:nvSpPr>
        <p:spPr>
          <a:xfrm>
            <a:off x="5029200" y="2157984"/>
            <a:ext cx="6556248" cy="402336"/>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Số liệu báo cáo trong luận văn</a:t>
            </a:r>
          </a:p>
        </p:txBody>
      </p:sp>
      <p:sp>
        <p:nvSpPr>
          <p:cNvPr id="14" name="Rectangle 13"/>
          <p:cNvSpPr/>
          <p:nvPr/>
        </p:nvSpPr>
        <p:spPr>
          <a:xfrm>
            <a:off x="5029200" y="2779776"/>
            <a:ext cx="6656832" cy="429768"/>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38928" y="2880360"/>
            <a:ext cx="3182112" cy="292607"/>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CẤU HÌNH</a:t>
            </a:r>
          </a:p>
        </p:txBody>
      </p:sp>
      <p:sp>
        <p:nvSpPr>
          <p:cNvPr id="16" name="TextBox 15"/>
          <p:cNvSpPr txBox="1"/>
          <p:nvPr/>
        </p:nvSpPr>
        <p:spPr>
          <a:xfrm>
            <a:off x="8540496" y="2880360"/>
            <a:ext cx="1517904" cy="292607"/>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AUC</a:t>
            </a:r>
          </a:p>
        </p:txBody>
      </p:sp>
      <p:sp>
        <p:nvSpPr>
          <p:cNvPr id="17" name="TextBox 16"/>
          <p:cNvSpPr txBox="1"/>
          <p:nvPr/>
        </p:nvSpPr>
        <p:spPr>
          <a:xfrm>
            <a:off x="10277856" y="2880360"/>
            <a:ext cx="1298448" cy="292607"/>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FPR</a:t>
            </a:r>
          </a:p>
        </p:txBody>
      </p:sp>
      <p:sp>
        <p:nvSpPr>
          <p:cNvPr id="18" name="Rectangle 17"/>
          <p:cNvSpPr/>
          <p:nvPr/>
        </p:nvSpPr>
        <p:spPr>
          <a:xfrm>
            <a:off x="5029200" y="3209544"/>
            <a:ext cx="6656832"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3337560"/>
            <a:ext cx="3182112" cy="301752"/>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Chỉ phân tích tĩnh</a:t>
            </a:r>
          </a:p>
        </p:txBody>
      </p:sp>
      <p:sp>
        <p:nvSpPr>
          <p:cNvPr id="20" name="TextBox 19"/>
          <p:cNvSpPr txBox="1"/>
          <p:nvPr/>
        </p:nvSpPr>
        <p:spPr>
          <a:xfrm>
            <a:off x="8540496" y="3337560"/>
            <a:ext cx="1517904" cy="301752"/>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0,9420</a:t>
            </a:r>
          </a:p>
        </p:txBody>
      </p:sp>
      <p:sp>
        <p:nvSpPr>
          <p:cNvPr id="21" name="TextBox 20"/>
          <p:cNvSpPr txBox="1"/>
          <p:nvPr/>
        </p:nvSpPr>
        <p:spPr>
          <a:xfrm>
            <a:off x="10277856" y="3337560"/>
            <a:ext cx="1298448" cy="301752"/>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4,5%</a:t>
            </a:r>
          </a:p>
        </p:txBody>
      </p:sp>
      <p:sp>
        <p:nvSpPr>
          <p:cNvPr id="22" name="Rectangle 21"/>
          <p:cNvSpPr/>
          <p:nvPr/>
        </p:nvSpPr>
        <p:spPr>
          <a:xfrm>
            <a:off x="5029200" y="3694176"/>
            <a:ext cx="6656832" cy="484632"/>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822191"/>
            <a:ext cx="3182112" cy="301752"/>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Chỉ phân tích động</a:t>
            </a:r>
          </a:p>
        </p:txBody>
      </p:sp>
      <p:sp>
        <p:nvSpPr>
          <p:cNvPr id="24" name="TextBox 23"/>
          <p:cNvSpPr txBox="1"/>
          <p:nvPr/>
        </p:nvSpPr>
        <p:spPr>
          <a:xfrm>
            <a:off x="8540496" y="3822191"/>
            <a:ext cx="1517904" cy="301752"/>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0,9915</a:t>
            </a:r>
          </a:p>
        </p:txBody>
      </p:sp>
      <p:sp>
        <p:nvSpPr>
          <p:cNvPr id="25" name="TextBox 24"/>
          <p:cNvSpPr txBox="1"/>
          <p:nvPr/>
        </p:nvSpPr>
        <p:spPr>
          <a:xfrm>
            <a:off x="10277856" y="3822191"/>
            <a:ext cx="1298448" cy="301752"/>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0,2%</a:t>
            </a:r>
          </a:p>
        </p:txBody>
      </p:sp>
      <p:sp>
        <p:nvSpPr>
          <p:cNvPr id="26" name="Rectangle 25"/>
          <p:cNvSpPr/>
          <p:nvPr/>
        </p:nvSpPr>
        <p:spPr>
          <a:xfrm>
            <a:off x="5029200" y="4178808"/>
            <a:ext cx="6656832"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4306824"/>
            <a:ext cx="3182112" cy="301752"/>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Trọng số cố định</a:t>
            </a:r>
          </a:p>
        </p:txBody>
      </p:sp>
      <p:sp>
        <p:nvSpPr>
          <p:cNvPr id="28" name="TextBox 27"/>
          <p:cNvSpPr txBox="1"/>
          <p:nvPr/>
        </p:nvSpPr>
        <p:spPr>
          <a:xfrm>
            <a:off x="8540496" y="4306824"/>
            <a:ext cx="1517904" cy="301752"/>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0,9720</a:t>
            </a:r>
          </a:p>
        </p:txBody>
      </p:sp>
      <p:sp>
        <p:nvSpPr>
          <p:cNvPr id="29" name="TextBox 28"/>
          <p:cNvSpPr txBox="1"/>
          <p:nvPr/>
        </p:nvSpPr>
        <p:spPr>
          <a:xfrm>
            <a:off x="10277856" y="4306824"/>
            <a:ext cx="1298448" cy="301752"/>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1,1%</a:t>
            </a:r>
          </a:p>
        </p:txBody>
      </p:sp>
      <p:sp>
        <p:nvSpPr>
          <p:cNvPr id="30" name="Rectangle 29"/>
          <p:cNvSpPr/>
          <p:nvPr/>
        </p:nvSpPr>
        <p:spPr>
          <a:xfrm>
            <a:off x="5029200" y="4663440"/>
            <a:ext cx="6656832" cy="484632"/>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38928" y="4791456"/>
            <a:ext cx="3182112" cy="301752"/>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Gated Fusion</a:t>
            </a:r>
          </a:p>
        </p:txBody>
      </p:sp>
      <p:sp>
        <p:nvSpPr>
          <p:cNvPr id="32" name="TextBox 31"/>
          <p:cNvSpPr txBox="1"/>
          <p:nvPr/>
        </p:nvSpPr>
        <p:spPr>
          <a:xfrm>
            <a:off x="8540496" y="4791456"/>
            <a:ext cx="1517904" cy="301752"/>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0,9760</a:t>
            </a:r>
          </a:p>
        </p:txBody>
      </p:sp>
      <p:sp>
        <p:nvSpPr>
          <p:cNvPr id="33" name="TextBox 32"/>
          <p:cNvSpPr txBox="1"/>
          <p:nvPr/>
        </p:nvSpPr>
        <p:spPr>
          <a:xfrm>
            <a:off x="10277856" y="4791456"/>
            <a:ext cx="1298448" cy="301752"/>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1,0%</a:t>
            </a:r>
          </a:p>
        </p:txBody>
      </p:sp>
      <p:sp>
        <p:nvSpPr>
          <p:cNvPr id="34" name="Rectangle 33"/>
          <p:cNvSpPr/>
          <p:nvPr/>
        </p:nvSpPr>
        <p:spPr>
          <a:xfrm>
            <a:off x="5029200" y="5148072"/>
            <a:ext cx="6656832"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38928" y="5276088"/>
            <a:ext cx="3182112" cy="301752"/>
          </a:xfrm>
          <a:prstGeom prst="rect">
            <a:avLst/>
          </a:prstGeom>
          <a:noFill/>
        </p:spPr>
        <p:txBody>
          <a:bodyPr wrap="square" lIns="9144" rIns="9144" tIns="9144" bIns="9144">
            <a:spAutoFit/>
          </a:bodyPr>
          <a:lstStyle/>
          <a:p>
            <a:pPr>
              <a:lnSpc>
                <a:spcPct val="104000"/>
              </a:lnSpc>
              <a:spcAft>
                <a:spcPts val="300"/>
              </a:spcAft>
              <a:defRPr sz="1700" b="1">
                <a:solidFill>
                  <a:srgbClr val="17324D"/>
                </a:solidFill>
                <a:latin typeface="DejaVu Sans"/>
              </a:defRPr>
            </a:pPr>
            <a:r>
              <a:t>PID Fusion</a:t>
            </a:r>
          </a:p>
        </p:txBody>
      </p:sp>
      <p:sp>
        <p:nvSpPr>
          <p:cNvPr id="36" name="TextBox 35"/>
          <p:cNvSpPr txBox="1"/>
          <p:nvPr/>
        </p:nvSpPr>
        <p:spPr>
          <a:xfrm>
            <a:off x="8540496" y="5276088"/>
            <a:ext cx="1517904" cy="301752"/>
          </a:xfrm>
          <a:prstGeom prst="rect">
            <a:avLst/>
          </a:prstGeom>
          <a:noFill/>
        </p:spPr>
        <p:txBody>
          <a:bodyPr wrap="square" lIns="9144" rIns="9144" tIns="9144" bIns="9144">
            <a:spAutoFit/>
          </a:bodyPr>
          <a:lstStyle/>
          <a:p>
            <a:pPr>
              <a:lnSpc>
                <a:spcPct val="104000"/>
              </a:lnSpc>
              <a:spcAft>
                <a:spcPts val="300"/>
              </a:spcAft>
              <a:defRPr sz="1700" b="0">
                <a:solidFill>
                  <a:srgbClr val="17324D"/>
                </a:solidFill>
                <a:latin typeface="DejaVu Sans"/>
              </a:defRPr>
            </a:pPr>
            <a:r>
              <a:t>0,9818</a:t>
            </a:r>
          </a:p>
        </p:txBody>
      </p:sp>
      <p:sp>
        <p:nvSpPr>
          <p:cNvPr id="37" name="TextBox 36"/>
          <p:cNvSpPr txBox="1"/>
          <p:nvPr/>
        </p:nvSpPr>
        <p:spPr>
          <a:xfrm>
            <a:off x="10277856" y="5276088"/>
            <a:ext cx="1298448" cy="301752"/>
          </a:xfrm>
          <a:prstGeom prst="rect">
            <a:avLst/>
          </a:prstGeom>
          <a:noFill/>
        </p:spPr>
        <p:txBody>
          <a:bodyPr wrap="square" lIns="9144" rIns="9144" tIns="9144" bIns="9144">
            <a:spAutoFit/>
          </a:bodyPr>
          <a:lstStyle/>
          <a:p>
            <a:pPr>
              <a:lnSpc>
                <a:spcPct val="104000"/>
              </a:lnSpc>
              <a:spcAft>
                <a:spcPts val="300"/>
              </a:spcAft>
              <a:defRPr sz="1700" b="0">
                <a:solidFill>
                  <a:srgbClr val="526779"/>
                </a:solidFill>
                <a:latin typeface="DejaVu Sans"/>
              </a:defRPr>
            </a:pPr>
            <a:r>
              <a:t>0,8%</a:t>
            </a:r>
          </a:p>
        </p:txBody>
      </p:sp>
      <p:sp>
        <p:nvSpPr>
          <p:cNvPr id="38" name="Rounded Rectangle 37"/>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600" b="1">
                <a:solidFill>
                  <a:srgbClr val="007F7A"/>
                </a:solidFill>
                <a:latin typeface="DejaVu Sans"/>
              </a:defRPr>
            </a:pPr>
            <a:r>
              <a:t>Đối chiếu PID với trọng số cố định để xem vai trò của luật dung hợp khi có cùng hai tín hiệu.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04 / ĐÓNG GÓP 2 — XAI-GUIDED AL</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900" b="1">
                <a:solidFill>
                  <a:srgbClr val="17324D"/>
                </a:solidFill>
                <a:latin typeface="DejaVu Sans"/>
              </a:defRPr>
            </a:pPr>
            <a:r>
              <a:t>Chọn mẫu cần nhãn bằng bất định và cấu trúc SHAP</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So với Uncertainty, điểm truy vấn bổ sung hai tín hiệu từ lời giải thích.</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luuvan.pdf §3.3, Bảng 4.10; runner pilot_al/run_pilot.py trong gói thực nghiệm.</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05 / 09</a:t>
            </a:r>
          </a:p>
        </p:txBody>
      </p:sp>
      <p:sp>
        <p:nvSpPr>
          <p:cNvPr id="9" name="Rounded Rectangle 8"/>
          <p:cNvSpPr/>
          <p:nvPr/>
        </p:nvSpPr>
        <p:spPr>
          <a:xfrm>
            <a:off x="502920" y="2148840"/>
            <a:ext cx="3621024" cy="2267712"/>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14016"/>
            <a:ext cx="3264408" cy="484632"/>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U — Bất định</a:t>
            </a:r>
          </a:p>
        </p:txBody>
      </p:sp>
      <p:sp>
        <p:nvSpPr>
          <p:cNvPr id="11" name="TextBox 10"/>
          <p:cNvSpPr txBox="1"/>
          <p:nvPr/>
        </p:nvSpPr>
        <p:spPr>
          <a:xfrm>
            <a:off x="676656" y="3081528"/>
            <a:ext cx="3255264" cy="585216"/>
          </a:xfrm>
          <a:prstGeom prst="rect">
            <a:avLst/>
          </a:prstGeom>
          <a:noFill/>
        </p:spPr>
        <p:txBody>
          <a:bodyPr wrap="square" lIns="9144" rIns="9144" tIns="9144" bIns="9144">
            <a:spAutoFit/>
          </a:bodyPr>
          <a:lstStyle/>
          <a:p>
            <a:pPr>
              <a:lnSpc>
                <a:spcPct val="104000"/>
              </a:lnSpc>
              <a:spcAft>
                <a:spcPts val="300"/>
              </a:spcAft>
              <a:defRPr sz="2200" b="1">
                <a:solidFill>
                  <a:srgbClr val="17324D"/>
                </a:solidFill>
                <a:latin typeface="DejaVu Sans"/>
              </a:defRPr>
            </a:pPr>
            <a:r>
              <a:t>U = 1 − 2|p − 0,5|</a:t>
            </a:r>
          </a:p>
        </p:txBody>
      </p:sp>
      <p:sp>
        <p:nvSpPr>
          <p:cNvPr id="12" name="TextBox 11"/>
          <p:cNvSpPr txBox="1"/>
          <p:nvPr/>
        </p:nvSpPr>
        <p:spPr>
          <a:xfrm>
            <a:off x="676656" y="3877056"/>
            <a:ext cx="3255264" cy="393192"/>
          </a:xfrm>
          <a:prstGeom prst="rect">
            <a:avLst/>
          </a:prstGeom>
          <a:noFill/>
        </p:spPr>
        <p:txBody>
          <a:bodyPr wrap="square" lIns="9144" rIns="9144" tIns="9144" bIns="9144">
            <a:spAutoFit/>
          </a:bodyPr>
          <a:lstStyle/>
          <a:p>
            <a:pPr>
              <a:lnSpc>
                <a:spcPct val="104000"/>
              </a:lnSpc>
              <a:spcAft>
                <a:spcPts val="300"/>
              </a:spcAft>
              <a:defRPr sz="1500" b="0">
                <a:solidFill>
                  <a:srgbClr val="526779"/>
                </a:solidFill>
                <a:latin typeface="DejaVu Sans"/>
              </a:defRPr>
            </a:pPr>
            <a:r>
              <a:t>Mẫu gần ranh giới dự đoán</a:t>
            </a:r>
          </a:p>
        </p:txBody>
      </p:sp>
      <p:sp>
        <p:nvSpPr>
          <p:cNvPr id="13" name="Rounded Rectangle 12"/>
          <p:cNvSpPr/>
          <p:nvPr/>
        </p:nvSpPr>
        <p:spPr>
          <a:xfrm>
            <a:off x="4279392" y="2148840"/>
            <a:ext cx="3621024" cy="2267712"/>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414016"/>
            <a:ext cx="3264408" cy="484632"/>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H — Xung đột hướng</a:t>
            </a:r>
          </a:p>
        </p:txBody>
      </p:sp>
      <p:sp>
        <p:nvSpPr>
          <p:cNvPr id="15" name="TextBox 14"/>
          <p:cNvSpPr txBox="1"/>
          <p:nvPr/>
        </p:nvSpPr>
        <p:spPr>
          <a:xfrm>
            <a:off x="4453128" y="3081528"/>
            <a:ext cx="3255264" cy="585216"/>
          </a:xfrm>
          <a:prstGeom prst="rect">
            <a:avLst/>
          </a:prstGeom>
          <a:noFill/>
        </p:spPr>
        <p:txBody>
          <a:bodyPr wrap="square" lIns="9144" rIns="9144" tIns="9144" bIns="9144">
            <a:spAutoFit/>
          </a:bodyPr>
          <a:lstStyle/>
          <a:p>
            <a:pPr>
              <a:lnSpc>
                <a:spcPct val="104000"/>
              </a:lnSpc>
              <a:spcAft>
                <a:spcPts val="300"/>
              </a:spcAft>
              <a:defRPr sz="2200" b="1">
                <a:solidFill>
                  <a:srgbClr val="17324D"/>
                </a:solidFill>
                <a:latin typeface="DejaVu Sans"/>
              </a:defRPr>
            </a:pPr>
            <a:r>
              <a:t>H = −Σ q log₂q</a:t>
            </a:r>
          </a:p>
        </p:txBody>
      </p:sp>
      <p:sp>
        <p:nvSpPr>
          <p:cNvPr id="16" name="TextBox 15"/>
          <p:cNvSpPr txBox="1"/>
          <p:nvPr/>
        </p:nvSpPr>
        <p:spPr>
          <a:xfrm>
            <a:off x="4453128" y="3877056"/>
            <a:ext cx="3255264" cy="393192"/>
          </a:xfrm>
          <a:prstGeom prst="rect">
            <a:avLst/>
          </a:prstGeom>
          <a:noFill/>
        </p:spPr>
        <p:txBody>
          <a:bodyPr wrap="square" lIns="9144" rIns="9144" tIns="9144" bIns="9144">
            <a:spAutoFit/>
          </a:bodyPr>
          <a:lstStyle/>
          <a:p>
            <a:pPr>
              <a:lnSpc>
                <a:spcPct val="104000"/>
              </a:lnSpc>
              <a:spcAft>
                <a:spcPts val="300"/>
              </a:spcAft>
              <a:defRPr sz="1400" b="0">
                <a:solidFill>
                  <a:srgbClr val="526779"/>
                </a:solidFill>
                <a:latin typeface="DejaVu Sans"/>
              </a:defRPr>
            </a:pPr>
            <a:r>
              <a:t>Đóng góp dương và âm cùng mạnh</a:t>
            </a:r>
          </a:p>
        </p:txBody>
      </p:sp>
      <p:sp>
        <p:nvSpPr>
          <p:cNvPr id="17" name="Rounded Rectangle 16"/>
          <p:cNvSpPr/>
          <p:nvPr/>
        </p:nvSpPr>
        <p:spPr>
          <a:xfrm>
            <a:off x="8055864" y="2148840"/>
            <a:ext cx="3621024" cy="2267712"/>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414016"/>
            <a:ext cx="3264408" cy="484632"/>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V — Phương sai SHAP</a:t>
            </a:r>
          </a:p>
        </p:txBody>
      </p:sp>
      <p:sp>
        <p:nvSpPr>
          <p:cNvPr id="19" name="TextBox 18"/>
          <p:cNvSpPr txBox="1"/>
          <p:nvPr/>
        </p:nvSpPr>
        <p:spPr>
          <a:xfrm>
            <a:off x="8229600" y="3081528"/>
            <a:ext cx="3255264" cy="585216"/>
          </a:xfrm>
          <a:prstGeom prst="rect">
            <a:avLst/>
          </a:prstGeom>
          <a:noFill/>
        </p:spPr>
        <p:txBody>
          <a:bodyPr wrap="square" lIns="9144" rIns="9144" tIns="9144" bIns="9144">
            <a:spAutoFit/>
          </a:bodyPr>
          <a:lstStyle/>
          <a:p>
            <a:pPr>
              <a:lnSpc>
                <a:spcPct val="104000"/>
              </a:lnSpc>
              <a:spcAft>
                <a:spcPts val="300"/>
              </a:spcAft>
              <a:defRPr sz="2200" b="1">
                <a:solidFill>
                  <a:srgbClr val="17324D"/>
                </a:solidFill>
                <a:latin typeface="DejaVu Sans"/>
              </a:defRPr>
            </a:pPr>
            <a:r>
              <a:t>V = Var(φ₁,…,φ_d)</a:t>
            </a:r>
          </a:p>
        </p:txBody>
      </p:sp>
      <p:sp>
        <p:nvSpPr>
          <p:cNvPr id="20" name="TextBox 19"/>
          <p:cNvSpPr txBox="1"/>
          <p:nvPr/>
        </p:nvSpPr>
        <p:spPr>
          <a:xfrm>
            <a:off x="8229600" y="3877056"/>
            <a:ext cx="3255264" cy="393192"/>
          </a:xfrm>
          <a:prstGeom prst="rect">
            <a:avLst/>
          </a:prstGeom>
          <a:noFill/>
        </p:spPr>
        <p:txBody>
          <a:bodyPr wrap="square" lIns="9144" rIns="9144" tIns="9144" bIns="9144">
            <a:spAutoFit/>
          </a:bodyPr>
          <a:lstStyle/>
          <a:p>
            <a:pPr>
              <a:lnSpc>
                <a:spcPct val="104000"/>
              </a:lnSpc>
              <a:spcAft>
                <a:spcPts val="300"/>
              </a:spcAft>
              <a:defRPr sz="1500" b="0">
                <a:solidFill>
                  <a:srgbClr val="526779"/>
                </a:solidFill>
                <a:latin typeface="DejaVu Sans"/>
              </a:defRPr>
            </a:pPr>
            <a:r>
              <a:t>Độ phân tán đóng góp đặc trưng</a:t>
            </a:r>
          </a:p>
        </p:txBody>
      </p:sp>
      <p:sp>
        <p:nvSpPr>
          <p:cNvPr id="21" name="Rounded Rectangle 20"/>
          <p:cNvSpPr/>
          <p:nvPr/>
        </p:nvSpPr>
        <p:spPr>
          <a:xfrm>
            <a:off x="502920" y="4626864"/>
            <a:ext cx="11183112" cy="786384"/>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828032"/>
            <a:ext cx="10698480" cy="429768"/>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S = 0,3Û + 0,4Ĥ + 0,3V̂    |    Min–max trên pool của từng vòng</a:t>
            </a:r>
          </a:p>
        </p:txBody>
      </p:sp>
      <p:sp>
        <p:nvSpPr>
          <p:cNvPr id="23" name="TextBox 22"/>
          <p:cNvSpPr txBox="1"/>
          <p:nvPr/>
        </p:nvSpPr>
        <p:spPr>
          <a:xfrm>
            <a:off x="585216" y="5669280"/>
            <a:ext cx="10972800" cy="502920"/>
          </a:xfrm>
          <a:prstGeom prst="rect">
            <a:avLst/>
          </a:prstGeom>
          <a:noFill/>
        </p:spPr>
        <p:txBody>
          <a:bodyPr wrap="square" lIns="9144" rIns="9144" tIns="9144" bIns="9144">
            <a:spAutoFit/>
          </a:bodyPr>
          <a:lstStyle/>
          <a:p>
            <a:pPr>
              <a:lnSpc>
                <a:spcPct val="104000"/>
              </a:lnSpc>
              <a:spcAft>
                <a:spcPts val="300"/>
              </a:spcAft>
              <a:defRPr sz="1900" b="1">
                <a:solidFill>
                  <a:srgbClr val="17324D"/>
                </a:solidFill>
                <a:latin typeface="DejaVu Sans"/>
              </a:defRPr>
            </a:pPr>
            <a:r>
              <a:t>200 nhãn ban đầu → 5 vòng × 100 nhãn → 700 nhãn để so sánh các chiến lược.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05 / KẾT QUẢ ĐÓNG GÓP 2</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600" b="1">
                <a:solidFill>
                  <a:srgbClr val="17324D"/>
                </a:solidFill>
                <a:latin typeface="DejaVu Sans"/>
              </a:defRPr>
            </a:pPr>
            <a:r>
              <a:t>Cùng 700 nhãn: XAI có AUC cao hơn Uncertainty ở 5/5 seed</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Pilot bổ sung: 5 seed ghép cặp; train/pool 1.200, validation 400, test 400 mẫu.</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kết quả pilot AL đã chạy — summary.json, metrics.csv, predictions.csv.gz. Bảng: trung bình ± SD qua seed.</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06 / 09</a:t>
            </a:r>
          </a:p>
        </p:txBody>
      </p:sp>
      <p:sp>
        <p:nvSpPr>
          <p:cNvPr id="9" name="Rounded Rectangle 8"/>
          <p:cNvSpPr/>
          <p:nvPr/>
        </p:nvSpPr>
        <p:spPr>
          <a:xfrm>
            <a:off x="502920" y="2130552"/>
            <a:ext cx="6492240" cy="3502152"/>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_curve.png"/>
          <p:cNvPicPr>
            <a:picLocks noChangeAspect="1"/>
          </p:cNvPicPr>
          <p:nvPr/>
        </p:nvPicPr>
        <p:blipFill>
          <a:blip r:embed="rId2"/>
          <a:stretch>
            <a:fillRect/>
          </a:stretch>
        </p:blipFill>
        <p:spPr>
          <a:xfrm>
            <a:off x="630936" y="2304288"/>
            <a:ext cx="6236208" cy="3159679"/>
          </a:xfrm>
          <a:prstGeom prst="rect">
            <a:avLst/>
          </a:prstGeom>
        </p:spPr>
      </p:pic>
      <p:sp>
        <p:nvSpPr>
          <p:cNvPr id="11" name="Rectangle 10"/>
          <p:cNvSpPr/>
          <p:nvPr/>
        </p:nvSpPr>
        <p:spPr>
          <a:xfrm>
            <a:off x="7205472" y="2130552"/>
            <a:ext cx="4480560" cy="429768"/>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231136"/>
            <a:ext cx="1362456" cy="292607"/>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CHIẾN LƯỢC</a:t>
            </a:r>
          </a:p>
        </p:txBody>
      </p:sp>
      <p:sp>
        <p:nvSpPr>
          <p:cNvPr id="13" name="TextBox 12"/>
          <p:cNvSpPr txBox="1"/>
          <p:nvPr/>
        </p:nvSpPr>
        <p:spPr>
          <a:xfrm>
            <a:off x="8897111" y="2231136"/>
            <a:ext cx="2679191" cy="292607"/>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AUC ± SD</a:t>
            </a:r>
          </a:p>
        </p:txBody>
      </p:sp>
      <p:sp>
        <p:nvSpPr>
          <p:cNvPr id="14" name="Rectangle 13"/>
          <p:cNvSpPr/>
          <p:nvPr/>
        </p:nvSpPr>
        <p:spPr>
          <a:xfrm>
            <a:off x="7205472" y="2560320"/>
            <a:ext cx="4480560"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688336"/>
            <a:ext cx="1362456" cy="338327"/>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Random</a:t>
            </a:r>
          </a:p>
        </p:txBody>
      </p:sp>
      <p:sp>
        <p:nvSpPr>
          <p:cNvPr id="16" name="TextBox 15"/>
          <p:cNvSpPr txBox="1"/>
          <p:nvPr/>
        </p:nvSpPr>
        <p:spPr>
          <a:xfrm>
            <a:off x="8897111" y="2688336"/>
            <a:ext cx="2679191" cy="338327"/>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0,9634 ± 0,0063</a:t>
            </a:r>
          </a:p>
        </p:txBody>
      </p:sp>
      <p:sp>
        <p:nvSpPr>
          <p:cNvPr id="17" name="Rectangle 16"/>
          <p:cNvSpPr/>
          <p:nvPr/>
        </p:nvSpPr>
        <p:spPr>
          <a:xfrm>
            <a:off x="7205472" y="3081527"/>
            <a:ext cx="4480560" cy="521207"/>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3209544"/>
            <a:ext cx="1362456" cy="338327"/>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U</a:t>
            </a:r>
          </a:p>
        </p:txBody>
      </p:sp>
      <p:sp>
        <p:nvSpPr>
          <p:cNvPr id="19" name="TextBox 18"/>
          <p:cNvSpPr txBox="1"/>
          <p:nvPr/>
        </p:nvSpPr>
        <p:spPr>
          <a:xfrm>
            <a:off x="8897111" y="3209544"/>
            <a:ext cx="2679191" cy="338327"/>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0,9691 ± 0,0046</a:t>
            </a:r>
          </a:p>
        </p:txBody>
      </p:sp>
      <p:sp>
        <p:nvSpPr>
          <p:cNvPr id="20" name="Rectangle 19"/>
          <p:cNvSpPr/>
          <p:nvPr/>
        </p:nvSpPr>
        <p:spPr>
          <a:xfrm>
            <a:off x="7205472" y="3602735"/>
            <a:ext cx="4480560"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3730751"/>
            <a:ext cx="1362456" cy="338327"/>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U + H</a:t>
            </a:r>
          </a:p>
        </p:txBody>
      </p:sp>
      <p:sp>
        <p:nvSpPr>
          <p:cNvPr id="22" name="TextBox 21"/>
          <p:cNvSpPr txBox="1"/>
          <p:nvPr/>
        </p:nvSpPr>
        <p:spPr>
          <a:xfrm>
            <a:off x="8897111" y="3730751"/>
            <a:ext cx="2679191" cy="338327"/>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0,9676 ± 0,0031</a:t>
            </a:r>
          </a:p>
        </p:txBody>
      </p:sp>
      <p:sp>
        <p:nvSpPr>
          <p:cNvPr id="23" name="Rectangle 22"/>
          <p:cNvSpPr/>
          <p:nvPr/>
        </p:nvSpPr>
        <p:spPr>
          <a:xfrm>
            <a:off x="7205472" y="4123944"/>
            <a:ext cx="4480560" cy="521207"/>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0" y="4251959"/>
            <a:ext cx="1362456" cy="338327"/>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U + V</a:t>
            </a:r>
          </a:p>
        </p:txBody>
      </p:sp>
      <p:sp>
        <p:nvSpPr>
          <p:cNvPr id="25" name="TextBox 24"/>
          <p:cNvSpPr txBox="1"/>
          <p:nvPr/>
        </p:nvSpPr>
        <p:spPr>
          <a:xfrm>
            <a:off x="8897111" y="4251959"/>
            <a:ext cx="2679191" cy="338327"/>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0,9692 ± 0,0062</a:t>
            </a:r>
          </a:p>
        </p:txBody>
      </p:sp>
      <p:sp>
        <p:nvSpPr>
          <p:cNvPr id="26" name="Rectangle 25"/>
          <p:cNvSpPr/>
          <p:nvPr/>
        </p:nvSpPr>
        <p:spPr>
          <a:xfrm>
            <a:off x="7205472" y="4645152"/>
            <a:ext cx="4480560"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773168"/>
            <a:ext cx="1362456" cy="338327"/>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XAI đầy đủ</a:t>
            </a:r>
          </a:p>
        </p:txBody>
      </p:sp>
      <p:sp>
        <p:nvSpPr>
          <p:cNvPr id="28" name="TextBox 27"/>
          <p:cNvSpPr txBox="1"/>
          <p:nvPr/>
        </p:nvSpPr>
        <p:spPr>
          <a:xfrm>
            <a:off x="8897111" y="4773168"/>
            <a:ext cx="2679191" cy="338327"/>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0,9749 ± 0,0040</a:t>
            </a:r>
          </a:p>
        </p:txBody>
      </p:sp>
      <p:sp>
        <p:nvSpPr>
          <p:cNvPr id="29" name="Rounded Rectangle 28"/>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800" b="1">
                <a:solidFill>
                  <a:srgbClr val="007F7A"/>
                </a:solidFill>
                <a:latin typeface="DejaVu Sans"/>
              </a:defRPr>
            </a:pPr>
            <a:r>
              <a:t>XAI so với U: ΔAUC +0,0058   |   AP: 0,9442 so với 0,9363   |   Cùng ngân sách nhãn.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06 / ĐÓNG GÓP 3 — ĐÁNH GIÁ FIDELITY</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800" b="1">
                <a:solidFill>
                  <a:srgbClr val="17324D"/>
                </a:solidFill>
                <a:latin typeface="DejaVu Sans"/>
              </a:defRPr>
            </a:pPr>
            <a:r>
              <a:t>Kiểm tra SHAP bằng tác động lên dự đoán của mô hình</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Đối chứng: che top-|SHAP| và che ngẫu nhiên cùng k; giá trị thay thế lấy từ train.</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pilot Fidelity đã chạy, model riêng train 1.200 mẫu / test 400 mẫu; random trung bình 20 lần, mỗi k.</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07 / 09</a:t>
            </a:r>
          </a:p>
        </p:txBody>
      </p:sp>
      <p:sp>
        <p:nvSpPr>
          <p:cNvPr id="9" name="Rounded Rectangle 8"/>
          <p:cNvSpPr/>
          <p:nvPr/>
        </p:nvSpPr>
        <p:spPr>
          <a:xfrm>
            <a:off x="502920" y="2139696"/>
            <a:ext cx="6995160" cy="347472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delity_curve.png"/>
          <p:cNvPicPr>
            <a:picLocks noChangeAspect="1"/>
          </p:cNvPicPr>
          <p:nvPr/>
        </p:nvPicPr>
        <p:blipFill>
          <a:blip r:embed="rId2"/>
          <a:stretch>
            <a:fillRect/>
          </a:stretch>
        </p:blipFill>
        <p:spPr>
          <a:xfrm>
            <a:off x="658368" y="2350008"/>
            <a:ext cx="6638544" cy="3091925"/>
          </a:xfrm>
          <a:prstGeom prst="rect">
            <a:avLst/>
          </a:prstGeom>
        </p:spPr>
      </p:pic>
      <p:sp>
        <p:nvSpPr>
          <p:cNvPr id="11" name="Rounded Rectangle 10"/>
          <p:cNvSpPr/>
          <p:nvPr/>
        </p:nvSpPr>
        <p:spPr>
          <a:xfrm>
            <a:off x="7708392" y="2139696"/>
            <a:ext cx="3977639" cy="347472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2386584"/>
            <a:ext cx="3566160" cy="402336"/>
          </a:xfrm>
          <a:prstGeom prst="rect">
            <a:avLst/>
          </a:prstGeom>
          <a:noFill/>
        </p:spPr>
        <p:txBody>
          <a:bodyPr wrap="square" lIns="9144" rIns="9144" tIns="9144" bIns="9144">
            <a:spAutoFit/>
          </a:bodyPr>
          <a:lstStyle/>
          <a:p>
            <a:pPr>
              <a:lnSpc>
                <a:spcPct val="104000"/>
              </a:lnSpc>
              <a:spcAft>
                <a:spcPts val="300"/>
              </a:spcAft>
              <a:defRPr sz="2100" b="1">
                <a:solidFill>
                  <a:srgbClr val="007F7A"/>
                </a:solidFill>
                <a:latin typeface="DejaVu Sans"/>
              </a:defRPr>
            </a:pPr>
            <a:r>
              <a:t>AUC tại k = 25</a:t>
            </a:r>
          </a:p>
        </p:txBody>
      </p:sp>
      <p:sp>
        <p:nvSpPr>
          <p:cNvPr id="13" name="TextBox 12"/>
          <p:cNvSpPr txBox="1"/>
          <p:nvPr/>
        </p:nvSpPr>
        <p:spPr>
          <a:xfrm>
            <a:off x="7909560" y="3017520"/>
            <a:ext cx="3566160" cy="1069848"/>
          </a:xfrm>
          <a:prstGeom prst="rect">
            <a:avLst/>
          </a:prstGeom>
          <a:noFill/>
        </p:spPr>
        <p:txBody>
          <a:bodyPr wrap="square" lIns="9144" rIns="9144" tIns="9144" bIns="9144">
            <a:spAutoFit/>
          </a:bodyPr>
          <a:lstStyle/>
          <a:p>
            <a:pPr>
              <a:lnSpc>
                <a:spcPct val="104000"/>
              </a:lnSpc>
              <a:spcAft>
                <a:spcPts val="300"/>
              </a:spcAft>
              <a:defRPr sz="1950" b="1">
                <a:solidFill>
                  <a:srgbClr val="17324D"/>
                </a:solidFill>
                <a:latin typeface="DejaVu Sans"/>
              </a:defRPr>
            </a:pPr>
            <a:r>
              <a:t>Trước che: 0,9802</a:t>
            </a:r>
          </a:p>
          <a:p>
            <a:pPr>
              <a:lnSpc>
                <a:spcPct val="104000"/>
              </a:lnSpc>
              <a:spcAft>
                <a:spcPts val="300"/>
              </a:spcAft>
              <a:defRPr sz="1950" b="1">
                <a:solidFill>
                  <a:srgbClr val="17324D"/>
                </a:solidFill>
                <a:latin typeface="DejaVu Sans"/>
              </a:defRPr>
            </a:pPr>
            <a:r>
              <a:t>Top-SHAP: 0,8185</a:t>
            </a:r>
          </a:p>
          <a:p>
            <a:pPr>
              <a:lnSpc>
                <a:spcPct val="104000"/>
              </a:lnSpc>
              <a:spcAft>
                <a:spcPts val="300"/>
              </a:spcAft>
              <a:defRPr sz="1950" b="1">
                <a:solidFill>
                  <a:srgbClr val="17324D"/>
                </a:solidFill>
                <a:latin typeface="DejaVu Sans"/>
              </a:defRPr>
            </a:pPr>
            <a:r>
              <a:t>Random: 0,9799</a:t>
            </a:r>
          </a:p>
        </p:txBody>
      </p:sp>
      <p:cxnSp>
        <p:nvCxnSpPr>
          <p:cNvPr id="14" name="Connector 13"/>
          <p:cNvCxnSpPr/>
          <p:nvPr/>
        </p:nvCxnSpPr>
        <p:spPr>
          <a:xfrm>
            <a:off x="7909560" y="4416552"/>
            <a:ext cx="3529584"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09560" y="4681728"/>
            <a:ext cx="3566160" cy="667512"/>
          </a:xfrm>
          <a:prstGeom prst="rect">
            <a:avLst/>
          </a:prstGeom>
          <a:noFill/>
        </p:spPr>
        <p:txBody>
          <a:bodyPr wrap="square" lIns="9144" rIns="9144" tIns="9144" bIns="9144">
            <a:spAutoFit/>
          </a:bodyPr>
          <a:lstStyle/>
          <a:p>
            <a:pPr>
              <a:lnSpc>
                <a:spcPct val="104000"/>
              </a:lnSpc>
              <a:spcAft>
                <a:spcPts val="300"/>
              </a:spcAft>
              <a:defRPr sz="1850" b="1">
                <a:solidFill>
                  <a:srgbClr val="17324D"/>
                </a:solidFill>
                <a:latin typeface="DejaVu Sans"/>
              </a:defRPr>
            </a:pPr>
            <a:r>
              <a:t>EC = 0,3044</a:t>
            </a:r>
          </a:p>
          <a:p>
            <a:pPr>
              <a:lnSpc>
                <a:spcPct val="104000"/>
              </a:lnSpc>
              <a:spcAft>
                <a:spcPts val="300"/>
              </a:spcAft>
              <a:defRPr sz="1850" b="1">
                <a:solidFill>
                  <a:srgbClr val="17324D"/>
                </a:solidFill>
                <a:latin typeface="DejaVu Sans"/>
              </a:defRPr>
            </a:pPr>
            <a:r>
              <a:t>CF = 0,5874</a:t>
            </a:r>
          </a:p>
        </p:txBody>
      </p:sp>
      <p:sp>
        <p:nvSpPr>
          <p:cNvPr id="16" name="Rounded Rectangle 15"/>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650" b="1">
                <a:solidFill>
                  <a:srgbClr val="007F7A"/>
                </a:solidFill>
                <a:latin typeface="DejaVu Sans"/>
              </a:defRPr>
            </a:pPr>
            <a:r>
              <a:t>Che top-SHAP gây suy giảm lớn hơn random: thứ hạng giải thích gắn với hành vi mô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07 / TIẾP THU GÓP Ý SEMINAR</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650" b="1">
                <a:solidFill>
                  <a:srgbClr val="17324D"/>
                </a:solidFill>
                <a:latin typeface="DejaVu Sans"/>
              </a:defRPr>
            </a:pPr>
            <a:r>
              <a:t>Tách rõ đóng góp và bổ sung phép so sánh cho từng phần</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Các nhận xét được chuyển thành nội dung trình bày, bảng đối chứng và kết quả thực nghiệm.</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Nguồn: góp ý Seminar; luuvan.pdf §3.2–3.4, Bảng 4.5; các pilot AL và Fidelity bổ sung.</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08 / 09</a:t>
            </a:r>
          </a:p>
        </p:txBody>
      </p:sp>
      <p:sp>
        <p:nvSpPr>
          <p:cNvPr id="9" name="Rectangle 8"/>
          <p:cNvSpPr/>
          <p:nvPr/>
        </p:nvSpPr>
        <p:spPr>
          <a:xfrm>
            <a:off x="502920" y="2121408"/>
            <a:ext cx="11183112" cy="438912"/>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2221991"/>
            <a:ext cx="3264408"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GÓP Ý CỦA HỘI ĐỒNG</a:t>
            </a:r>
          </a:p>
        </p:txBody>
      </p:sp>
      <p:sp>
        <p:nvSpPr>
          <p:cNvPr id="11" name="TextBox 10"/>
          <p:cNvSpPr txBox="1"/>
          <p:nvPr/>
        </p:nvSpPr>
        <p:spPr>
          <a:xfrm>
            <a:off x="4096512" y="2221991"/>
            <a:ext cx="5074920"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NỘI DUNG ĐÃ BỔ SUNG / LÀM RÕ</a:t>
            </a:r>
          </a:p>
        </p:txBody>
      </p:sp>
      <p:sp>
        <p:nvSpPr>
          <p:cNvPr id="12" name="TextBox 11"/>
          <p:cNvSpPr txBox="1"/>
          <p:nvPr/>
        </p:nvSpPr>
        <p:spPr>
          <a:xfrm>
            <a:off x="9390888" y="2221991"/>
            <a:ext cx="2185415" cy="301751"/>
          </a:xfrm>
          <a:prstGeom prst="rect">
            <a:avLst/>
          </a:prstGeom>
          <a:noFill/>
        </p:spPr>
        <p:txBody>
          <a:bodyPr wrap="square" lIns="9144" rIns="9144" tIns="9144" bIns="9144">
            <a:spAutoFit/>
          </a:bodyPr>
          <a:lstStyle/>
          <a:p>
            <a:pPr>
              <a:lnSpc>
                <a:spcPct val="104000"/>
              </a:lnSpc>
              <a:spcAft>
                <a:spcPts val="300"/>
              </a:spcAft>
              <a:defRPr sz="1200" b="1">
                <a:solidFill>
                  <a:srgbClr val="FFFFFF"/>
                </a:solidFill>
                <a:latin typeface="DejaVu Sans"/>
              </a:defRPr>
            </a:pPr>
            <a:r>
              <a:t>VỊ TRÍ</a:t>
            </a:r>
          </a:p>
        </p:txBody>
      </p:sp>
      <p:sp>
        <p:nvSpPr>
          <p:cNvPr id="13" name="Rectangle 12"/>
          <p:cNvSpPr/>
          <p:nvPr/>
        </p:nvSpPr>
        <p:spPr>
          <a:xfrm>
            <a:off x="502920" y="2560320"/>
            <a:ext cx="11183112" cy="8595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688336"/>
            <a:ext cx="3264408" cy="676656"/>
          </a:xfrm>
          <a:prstGeom prst="rect">
            <a:avLst/>
          </a:prstGeom>
          <a:noFill/>
        </p:spPr>
        <p:txBody>
          <a:bodyPr wrap="square" lIns="9144" rIns="9144" tIns="9144" bIns="9144">
            <a:spAutoFit/>
          </a:bodyPr>
          <a:lstStyle/>
          <a:p>
            <a:pPr>
              <a:lnSpc>
                <a:spcPct val="104000"/>
              </a:lnSpc>
              <a:spcAft>
                <a:spcPts val="300"/>
              </a:spcAft>
              <a:defRPr sz="1250" b="1">
                <a:solidFill>
                  <a:srgbClr val="17324D"/>
                </a:solidFill>
                <a:latin typeface="DejaVu Sans"/>
              </a:defRPr>
            </a:pPr>
            <a:r>
              <a:t>Tĩnh / động / kết hợp khác nhau gì?</a:t>
            </a:r>
          </a:p>
          <a:p>
            <a:pPr>
              <a:lnSpc>
                <a:spcPct val="104000"/>
              </a:lnSpc>
              <a:spcAft>
                <a:spcPts val="300"/>
              </a:spcAft>
              <a:defRPr sz="1250" b="1">
                <a:solidFill>
                  <a:srgbClr val="17324D"/>
                </a:solidFill>
                <a:latin typeface="DejaVu Sans"/>
              </a:defRPr>
            </a:pPr>
            <a:r>
              <a:t>Vì sao sử dụng PID?</a:t>
            </a:r>
          </a:p>
        </p:txBody>
      </p:sp>
      <p:sp>
        <p:nvSpPr>
          <p:cNvPr id="15" name="TextBox 14"/>
          <p:cNvSpPr txBox="1"/>
          <p:nvPr/>
        </p:nvSpPr>
        <p:spPr>
          <a:xfrm>
            <a:off x="4096512" y="2688336"/>
            <a:ext cx="5074920" cy="676656"/>
          </a:xfrm>
          <a:prstGeom prst="rect">
            <a:avLst/>
          </a:prstGeom>
          <a:noFill/>
        </p:spPr>
        <p:txBody>
          <a:bodyPr wrap="square" lIns="9144" rIns="9144" tIns="9144" bIns="9144">
            <a:spAutoFit/>
          </a:bodyPr>
          <a:lstStyle/>
          <a:p>
            <a:pPr>
              <a:lnSpc>
                <a:spcPct val="104000"/>
              </a:lnSpc>
              <a:spcAft>
                <a:spcPts val="300"/>
              </a:spcAft>
              <a:defRPr sz="1600" b="0">
                <a:solidFill>
                  <a:srgbClr val="17324D"/>
                </a:solidFill>
                <a:latin typeface="DejaVu Sans"/>
              </a:defRPr>
            </a:pPr>
            <a:r>
              <a:t>Tách cổng bất định và luật dung hợp;</a:t>
            </a:r>
          </a:p>
          <a:p>
            <a:pPr>
              <a:lnSpc>
                <a:spcPct val="104000"/>
              </a:lnSpc>
              <a:spcAft>
                <a:spcPts val="300"/>
              </a:spcAft>
              <a:defRPr sz="1600" b="0">
                <a:solidFill>
                  <a:srgbClr val="17324D"/>
                </a:solidFill>
                <a:latin typeface="DejaVu Sans"/>
              </a:defRPr>
            </a:pPr>
            <a:r>
              <a:t>trình bày các mốc so sánh tĩnh–động–fusion.</a:t>
            </a:r>
          </a:p>
        </p:txBody>
      </p:sp>
      <p:sp>
        <p:nvSpPr>
          <p:cNvPr id="16" name="TextBox 15"/>
          <p:cNvSpPr txBox="1"/>
          <p:nvPr/>
        </p:nvSpPr>
        <p:spPr>
          <a:xfrm>
            <a:off x="9390888" y="2688336"/>
            <a:ext cx="2185415" cy="676656"/>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§3.2, Bảng 4.5</a:t>
            </a:r>
          </a:p>
          <a:p>
            <a:pPr>
              <a:lnSpc>
                <a:spcPct val="104000"/>
              </a:lnSpc>
              <a:spcAft>
                <a:spcPts val="300"/>
              </a:spcAft>
              <a:defRPr sz="1600" b="0">
                <a:solidFill>
                  <a:srgbClr val="526779"/>
                </a:solidFill>
                <a:latin typeface="DejaVu Sans"/>
              </a:defRPr>
            </a:pPr>
            <a:r>
              <a:t>Slide 3–4</a:t>
            </a:r>
          </a:p>
        </p:txBody>
      </p:sp>
      <p:sp>
        <p:nvSpPr>
          <p:cNvPr id="17" name="Rectangle 16"/>
          <p:cNvSpPr/>
          <p:nvPr/>
        </p:nvSpPr>
        <p:spPr>
          <a:xfrm>
            <a:off x="502920" y="3419856"/>
            <a:ext cx="11183112" cy="859536"/>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547872"/>
            <a:ext cx="3264408" cy="676656"/>
          </a:xfrm>
          <a:prstGeom prst="rect">
            <a:avLst/>
          </a:prstGeom>
          <a:noFill/>
        </p:spPr>
        <p:txBody>
          <a:bodyPr wrap="square" lIns="9144" rIns="9144" tIns="9144" bIns="9144">
            <a:spAutoFit/>
          </a:bodyPr>
          <a:lstStyle/>
          <a:p>
            <a:pPr>
              <a:lnSpc>
                <a:spcPct val="104000"/>
              </a:lnSpc>
              <a:spcAft>
                <a:spcPts val="300"/>
              </a:spcAft>
              <a:defRPr sz="1250" b="1">
                <a:solidFill>
                  <a:srgbClr val="17324D"/>
                </a:solidFill>
                <a:latin typeface="DejaVu Sans"/>
              </a:defRPr>
            </a:pPr>
            <a:r>
              <a:t>XAI giúp AL như thế nào?</a:t>
            </a:r>
          </a:p>
          <a:p>
            <a:pPr>
              <a:lnSpc>
                <a:spcPct val="104000"/>
              </a:lnSpc>
              <a:spcAft>
                <a:spcPts val="300"/>
              </a:spcAft>
              <a:defRPr sz="1250" b="1">
                <a:solidFill>
                  <a:srgbClr val="17324D"/>
                </a:solidFill>
                <a:latin typeface="DejaVu Sans"/>
              </a:defRPr>
            </a:pPr>
            <a:r>
              <a:t>Kết quả gán nhãn cần thuyết phục hơn.</a:t>
            </a:r>
          </a:p>
        </p:txBody>
      </p:sp>
      <p:sp>
        <p:nvSpPr>
          <p:cNvPr id="19" name="TextBox 18"/>
          <p:cNvSpPr txBox="1"/>
          <p:nvPr/>
        </p:nvSpPr>
        <p:spPr>
          <a:xfrm>
            <a:off x="4096512" y="3547872"/>
            <a:ext cx="5074920" cy="676656"/>
          </a:xfrm>
          <a:prstGeom prst="rect">
            <a:avLst/>
          </a:prstGeom>
          <a:noFill/>
        </p:spPr>
        <p:txBody>
          <a:bodyPr wrap="square" lIns="9144" rIns="9144" tIns="9144" bIns="9144">
            <a:spAutoFit/>
          </a:bodyPr>
          <a:lstStyle/>
          <a:p>
            <a:pPr>
              <a:lnSpc>
                <a:spcPct val="104000"/>
              </a:lnSpc>
              <a:spcAft>
                <a:spcPts val="300"/>
              </a:spcAft>
              <a:defRPr sz="1600" b="0">
                <a:solidFill>
                  <a:srgbClr val="17324D"/>
                </a:solidFill>
                <a:latin typeface="DejaVu Sans"/>
              </a:defRPr>
            </a:pPr>
            <a:r>
              <a:t>So 5 chiến lược cùng ngân sách;</a:t>
            </a:r>
          </a:p>
          <a:p>
            <a:pPr>
              <a:lnSpc>
                <a:spcPct val="104000"/>
              </a:lnSpc>
              <a:spcAft>
                <a:spcPts val="300"/>
              </a:spcAft>
              <a:defRPr sz="1600" b="0">
                <a:solidFill>
                  <a:srgbClr val="17324D"/>
                </a:solidFill>
                <a:latin typeface="DejaVu Sans"/>
              </a:defRPr>
            </a:pPr>
            <a:r>
              <a:t>5 seed, đường học và ablation U/H/V.</a:t>
            </a:r>
          </a:p>
        </p:txBody>
      </p:sp>
      <p:sp>
        <p:nvSpPr>
          <p:cNvPr id="20" name="TextBox 19"/>
          <p:cNvSpPr txBox="1"/>
          <p:nvPr/>
        </p:nvSpPr>
        <p:spPr>
          <a:xfrm>
            <a:off x="9390888" y="3547872"/>
            <a:ext cx="2185415" cy="676656"/>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Pilot AL</a:t>
            </a:r>
          </a:p>
          <a:p>
            <a:pPr>
              <a:lnSpc>
                <a:spcPct val="104000"/>
              </a:lnSpc>
              <a:spcAft>
                <a:spcPts val="300"/>
              </a:spcAft>
              <a:defRPr sz="1600" b="0">
                <a:solidFill>
                  <a:srgbClr val="526779"/>
                </a:solidFill>
                <a:latin typeface="DejaVu Sans"/>
              </a:defRPr>
            </a:pPr>
            <a:r>
              <a:t>Slide 5–6</a:t>
            </a:r>
          </a:p>
        </p:txBody>
      </p:sp>
      <p:sp>
        <p:nvSpPr>
          <p:cNvPr id="21" name="Rectangle 20"/>
          <p:cNvSpPr/>
          <p:nvPr/>
        </p:nvSpPr>
        <p:spPr>
          <a:xfrm>
            <a:off x="502920" y="4279392"/>
            <a:ext cx="11183112" cy="8595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407407"/>
            <a:ext cx="3264408" cy="676656"/>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AUC tăng ít có ý nghĩa gì?</a:t>
            </a:r>
          </a:p>
          <a:p>
            <a:pPr>
              <a:lnSpc>
                <a:spcPct val="104000"/>
              </a:lnSpc>
              <a:spcAft>
                <a:spcPts val="300"/>
              </a:spcAft>
              <a:defRPr sz="1600" b="1">
                <a:solidFill>
                  <a:srgbClr val="17324D"/>
                </a:solidFill>
                <a:latin typeface="DejaVu Sans"/>
              </a:defRPr>
            </a:pPr>
            <a:r>
              <a:t>Cần tách từng thành phần.</a:t>
            </a:r>
          </a:p>
        </p:txBody>
      </p:sp>
      <p:sp>
        <p:nvSpPr>
          <p:cNvPr id="23" name="TextBox 22"/>
          <p:cNvSpPr txBox="1"/>
          <p:nvPr/>
        </p:nvSpPr>
        <p:spPr>
          <a:xfrm>
            <a:off x="4096512" y="4407407"/>
            <a:ext cx="5074920" cy="676656"/>
          </a:xfrm>
          <a:prstGeom prst="rect">
            <a:avLst/>
          </a:prstGeom>
          <a:noFill/>
        </p:spPr>
        <p:txBody>
          <a:bodyPr wrap="square" lIns="9144" rIns="9144" tIns="9144" bIns="9144">
            <a:spAutoFit/>
          </a:bodyPr>
          <a:lstStyle/>
          <a:p>
            <a:pPr>
              <a:lnSpc>
                <a:spcPct val="104000"/>
              </a:lnSpc>
              <a:spcAft>
                <a:spcPts val="300"/>
              </a:spcAft>
              <a:defRPr sz="1600" b="0">
                <a:solidFill>
                  <a:srgbClr val="17324D"/>
                </a:solidFill>
                <a:latin typeface="DejaVu Sans"/>
              </a:defRPr>
            </a:pPr>
            <a:r>
              <a:t>Báo chênh lệch ghép cặp, AUC±SD, AP;</a:t>
            </a:r>
          </a:p>
          <a:p>
            <a:pPr>
              <a:lnSpc>
                <a:spcPct val="104000"/>
              </a:lnSpc>
              <a:spcAft>
                <a:spcPts val="300"/>
              </a:spcAft>
              <a:defRPr sz="1600" b="0">
                <a:solidFill>
                  <a:srgbClr val="17324D"/>
                </a:solidFill>
                <a:latin typeface="DejaVu Sans"/>
              </a:defRPr>
            </a:pPr>
            <a:r>
              <a:t>đối chiếu mỗi thành phần và tổ hợp.</a:t>
            </a:r>
          </a:p>
        </p:txBody>
      </p:sp>
      <p:sp>
        <p:nvSpPr>
          <p:cNvPr id="24" name="TextBox 23"/>
          <p:cNvSpPr txBox="1"/>
          <p:nvPr/>
        </p:nvSpPr>
        <p:spPr>
          <a:xfrm>
            <a:off x="9390888" y="4407407"/>
            <a:ext cx="2185415" cy="676656"/>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ΔAUC +0,0058</a:t>
            </a:r>
          </a:p>
          <a:p>
            <a:pPr>
              <a:lnSpc>
                <a:spcPct val="104000"/>
              </a:lnSpc>
              <a:spcAft>
                <a:spcPts val="300"/>
              </a:spcAft>
              <a:defRPr sz="1600" b="0">
                <a:solidFill>
                  <a:srgbClr val="526779"/>
                </a:solidFill>
                <a:latin typeface="DejaVu Sans"/>
              </a:defRPr>
            </a:pPr>
            <a:r>
              <a:t>Slide 6</a:t>
            </a:r>
          </a:p>
        </p:txBody>
      </p:sp>
      <p:sp>
        <p:nvSpPr>
          <p:cNvPr id="25" name="Rectangle 24"/>
          <p:cNvSpPr/>
          <p:nvPr/>
        </p:nvSpPr>
        <p:spPr>
          <a:xfrm>
            <a:off x="502920" y="5138927"/>
            <a:ext cx="11183112" cy="859536"/>
          </a:xfrm>
          <a:prstGeom prst="rect">
            <a:avLst/>
          </a:prstGeom>
          <a:solidFill>
            <a:srgbClr val="EA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5266943"/>
            <a:ext cx="3264408" cy="676656"/>
          </a:xfrm>
          <a:prstGeom prst="rect">
            <a:avLst/>
          </a:prstGeom>
          <a:noFill/>
        </p:spPr>
        <p:txBody>
          <a:bodyPr wrap="square" lIns="9144" rIns="9144" tIns="9144" bIns="9144">
            <a:spAutoFit/>
          </a:bodyPr>
          <a:lstStyle/>
          <a:p>
            <a:pPr>
              <a:lnSpc>
                <a:spcPct val="104000"/>
              </a:lnSpc>
              <a:spcAft>
                <a:spcPts val="300"/>
              </a:spcAft>
              <a:defRPr sz="1600" b="1">
                <a:solidFill>
                  <a:srgbClr val="17324D"/>
                </a:solidFill>
                <a:latin typeface="DejaVu Sans"/>
              </a:defRPr>
            </a:pPr>
            <a:r>
              <a:t>Độ đo giải thích có phù hợp không?</a:t>
            </a:r>
          </a:p>
        </p:txBody>
      </p:sp>
      <p:sp>
        <p:nvSpPr>
          <p:cNvPr id="27" name="TextBox 26"/>
          <p:cNvSpPr txBox="1"/>
          <p:nvPr/>
        </p:nvSpPr>
        <p:spPr>
          <a:xfrm>
            <a:off x="4096512" y="5266943"/>
            <a:ext cx="5074920" cy="676656"/>
          </a:xfrm>
          <a:prstGeom prst="rect">
            <a:avLst/>
          </a:prstGeom>
          <a:noFill/>
        </p:spPr>
        <p:txBody>
          <a:bodyPr wrap="square" lIns="9144" rIns="9144" tIns="9144" bIns="9144">
            <a:spAutoFit/>
          </a:bodyPr>
          <a:lstStyle/>
          <a:p>
            <a:pPr>
              <a:lnSpc>
                <a:spcPct val="104000"/>
              </a:lnSpc>
              <a:spcAft>
                <a:spcPts val="300"/>
              </a:spcAft>
              <a:defRPr sz="1600" b="0">
                <a:solidFill>
                  <a:srgbClr val="17324D"/>
                </a:solidFill>
                <a:latin typeface="DejaVu Sans"/>
              </a:defRPr>
            </a:pPr>
            <a:r>
              <a:t>Kiểm tra top-SHAP / random; baseline train;</a:t>
            </a:r>
          </a:p>
          <a:p>
            <a:pPr>
              <a:lnSpc>
                <a:spcPct val="104000"/>
              </a:lnSpc>
              <a:spcAft>
                <a:spcPts val="300"/>
              </a:spcAft>
              <a:defRPr sz="1600" b="0">
                <a:solidFill>
                  <a:srgbClr val="17324D"/>
                </a:solidFill>
                <a:latin typeface="DejaVu Sans"/>
              </a:defRPr>
            </a:pPr>
            <a:r>
              <a:t>định nghĩa rõ EC và CF.</a:t>
            </a:r>
          </a:p>
        </p:txBody>
      </p:sp>
      <p:sp>
        <p:nvSpPr>
          <p:cNvPr id="28" name="TextBox 27"/>
          <p:cNvSpPr txBox="1"/>
          <p:nvPr/>
        </p:nvSpPr>
        <p:spPr>
          <a:xfrm>
            <a:off x="9390888" y="5266943"/>
            <a:ext cx="2185415" cy="676656"/>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§3.4; pilot Fidelity</a:t>
            </a:r>
          </a:p>
          <a:p>
            <a:pPr>
              <a:lnSpc>
                <a:spcPct val="104000"/>
              </a:lnSpc>
              <a:spcAft>
                <a:spcPts val="300"/>
              </a:spcAft>
              <a:defRPr sz="1600" b="0">
                <a:solidFill>
                  <a:srgbClr val="526779"/>
                </a:solidFill>
                <a:latin typeface="DejaVu Sans"/>
              </a:defRPr>
            </a:pPr>
            <a:r>
              <a:t>Slide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65176"/>
            <a:ext cx="10789920" cy="274320"/>
          </a:xfrm>
          <a:prstGeom prst="rect">
            <a:avLst/>
          </a:prstGeom>
          <a:noFill/>
        </p:spPr>
        <p:txBody>
          <a:bodyPr wrap="square" lIns="9144" rIns="9144" tIns="9144" bIns="9144">
            <a:spAutoFit/>
          </a:bodyPr>
          <a:lstStyle/>
          <a:p>
            <a:pPr>
              <a:lnSpc>
                <a:spcPct val="104000"/>
              </a:lnSpc>
              <a:spcAft>
                <a:spcPts val="300"/>
              </a:spcAft>
              <a:defRPr sz="1100" b="1">
                <a:solidFill>
                  <a:srgbClr val="007F7A"/>
                </a:solidFill>
                <a:latin typeface="DejaVu Sans"/>
              </a:defRPr>
            </a:pPr>
            <a:r>
              <a:t>08 / KẾT QUẢ CHÍNH</a:t>
            </a:r>
          </a:p>
        </p:txBody>
      </p:sp>
      <p:sp>
        <p:nvSpPr>
          <p:cNvPr id="4" name="TextBox 3"/>
          <p:cNvSpPr txBox="1"/>
          <p:nvPr/>
        </p:nvSpPr>
        <p:spPr>
          <a:xfrm>
            <a:off x="502920" y="722376"/>
            <a:ext cx="11155680" cy="694944"/>
          </a:xfrm>
          <a:prstGeom prst="rect">
            <a:avLst/>
          </a:prstGeom>
          <a:noFill/>
        </p:spPr>
        <p:txBody>
          <a:bodyPr wrap="square" lIns="9144" rIns="9144" tIns="9144" bIns="9144">
            <a:spAutoFit/>
          </a:bodyPr>
          <a:lstStyle/>
          <a:p>
            <a:pPr>
              <a:lnSpc>
                <a:spcPct val="104000"/>
              </a:lnSpc>
              <a:spcAft>
                <a:spcPts val="300"/>
              </a:spcAft>
              <a:defRPr sz="2900" b="1">
                <a:solidFill>
                  <a:srgbClr val="17324D"/>
                </a:solidFill>
                <a:latin typeface="DejaVu Sans"/>
              </a:defRPr>
            </a:pPr>
            <a:r>
              <a:t>Ba đóng góp tạo thành một quy trình có thể đánh giá</a:t>
            </a:r>
          </a:p>
        </p:txBody>
      </p:sp>
      <p:sp>
        <p:nvSpPr>
          <p:cNvPr id="5" name="TextBox 4"/>
          <p:cNvSpPr txBox="1"/>
          <p:nvPr/>
        </p:nvSpPr>
        <p:spPr>
          <a:xfrm>
            <a:off x="502920" y="1490472"/>
            <a:ext cx="11064240" cy="502920"/>
          </a:xfrm>
          <a:prstGeom prst="rect">
            <a:avLst/>
          </a:prstGeom>
          <a:noFill/>
        </p:spPr>
        <p:txBody>
          <a:bodyPr wrap="square" lIns="9144" rIns="9144" tIns="9144" bIns="9144">
            <a:spAutoFit/>
          </a:bodyPr>
          <a:lstStyle/>
          <a:p>
            <a:pPr>
              <a:lnSpc>
                <a:spcPct val="104000"/>
              </a:lnSpc>
              <a:spcAft>
                <a:spcPts val="300"/>
              </a:spcAft>
              <a:defRPr sz="1600" b="0">
                <a:solidFill>
                  <a:srgbClr val="526779"/>
                </a:solidFill>
                <a:latin typeface="DejaVu Sans"/>
              </a:defRPr>
            </a:pPr>
            <a:r>
              <a:t>Từ kết hợp tín hiệu → lựa chọn nhãn → kiểm tra lời giải thích.</a:t>
            </a:r>
          </a:p>
        </p:txBody>
      </p:sp>
      <p:cxnSp>
        <p:nvCxnSpPr>
          <p:cNvPr id="6" name="Connector 5"/>
          <p:cNvCxnSpPr/>
          <p:nvPr/>
        </p:nvCxnSpPr>
        <p:spPr>
          <a:xfrm>
            <a:off x="502920" y="6382512"/>
            <a:ext cx="11183112" cy="0"/>
          </a:xfrm>
          <a:prstGeom prst="line">
            <a:avLst/>
          </a:prstGeom>
          <a:ln w="12700">
            <a:solidFill>
              <a:srgbClr val="DCE5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64808"/>
            <a:ext cx="10744200" cy="210312"/>
          </a:xfrm>
          <a:prstGeom prst="rect">
            <a:avLst/>
          </a:prstGeom>
          <a:noFill/>
        </p:spPr>
        <p:txBody>
          <a:bodyPr wrap="square" lIns="9144" rIns="9144" tIns="9144" bIns="9144">
            <a:spAutoFit/>
          </a:bodyPr>
          <a:lstStyle/>
          <a:p>
            <a:pPr>
              <a:lnSpc>
                <a:spcPct val="104000"/>
              </a:lnSpc>
              <a:spcAft>
                <a:spcPts val="300"/>
              </a:spcAft>
              <a:defRPr sz="900" b="0">
                <a:solidFill>
                  <a:srgbClr val="526779"/>
                </a:solidFill>
                <a:latin typeface="DejaVu Sans"/>
              </a:defRPr>
            </a:pPr>
            <a:r>
              <a:t>PID: cơ chế §3.2 và bảng báo cáo trong luận văn. AL / Fidelity: kết quả pilot bổ sung, các mô hình được đánh giá riêng.</a:t>
            </a:r>
          </a:p>
        </p:txBody>
      </p:sp>
      <p:sp>
        <p:nvSpPr>
          <p:cNvPr id="8" name="TextBox 7"/>
          <p:cNvSpPr txBox="1"/>
          <p:nvPr/>
        </p:nvSpPr>
        <p:spPr>
          <a:xfrm>
            <a:off x="11000232" y="6455664"/>
            <a:ext cx="685800" cy="228600"/>
          </a:xfrm>
          <a:prstGeom prst="rect">
            <a:avLst/>
          </a:prstGeom>
          <a:noFill/>
        </p:spPr>
        <p:txBody>
          <a:bodyPr wrap="square" lIns="9144" rIns="9144" tIns="9144" bIns="9144">
            <a:spAutoFit/>
          </a:bodyPr>
          <a:lstStyle/>
          <a:p>
            <a:pPr>
              <a:lnSpc>
                <a:spcPct val="104000"/>
              </a:lnSpc>
              <a:spcAft>
                <a:spcPts val="300"/>
              </a:spcAft>
              <a:defRPr sz="1000" b="1">
                <a:solidFill>
                  <a:srgbClr val="007F7A"/>
                </a:solidFill>
                <a:latin typeface="DejaVu Sans"/>
              </a:defRPr>
            </a:pPr>
            <a:r>
              <a:t>09 / 09</a:t>
            </a:r>
          </a:p>
        </p:txBody>
      </p:sp>
      <p:sp>
        <p:nvSpPr>
          <p:cNvPr id="9" name="Rounded Rectangle 8"/>
          <p:cNvSpPr/>
          <p:nvPr/>
        </p:nvSpPr>
        <p:spPr>
          <a:xfrm>
            <a:off x="502920" y="2212848"/>
            <a:ext cx="3621024" cy="297180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05456"/>
            <a:ext cx="3236976" cy="475488"/>
          </a:xfrm>
          <a:prstGeom prst="rect">
            <a:avLst/>
          </a:prstGeom>
          <a:noFill/>
        </p:spPr>
        <p:txBody>
          <a:bodyPr wrap="square" lIns="9144" rIns="9144" tIns="9144" bIns="9144">
            <a:spAutoFit/>
          </a:bodyPr>
          <a:lstStyle/>
          <a:p>
            <a:pPr>
              <a:lnSpc>
                <a:spcPct val="104000"/>
              </a:lnSpc>
              <a:spcAft>
                <a:spcPts val="300"/>
              </a:spcAft>
              <a:defRPr sz="2200" b="1">
                <a:solidFill>
                  <a:srgbClr val="007F7A"/>
                </a:solidFill>
                <a:latin typeface="DejaVu Sans"/>
              </a:defRPr>
            </a:pPr>
            <a:r>
              <a:t>① PID Fusion</a:t>
            </a:r>
          </a:p>
        </p:txBody>
      </p:sp>
      <p:sp>
        <p:nvSpPr>
          <p:cNvPr id="11" name="TextBox 10"/>
          <p:cNvSpPr txBox="1"/>
          <p:nvPr/>
        </p:nvSpPr>
        <p:spPr>
          <a:xfrm>
            <a:off x="685800" y="3319272"/>
            <a:ext cx="3236976" cy="603504"/>
          </a:xfrm>
          <a:prstGeom prst="rect">
            <a:avLst/>
          </a:prstGeom>
          <a:noFill/>
        </p:spPr>
        <p:txBody>
          <a:bodyPr wrap="square" lIns="9144" rIns="9144" tIns="9144" bIns="9144">
            <a:spAutoFit/>
          </a:bodyPr>
          <a:lstStyle/>
          <a:p>
            <a:pPr>
              <a:lnSpc>
                <a:spcPct val="104000"/>
              </a:lnSpc>
              <a:spcAft>
                <a:spcPts val="300"/>
              </a:spcAft>
              <a:defRPr sz="2200" b="1">
                <a:solidFill>
                  <a:srgbClr val="17324D"/>
                </a:solidFill>
                <a:latin typeface="DejaVu Sans"/>
              </a:defRPr>
            </a:pPr>
            <a:r>
              <a:t>Dung hợp thích nghi</a:t>
            </a:r>
          </a:p>
        </p:txBody>
      </p:sp>
      <p:sp>
        <p:nvSpPr>
          <p:cNvPr id="12" name="TextBox 11"/>
          <p:cNvSpPr txBox="1"/>
          <p:nvPr/>
        </p:nvSpPr>
        <p:spPr>
          <a:xfrm>
            <a:off x="685800" y="4279392"/>
            <a:ext cx="3236976" cy="685800"/>
          </a:xfrm>
          <a:prstGeom prst="rect">
            <a:avLst/>
          </a:prstGeom>
          <a:noFill/>
        </p:spPr>
        <p:txBody>
          <a:bodyPr wrap="square" lIns="9144" rIns="9144" tIns="9144" bIns="9144">
            <a:spAutoFit/>
          </a:bodyPr>
          <a:lstStyle/>
          <a:p>
            <a:pPr>
              <a:lnSpc>
                <a:spcPct val="104000"/>
              </a:lnSpc>
              <a:spcAft>
                <a:spcPts val="300"/>
              </a:spcAft>
              <a:defRPr sz="1400" b="0">
                <a:solidFill>
                  <a:srgbClr val="526779"/>
                </a:solidFill>
                <a:latin typeface="DejaVu Sans"/>
              </a:defRPr>
            </a:pPr>
            <a:r>
              <a:t>Thay trọng số cố định bằng</a:t>
            </a:r>
          </a:p>
          <a:p>
            <a:pPr>
              <a:lnSpc>
                <a:spcPct val="104000"/>
              </a:lnSpc>
              <a:spcAft>
                <a:spcPts val="300"/>
              </a:spcAft>
              <a:defRPr sz="1400" b="0">
                <a:solidFill>
                  <a:srgbClr val="526779"/>
                </a:solidFill>
                <a:latin typeface="DejaVu Sans"/>
              </a:defRPr>
            </a:pPr>
            <a:r>
              <a:t>trọng số theo tín hiệu và trạng thái.</a:t>
            </a:r>
          </a:p>
        </p:txBody>
      </p:sp>
      <p:sp>
        <p:nvSpPr>
          <p:cNvPr id="13" name="Rounded Rectangle 12"/>
          <p:cNvSpPr/>
          <p:nvPr/>
        </p:nvSpPr>
        <p:spPr>
          <a:xfrm>
            <a:off x="4279392" y="2212848"/>
            <a:ext cx="3621024" cy="297180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505456"/>
            <a:ext cx="3236976" cy="475488"/>
          </a:xfrm>
          <a:prstGeom prst="rect">
            <a:avLst/>
          </a:prstGeom>
          <a:noFill/>
        </p:spPr>
        <p:txBody>
          <a:bodyPr wrap="square" lIns="9144" rIns="9144" tIns="9144" bIns="9144">
            <a:spAutoFit/>
          </a:bodyPr>
          <a:lstStyle/>
          <a:p>
            <a:pPr>
              <a:lnSpc>
                <a:spcPct val="104000"/>
              </a:lnSpc>
              <a:spcAft>
                <a:spcPts val="300"/>
              </a:spcAft>
              <a:defRPr sz="2200" b="1">
                <a:solidFill>
                  <a:srgbClr val="007F7A"/>
                </a:solidFill>
                <a:latin typeface="DejaVu Sans"/>
              </a:defRPr>
            </a:pPr>
            <a:r>
              <a:t>② XAI-Guided AL</a:t>
            </a:r>
          </a:p>
        </p:txBody>
      </p:sp>
      <p:sp>
        <p:nvSpPr>
          <p:cNvPr id="15" name="TextBox 14"/>
          <p:cNvSpPr txBox="1"/>
          <p:nvPr/>
        </p:nvSpPr>
        <p:spPr>
          <a:xfrm>
            <a:off x="4462272" y="3319272"/>
            <a:ext cx="3236976" cy="603504"/>
          </a:xfrm>
          <a:prstGeom prst="rect">
            <a:avLst/>
          </a:prstGeom>
          <a:noFill/>
        </p:spPr>
        <p:txBody>
          <a:bodyPr wrap="square" lIns="9144" rIns="9144" tIns="9144" bIns="9144">
            <a:spAutoFit/>
          </a:bodyPr>
          <a:lstStyle/>
          <a:p>
            <a:pPr>
              <a:lnSpc>
                <a:spcPct val="104000"/>
              </a:lnSpc>
              <a:spcAft>
                <a:spcPts val="300"/>
              </a:spcAft>
              <a:defRPr sz="2500" b="1">
                <a:solidFill>
                  <a:srgbClr val="17324D"/>
                </a:solidFill>
                <a:latin typeface="DejaVu Sans"/>
              </a:defRPr>
            </a:pPr>
            <a:r>
              <a:t>+0,0058 AUC</a:t>
            </a:r>
          </a:p>
        </p:txBody>
      </p:sp>
      <p:sp>
        <p:nvSpPr>
          <p:cNvPr id="16" name="TextBox 15"/>
          <p:cNvSpPr txBox="1"/>
          <p:nvPr/>
        </p:nvSpPr>
        <p:spPr>
          <a:xfrm>
            <a:off x="4462272" y="4279392"/>
            <a:ext cx="3236976" cy="685800"/>
          </a:xfrm>
          <a:prstGeom prst="rect">
            <a:avLst/>
          </a:prstGeom>
          <a:noFill/>
        </p:spPr>
        <p:txBody>
          <a:bodyPr wrap="square" lIns="9144" rIns="9144" tIns="9144" bIns="9144">
            <a:spAutoFit/>
          </a:bodyPr>
          <a:lstStyle/>
          <a:p>
            <a:pPr>
              <a:lnSpc>
                <a:spcPct val="104000"/>
              </a:lnSpc>
              <a:spcAft>
                <a:spcPts val="300"/>
              </a:spcAft>
              <a:defRPr sz="1450" b="0">
                <a:solidFill>
                  <a:srgbClr val="526779"/>
                </a:solidFill>
                <a:latin typeface="DejaVu Sans"/>
              </a:defRPr>
            </a:pPr>
            <a:r>
              <a:t>So với Uncertainty, cùng 700 nhãn;</a:t>
            </a:r>
          </a:p>
          <a:p>
            <a:pPr>
              <a:lnSpc>
                <a:spcPct val="104000"/>
              </a:lnSpc>
              <a:spcAft>
                <a:spcPts val="300"/>
              </a:spcAft>
              <a:defRPr sz="1450" b="0">
                <a:solidFill>
                  <a:srgbClr val="526779"/>
                </a:solidFill>
                <a:latin typeface="DejaVu Sans"/>
              </a:defRPr>
            </a:pPr>
            <a:r>
              <a:t>AUC tăng ở cả 5 seed của pilot.</a:t>
            </a:r>
          </a:p>
        </p:txBody>
      </p:sp>
      <p:sp>
        <p:nvSpPr>
          <p:cNvPr id="17" name="Rounded Rectangle 16"/>
          <p:cNvSpPr/>
          <p:nvPr/>
        </p:nvSpPr>
        <p:spPr>
          <a:xfrm>
            <a:off x="8055864" y="2212848"/>
            <a:ext cx="3621024" cy="2971800"/>
          </a:xfrm>
          <a:prstGeom prst="roundRect">
            <a:avLst>
              <a:gd name="adj" fmla="val 10000"/>
            </a:avLst>
          </a:prstGeom>
          <a:solidFill>
            <a:srgbClr val="FFFFFF"/>
          </a:solidFill>
          <a:ln w="8890">
            <a:solidFill>
              <a:srgbClr val="DCE5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505456"/>
            <a:ext cx="3236976" cy="475488"/>
          </a:xfrm>
          <a:prstGeom prst="rect">
            <a:avLst/>
          </a:prstGeom>
          <a:noFill/>
        </p:spPr>
        <p:txBody>
          <a:bodyPr wrap="square" lIns="9144" rIns="9144" tIns="9144" bIns="9144">
            <a:spAutoFit/>
          </a:bodyPr>
          <a:lstStyle/>
          <a:p>
            <a:pPr>
              <a:lnSpc>
                <a:spcPct val="104000"/>
              </a:lnSpc>
              <a:spcAft>
                <a:spcPts val="300"/>
              </a:spcAft>
              <a:defRPr sz="2200" b="1">
                <a:solidFill>
                  <a:srgbClr val="007F7A"/>
                </a:solidFill>
                <a:latin typeface="DejaVu Sans"/>
              </a:defRPr>
            </a:pPr>
            <a:r>
              <a:t>③ Đánh giá Fidelity</a:t>
            </a:r>
          </a:p>
        </p:txBody>
      </p:sp>
      <p:sp>
        <p:nvSpPr>
          <p:cNvPr id="19" name="TextBox 18"/>
          <p:cNvSpPr txBox="1"/>
          <p:nvPr/>
        </p:nvSpPr>
        <p:spPr>
          <a:xfrm>
            <a:off x="8238744" y="3319272"/>
            <a:ext cx="3236976" cy="603504"/>
          </a:xfrm>
          <a:prstGeom prst="rect">
            <a:avLst/>
          </a:prstGeom>
          <a:noFill/>
        </p:spPr>
        <p:txBody>
          <a:bodyPr wrap="square" lIns="9144" rIns="9144" tIns="9144" bIns="9144">
            <a:spAutoFit/>
          </a:bodyPr>
          <a:lstStyle/>
          <a:p>
            <a:pPr>
              <a:lnSpc>
                <a:spcPct val="104000"/>
              </a:lnSpc>
              <a:spcAft>
                <a:spcPts val="300"/>
              </a:spcAft>
              <a:defRPr sz="2500" b="1">
                <a:solidFill>
                  <a:srgbClr val="17324D"/>
                </a:solidFill>
                <a:latin typeface="DejaVu Sans"/>
              </a:defRPr>
            </a:pPr>
            <a:r>
              <a:t>0,1616 AUC drop</a:t>
            </a:r>
          </a:p>
        </p:txBody>
      </p:sp>
      <p:sp>
        <p:nvSpPr>
          <p:cNvPr id="20" name="TextBox 19"/>
          <p:cNvSpPr txBox="1"/>
          <p:nvPr/>
        </p:nvSpPr>
        <p:spPr>
          <a:xfrm>
            <a:off x="8238744" y="4279392"/>
            <a:ext cx="3236976" cy="685800"/>
          </a:xfrm>
          <a:prstGeom prst="rect">
            <a:avLst/>
          </a:prstGeom>
          <a:noFill/>
        </p:spPr>
        <p:txBody>
          <a:bodyPr wrap="square" lIns="9144" rIns="9144" tIns="9144" bIns="9144">
            <a:spAutoFit/>
          </a:bodyPr>
          <a:lstStyle/>
          <a:p>
            <a:pPr>
              <a:lnSpc>
                <a:spcPct val="104000"/>
              </a:lnSpc>
              <a:spcAft>
                <a:spcPts val="300"/>
              </a:spcAft>
              <a:defRPr sz="1550" b="0">
                <a:solidFill>
                  <a:srgbClr val="526779"/>
                </a:solidFill>
                <a:latin typeface="DejaVu Sans"/>
              </a:defRPr>
            </a:pPr>
            <a:r>
              <a:t>Che top-SHAP k = 25;</a:t>
            </a:r>
          </a:p>
          <a:p>
            <a:pPr>
              <a:lnSpc>
                <a:spcPct val="104000"/>
              </a:lnSpc>
              <a:spcAft>
                <a:spcPts val="300"/>
              </a:spcAft>
              <a:defRPr sz="1550" b="0">
                <a:solidFill>
                  <a:srgbClr val="526779"/>
                </a:solidFill>
                <a:latin typeface="DejaVu Sans"/>
              </a:defRPr>
            </a:pPr>
            <a:r>
              <a:t>random cùng k chỉ giảm 0,0003.</a:t>
            </a:r>
          </a:p>
        </p:txBody>
      </p:sp>
      <p:sp>
        <p:nvSpPr>
          <p:cNvPr id="21" name="Rounded Rectangle 20"/>
          <p:cNvSpPr/>
          <p:nvPr/>
        </p:nvSpPr>
        <p:spPr>
          <a:xfrm>
            <a:off x="502920" y="5596128"/>
            <a:ext cx="11183112" cy="539496"/>
          </a:xfrm>
          <a:prstGeom prst="roundRect">
            <a:avLst>
              <a:gd name="adj" fmla="val 10000"/>
            </a:avLst>
          </a:prstGeom>
          <a:solidFill>
            <a:srgbClr val="E4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696712"/>
            <a:ext cx="10844784" cy="384048"/>
          </a:xfrm>
          <a:prstGeom prst="rect">
            <a:avLst/>
          </a:prstGeom>
          <a:noFill/>
        </p:spPr>
        <p:txBody>
          <a:bodyPr wrap="square" lIns="9144" rIns="9144" tIns="9144" bIns="9144">
            <a:spAutoFit/>
          </a:bodyPr>
          <a:lstStyle/>
          <a:p>
            <a:pPr>
              <a:lnSpc>
                <a:spcPct val="104000"/>
              </a:lnSpc>
              <a:spcAft>
                <a:spcPts val="300"/>
              </a:spcAft>
              <a:defRPr sz="1500" b="1">
                <a:solidFill>
                  <a:srgbClr val="007F7A"/>
                </a:solidFill>
                <a:latin typeface="DejaVu Sans"/>
              </a:defRPr>
            </a:pPr>
            <a:r>
              <a:t>Trọng tâm đánh giá: chất lượng phát hiện, hiệu quả sử dụng nhãn và khả năng kiểm tra giải thích.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Dự án phát hiện Ransomware — Báo cáo 9 trang</dc:title>
  <dc:subject>Kết quả thực nghiệm và tiếp thu góp ý Seminar</dc:subject>
  <dc:creator>Lưu Văn Doanh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