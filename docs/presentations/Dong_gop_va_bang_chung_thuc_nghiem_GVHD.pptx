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Thưa thầy, nội dung và phạm vi luận văn đã được thống nhất. Hôm nay em trình bày ba điểm: giải pháp khác các hướng nghiên cứu kế thừa ở đâu; bằng chứng thực nghiệm hiện hỗ trợ được kết luận nào; và các góp ý Seminar đã được xử lý ở phần nào. Trong đợt đối soát này, em đã bổ sung pilot AL và kiểm tra SHAP chạy thật trên dữ liệu mẫu trong repository. Các kết quả này có phạm vi hạn chế và không được gộp với số cũ chưa truy nguyên được. Thời lượng 12–15 phút cho 12 slide chính; 5 slide cuối là phụ lục.</a:t>
            </a:r>
          </a:p>
          <a:p/>
          <a:p>
            <a:r>
              <a:t>Nguồn: luuvan.pdf; góp ý.txt; kết quả pilot kèm bộ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EMBER cung cấp biểu diễn PE và baseline học máy; luận văn mở rộng kiến trúc bằng phân tích động có điều kiện và một quy tắc dung hợp thích nghi. PID là kiến thức điều khiển kế thừa, không phải phát minh mới của luận văn; việc ánh xạ độ bất đồng giữa hai xác suất thành trọng số là lựa chọn cần kiểm chứng. Với AL, đóng góp nằm ở điểm truy vấn dùng tín hiệu SHAP, nên phải so với uncertainty cùng ngân sách nhãn. Với XAI, luận văn cụ thể hóa các phép kiểm tra định lượng, nhưng FF/EC/CF/OFS là các định nghĩa của luận văn, không phải nguyên bộ chuẩn của Yeh và cộng sự. Em không dùng điểm AUC của bài báo trên dữ liệu khác để tuyên bố vượt nghiên cứu trước.</a:t>
            </a:r>
          </a:p>
          <a:p/>
          <a:p>
            <a:r>
              <a:t>Nguồn: §2.4 tr.28–31; §3.2–3.4 tr.36–46; tài liệu tham khảo [2], [3], [14], [21], [27]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tách rõ luồng phát hiện trực tuyến với vòng cập nhật mô hình. Mẫu ngoài vùng bất định có thể được xử lý bằng mô hình tĩnh; mẫu trong vùng bất định được phân tích động rồi dung hợp. PID không quyết định trực tiếp việc kích hoạt sandbox. AL chạy theo vòng: oracle cung cấp nhãn, sau đó mô hình được học lại; AL không tự sinh ra nhãn đúng. Fidelity ở đây kiểm tra giải thích của mô hình tĩnh. Vì SHAP đang giải thích LightGBM, không nên gọi đó là giải thích đầy đủ toàn bộ quyết định PID.</a:t>
            </a:r>
          </a:p>
          <a:p/>
          <a:p>
            <a:r>
              <a:t>Nguồn: §3.1–3.4; đối chiếu sơ đồ slide Seminar cũ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Công thức trên là dạng rời rạc khái quát đang dùng trong nguyên mẫu, với bước thời gian đơn vị; cần khóa phiên bản có hay không có Δt, anti-windup và cách reset để khớp bản thảo. Vì trọng số nằm trong [0,1] và hai đầu vào là xác suất, đầu ra nằm trong [0,1] do tính chất tổ hợp lồi. Đây là điều chứng minh được về miền giá trị. Không thể từ đó suy ra giảm FPR: sai số e chỉ đo bất đồng, không phải sai số đối với nhãn đúng. I và D còn phụ thuộc thứ tự mẫu, nên phải định nghĩa chuỗi hoặc phiên hợp lý. Bảng 4.5 hiện chưa có log thực đủ để tái lập; log demo trong repo sinh điểm động và độ trễ bằng ngẫu nhiên. Em giữ đóng góp ở mức nguyên mẫu dung hợp cần đánh giá. Đối chứng tối thiểu là cùng các cặp điểm tĩnh–động, giữ cổng và ngưỡng chọn bằng validation, so Fixed, P, PI, PID; static-only và dynamic-only là mốc riêng. Không tuyên bố PID vượt phân tích động ở mọi tiêu chí.</a:t>
            </a:r>
          </a:p>
          <a:p/>
          <a:p>
            <a:r>
              <a:t>Nguồn: §3.2; src/pid_fusion.py; scripts/live_defense_demo.py; Danh_gia_bang_chung.md kèm bộ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Dữ liệu có 2.000 dòng, không thiếu giá trị và không có hai vector trùng hệt, nhưng không có hash tệp, thời gian hoặc họ mã độc. Vì vậy chưa xác minh được nguồn, quan hệ cùng họ, cũng như nhãn 1 có riêng ransomware hay malware nói chung. Em chỉ gọi đây là nhãn 0/1 của bộ dữ liệu mẫu. Việc huấn luyện mới tránh dùng mô hình có sẵn có thể từng thấy những mẫu này; tuy nhiên split ngẫu nhiên trong CSV không loại trừ sự gần trùng hoặc liên quan theo họ. Train/pool1200, validation400, test400 dùng chung cho mọi phương pháp. AL bắt đầu200 nhãn, năm vòng thêm100, tổng cuối700; năm seed thay đổi tập khởi tạo và ngẫu nhiên mô hình. Độ lệch chuẩn qua seed không phải khoảng tin cậy cho quần thể triển khai. Tập test có300 nhãn0, nên một FP tương ứng khoảng0,333 điểm phần trăm FPR.</a:t>
            </a:r>
          </a:p>
          <a:p/>
          <a:p>
            <a:r>
              <a:t>Nguồn: experiments/pilot_al/config.json, splits.json, metrics.csv; experiments/pilot_fidelity/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 đo bất định dự đoán. Với H, q cộng là tổng SHAP dương chia tổng độ lớn SHAP, q trừ là tổng độ lớn phần âm chia cùng mẫu số; mẫu có tổng bằng0 được gán H bằng0. H lớn biểu thị bằng chứng đối nghịch cùng mạnh, không phải xác suất mô hình sai. V là phương sai của SHAP có dấu trên các đặc trưng, trong đơn vị log-odds của mô hình LightGBM; nó không mặc nhiên là bất định nhận thức. Mỗi thành phần được chuẩn hóa min-max trên pool hiện tại, trường hợp hằng số gán0. Trọng số0,3/0,4/0,3 lấy từ cấu hình bản thảo, không tìm lại bằng test. Khi cắt bỏ H hoặc V, chuẩn hóa lại tổng trọng số của các thành phần còn lại về1. Native TreeSHAP dùng model hiện tại, không fallback mô phỏng. Oracle trong pilot tra nhãn có sẵn sau khi đã chọn mẫu; thời gian gán nhãn chuyên gia chưa được đo.</a:t>
            </a:r>
          </a:p>
          <a:p/>
          <a:p>
            <a:r>
              <a:t>Nguồn: §3.3 tr.39–43; Bảng4.10; experiments/pilot_al/run_pilot.py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ngân sách cuối700 nhãn, XAI đầy đủ đạt AUC0,9749±0,0040, Uncertainty0,9691±0,0046, Random0,9634±0,0063. Chênh lệch XAI trừ Uncertainty là0,005787±0,003904 qua năm seed ghép cặp; cả năm chênh lệch đều dương. Đây là một tín hiệu thực nghiệm thuận lợi, chưa phải khẳng định có ý nghĩa thống kê cho triển khai vì cùng một test và dữ liệu nguồn chưa xác minh. AP tương ứng XAI0,9442 và Uncertainty0,9363. Phần tô trên biểu đồ là±1 độ lệch chuẩn của seed, không phải khoảng tin cậy95%. Nhãn trên trục chỉ gồm200 nhãn huấn luyện ban đầu và nhãn truy vấn; không tính400 nhãn validation dùng chung. Không suy ra tiết kiệm90% nhãn hoặc phát hiện zero-day từ pilot này.</a:t>
            </a:r>
          </a:p>
          <a:p/>
          <a:p>
            <a:r>
              <a:t>Nguồn: experiments/pilot_al/summary.json; curves, paired_differences; source runner kèm ZIP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dùng cùng ngân sách700 nhãn và cùng các tập dữ liệu. H hoặc V riêng lẻ không tạo cải thiện AUC rõ so với U ở ngân sách cuối; tổ hợp đầy đủ đạt AUC trung bình cao nhất trong các cấu hình đã thử. Không gọi đây là bằng chứng tương tác nhân quả hay cấu hình tối ưu toàn cục. Về FPR, XAI trung bình17,53% và U19,87%, nhưng chênh lệch ghép cặp−2,33 điểm phần trăm có độ lệch chuẩn6,62 điểm phần trăm và chỉ giảm ở2/5 seed. TPR tương ứng95,4% và95,6%; đó không phải so sánh tại chính xác cùng TPR test. FPR17% cũng không phải mức phù hợp vận hành thực tế. Timing tính điểm trung bình cho pool600–1000 mẫu là31,65ms với XAI và2,71ms với U. Phần tính điểm bao gồm dự đoán, TreeSHAP, kiểm tra additivity và chuẩn hóa, chưa gồm sắp xếp chọn mẫu, lưu file, chuyên gia gán nhãn hay huấn luyện. TreeSHAP riêng khoảng18,82ms. Timing trên máy này mang tính mô tả, không phải độ trễ toàn hệ thống hoặc chi phí SOC. Không dùng tỷ lệ thời gian để suy ra hiệu năng ở pool lớn.</a:t>
            </a:r>
          </a:p>
          <a:p/>
          <a:p>
            <a:r>
              <a:t>Nguồn: experiments/pilot_al/metrics.csv, summary.json; README.md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Khác với các pixel, đặc trưng PE có nhóm histogram, thông tin tệp, header, section, imports/exports và data directories với kiểu dữ liệu và ràng buộc phụ thuộc khác nhau. Một vector bất kỳ sau che không nhất thiết tương ứng tệp PE hợp lệ. Pilot này dùng mean baseline từ train và che chiều riêng lẻ, đối chứng random cùng k; đó là phép kiểm tra ban đầu minh bạch, chưa phải toàn bộ chính sách masking theo nhóm được mô tả tại§3.4.4. Phép đo AUC drop là kiểm tra tác động, không đổi tên thành chỉ số FF đã chuẩn hóa. EC dùng Pearson giữa các phần tử tam giác trên hai ma trận cosine; đặc trưng fit mean/std trên train. CF đúng mẫu số max chuẩn SHAP từng mẫu trong công thức3.17. EC, CF có ý nghĩa riêng, chưa thể coi điểm cao là giải thích đúng. OFS chưa được dùng vì định nghĩa và miền giá trị thành phần chưa thống nhất với code.</a:t>
            </a:r>
          </a:p>
          <a:p/>
          <a:p>
            <a:r>
              <a:t>Nguồn: §3.4 tr.43–46, Phụ lụcA.4 tr.77–78; experiments/pilot_fidelity/README.md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Fidelity được huấn luyện riêng với100 cây trên toàn bộ1200 mẫu train, khác mô hình AL60 cây và700 nhãn. Vì vậy không lấy AUC hai thí nghiệm trừ nhau để đo đóng góp. Trước che AUC0,980167. Tại k25, che top-|SHAP| cho AUC0,818533, tức giảm0,161633; random20 lần cho trung bình0,979910, giảm0,000257. Hiệu ứng này cũng xuất hiện ởk10 và50. Đây là sanity check cho thứ hạng SHAP đối với mô hình hiện tại; random có thể chọn chiều mô hình không dùng, và cùng k không bảo đảm số chiều thật sự thay đổi hay mức perturbation giống nhau. EC0,304373 và CF0,587352 là các giá trị mô tả, chưa có baseline để phân loại tốt/xấu. Công thức FF chia cho xác suất gốc cho giá trị thô2,0045 tại k25, lớn hơn1; em không tự clip hay thay định nghĩa để tạo điểm đẹp. Chưa xuất OFS. Khoảng bootstrap trong báo cáo kèm theo chỉ có điều kiện trên một mô hình đã fit, không tính biến động huấn luyện.</a:t>
            </a:r>
          </a:p>
          <a:p/>
          <a:p>
            <a:r>
              <a:t>Nguồn: experiments/pilot_fidelity/README.md; summary.json; mask_metrics.csv; mask_predictions.csv</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trả lời từng góp ý bằng vị trí có thể kiểm tra. Về PID, bản thảo có phần cơ chế và giới hạn, nhưng chưa đánh dấu hoàn tất chứng minh hiệu quả. Về AL, đợt này đã bổ sung runner không fallback, năm chiến lược cùng ngân sách, năm seed, dự đoán và log truy vấn; đây là tiến bộ thực nghiệm cụ thể so với bảng thiếu dấu vết chạy. Về Fidelity, đã có random control và baseline train, đồng thời làm rõ vấn đề công thức FF/OFS và giới hạn masking vector. Về mức cải thiện nhỏ, em báo độ phân tán và FPR/TPR thực tế, không chỉ chọn AUC đẹp nhất. Phần tích hợp toàn hệ thống chưa chạy vì thiếu dữ liệu động thực ghép từng mẫu. Những nội dung đã có ở bản thảo chỉ được gọi là đã trình bày, không khẳng định chính tôi đã chỉnh sửa file PDF trong lần làm việc này.</a:t>
            </a:r>
          </a:p>
          <a:p/>
          <a:p>
            <a:r>
              <a:t>Nguồn: góp ý.txt; §3.2–3.4; kết quả pilot trong experiments/; đánh giá bằng chứng kèm ZIP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Báo cáo đã làm rõ điểm khác biệt của ba thành phần và bổ sung bằng chứng thật cho hai phần có thể chạy trên dữ liệu hiện tại. AL cho kết quả thuận lợi về AUC ở cùng ngân sách, nhưng chưa chứng minh ưu thế vận hành hoặc tiết kiệm nhãn. Fidelity cho thấy việc che các đặc trưng SHAP xếp quan trọng làm suy giảm chất lượng nhiều hơn random trong phép thử đã chọn. PID còn là giả thuyết kỹ thuật có nguyên mẫu; hiệu quả cần tín hiệu động thực và đối chứng ghép cặp. Việc cần làm tiếp được giới hạn: truy nguyên dữ liệu, hoàn tất gói PID cùng bảng2×2, rồi đồng bộ công thức–code–bảng. Không đưa số liệu đẹp nhưng chưa truy nguyên vào kết luận, và không tự kết luận toàn bộ luận văn đã đủ điều kiện bảo vệ chỉ dựa trên pilot.</a:t>
            </a:r>
          </a:p>
          <a:p/>
          <a:p>
            <a:r>
              <a:t>Nguồn: Danh_gia_bang_chung.md; Ket_qua_bo_sung.md;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này được giữ trong phụ lục để thầy thấy chính xác số nào đang có vấn đề, không dùng làm bằng chứng tăng chất lượng. Nếu phép đo được truy nguyên, PID so fixed-weight có ΔAUC0,0098 và FPR giảm0,3 điểm phần trăm. Nhưng trong hiện trạng chưa có log đủ để xác nhận đó là kết quả đo của cùng dữ liệu và giao thức. Static so toàn hệ thống còn thêm nguồn thông tin động, không cô lập đóng góp PID. Chính bảng cũ cũng cho dynamic AUC cao hơn và FPR thấp hơn PID, nên không thể nói PID tốt nhất mọi tiêu chí. Độ trễ fusion và độ trễ dynamic đo hai phần khác nhau; muốn nói về vận hành phải đo end-to-end, tỉ lệ kích hoạt dynamic, p50/p95 và timeout.</a:t>
            </a:r>
          </a:p>
          <a:p/>
          <a:p>
            <a:r>
              <a:t>Nguồn: Bảng4.5 tr.53; Danh_gia_bang_chung.md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có ý nghĩa thống kê hoặc vận hành chỉ vì AUC tăng từ0,97 lên0,98. Muốn diễn giải cần giao thức, nguồn mẫu, đối chứng và độ bất định. Ma trận FP135 xuống48 trên3000 âm cho FPR4,5% xuống1,6%; số0,8% phải được truy nguyên riêng. Bảng OFS không chỉ sai khác làm tròn: code tính trung bình cộng trọng số và định nghĩa EC/CF cũng khác PDF, nên sửa một ô không giải quyết được. Kiểm tra pretrained trên CSV ra AUC khoảng0,9979 nhưng không biết mẫu có từng nằm trong train, do đó không chọn con số đẹp hơn để thay. Pilot mới được trình bày như một thí nghiệm bổ sung với cấu hình và giới hạn riêng.</a:t>
            </a:r>
          </a:p>
          <a:p/>
          <a:p>
            <a:r>
              <a:t>Nguồn: Bảng4.6 tr.54;4.7–4.8 tr.55;4.9 tr.57; evidence_audit/model_check.json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cần mở rộng sang nhiều kiến trúc mới. Cần bảng điểm ghép cặp từ dữ liệu động đã quan sát thật của cùng các tệp; p_dynamic không được tạo từ p_static cộng nhiễu. Nguồn và ý nghĩa nhãn phải xác nhận trước. Dùng cùng tập train/validation/test cho cả bốn cấu hình, random cũng được bổ sung cùng số nhãn để tách tiêu chí chọn mẫu khỏi tác động có thêm nhãn. Cổng và ngưỡng chỉ chọn bằng validation. Để cô lập luật dung hợp, trước hết giữ cùng mô hình tĩnh và cặp điểm rồi so Fixed,P,PI,PID; khi đo cả vòng AL, tính lại p_static bằng đúng checkpoint và báo rõ tỉ lệ kích hoạt dynamic. Trạng thái PID phải theo chuỗi có ý nghĩa, khóa thứ tự và quy tắc reset; nếu mẫu độc lập, I/D có thể chỉ phản ánh thứ tự ngẫu nhiên. M là một metric đã chọn trước; dấu cải thiện phụ thuộc metric cao tốt hay thấp tốt. Hệ thống đầy đủ tốt nhất không tự chứng minh tương tác dương. Trên test nhỏ nên báo số đếm FP/FN và khoảng bất định; không cần phô trương mức cải thiện. Nếu chưa có log động thật, chưa thể hoàn tất phần này chỉ bằng checkout hiện có.</a:t>
            </a:r>
          </a:p>
          <a:p/>
          <a:p>
            <a:r>
              <a:t>Nguồn: Kế hoạch thực nghiệm và Danh_gia_bang_chung.md; chưa có kết quả cho bảng2×2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FF có thể vượt1 khi p gốc thấp mà p sau che tăng; ví dụ p0,01 và p_mask0,5 cho tỉ số xấp xỉ49. Mean absolute probability change nằm trong[0,1] và có thể báo riêng, nhưng đổi sang đó là thay định nghĩa, cần ghi rõ phiên bản và chạy lại toàn bộ bảng so sánh. EC là tương quan có thể âm; thêm epsilon không biến nó thành thành phần dương phù hợp harmonic mean. Với CF, chuẩn mỗi tâm không lớn hơn chuẩn mẫu lớn nhấtR, nên khoảng cách hai tâm có thể tới2R và tỉ số có thể tới2. CF cũng đo phân tách nhãn chứ không chứng minh quan hệ nhân quả của đặc trưng. Trung bình điều hòa có thể nhấn mạnh thành phần yếu khi cả ba cùng dương và thang đo đã hợp lý, nhưng công thức hiện chưa bảo đảm điều kiện đó. Cách sửa tiết kiệm công nhất là dùng bảng thành phần và đối chứng, để OFS ở phần thảo luận cho tới khi khóa và đánh giá độ nhạy định nghĩa; không gọi OFS là chuẩn đo chất lượng lời giải thích được cộng đồng công nhận.</a:t>
            </a:r>
          </a:p>
          <a:p/>
          <a:p>
            <a:r>
              <a:t>Nguồn: Công thức3.15–3.18 tr.44; pilot_fidelity/README.md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Bộ ZIP gồm slide chỉnh sửa được, PDF, lời dẫn, báo cáo đánh giá và mã chạy cùng các kết quả chính. Dữ liệu CSV được tham chiếu từ repository để không nhân bản dữ liệu vào mỗi bộ slide. Với AL có150 model/checkpoint,12500 truy vấn,120000 dự đoán gồm validation vàtest; file hash và hậu kiểm được lưu. Với Fidelity có mô hình riêng,3 giá trịk,20 lặp random mỗi k và đầu vào tái tính các độ đo. Tài liệu liên quan: Anderson và Roth, EMBER: An Open Dataset for Training Static PE Malware Machine Learning Models (2018); Åström và Hägglund, The Future of PID Control (2001); Lundberg và Lee, A Unified Approach to Interpreting Model Predictions (2017); Settles, Active Learning Literature Survey (2009); Yeh và cộng sự, On the (In)fidelity and Sensitivity of Explanations (2019). Các tài liệu được dùng để phân định nền tảng và phần thích nghi, không làm bằng chứng vượt AUC của nghiên cứu trước.</a:t>
            </a:r>
          </a:p>
          <a:p/>
          <a:p>
            <a:r>
              <a:t>Nguồn: README.md và experiments/ trong ZIP; luuvan.pdf tài liệu tham khảo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Rectangle 1"/>
          <p:cNvSpPr/>
          <p:nvPr/>
        </p:nvSpPr>
        <p:spPr>
          <a:xfrm>
            <a:off x="566928" y="530352"/>
            <a:ext cx="73152" cy="5440680"/>
          </a:xfrm>
          <a:prstGeom prst="rect">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585216"/>
            <a:ext cx="10607040" cy="365760"/>
          </a:xfrm>
          <a:prstGeom prst="rect">
            <a:avLst/>
          </a:prstGeom>
          <a:noFill/>
        </p:spPr>
        <p:txBody>
          <a:bodyPr wrap="square" lIns="9144" rIns="9144" tIns="9144" bIns="9144">
            <a:spAutoFit/>
          </a:bodyPr>
          <a:lstStyle/>
          <a:p>
            <a:pPr>
              <a:lnSpc>
                <a:spcPct val="104000"/>
              </a:lnSpc>
              <a:spcAft>
                <a:spcPts val="300"/>
              </a:spcAft>
              <a:defRPr sz="1300" b="1">
                <a:solidFill>
                  <a:srgbClr val="9FD4CF"/>
                </a:solidFill>
                <a:latin typeface="DejaVu Sans"/>
              </a:defRPr>
            </a:pPr>
            <a:r>
              <a:t>TRƯỜNG ĐẠI HỌC CÔNG NGHỆ — ĐHQGHN</a:t>
            </a:r>
          </a:p>
        </p:txBody>
      </p:sp>
      <p:sp>
        <p:nvSpPr>
          <p:cNvPr id="4" name="TextBox 3"/>
          <p:cNvSpPr txBox="1"/>
          <p:nvPr/>
        </p:nvSpPr>
        <p:spPr>
          <a:xfrm>
            <a:off x="859536" y="1243584"/>
            <a:ext cx="10515600" cy="1417320"/>
          </a:xfrm>
          <a:prstGeom prst="rect">
            <a:avLst/>
          </a:prstGeom>
          <a:noFill/>
        </p:spPr>
        <p:txBody>
          <a:bodyPr wrap="square" lIns="9144" rIns="9144" tIns="9144" bIns="9144">
            <a:spAutoFit/>
          </a:bodyPr>
          <a:lstStyle/>
          <a:p>
            <a:pPr>
              <a:lnSpc>
                <a:spcPct val="104000"/>
              </a:lnSpc>
              <a:spcAft>
                <a:spcPts val="300"/>
              </a:spcAft>
              <a:defRPr sz="3400" b="1">
                <a:solidFill>
                  <a:srgbClr val="FFFFFF"/>
                </a:solidFill>
                <a:latin typeface="DejaVu Sans"/>
              </a:defRPr>
            </a:pPr>
            <a:r>
              <a:t>Ba đóng góp của luận văn</a:t>
            </a:r>
          </a:p>
          <a:p>
            <a:pPr>
              <a:lnSpc>
                <a:spcPct val="104000"/>
              </a:lnSpc>
              <a:spcAft>
                <a:spcPts val="300"/>
              </a:spcAft>
              <a:defRPr sz="3400" b="1">
                <a:solidFill>
                  <a:srgbClr val="FFFFFF"/>
                </a:solidFill>
                <a:latin typeface="DejaVu Sans"/>
              </a:defRPr>
            </a:pPr>
            <a:r>
              <a:t>và bằng chứng thực nghiệm</a:t>
            </a:r>
          </a:p>
        </p:txBody>
      </p:sp>
      <p:sp>
        <p:nvSpPr>
          <p:cNvPr id="5" name="TextBox 4"/>
          <p:cNvSpPr txBox="1"/>
          <p:nvPr/>
        </p:nvSpPr>
        <p:spPr>
          <a:xfrm>
            <a:off x="877824" y="2916936"/>
            <a:ext cx="10469880" cy="548640"/>
          </a:xfrm>
          <a:prstGeom prst="rect">
            <a:avLst/>
          </a:prstGeom>
          <a:noFill/>
        </p:spPr>
        <p:txBody>
          <a:bodyPr wrap="square" lIns="9144" rIns="9144" tIns="9144" bIns="9144">
            <a:spAutoFit/>
          </a:bodyPr>
          <a:lstStyle/>
          <a:p>
            <a:pPr>
              <a:lnSpc>
                <a:spcPct val="104000"/>
              </a:lnSpc>
              <a:spcAft>
                <a:spcPts val="300"/>
              </a:spcAft>
              <a:defRPr sz="2200" b="0">
                <a:solidFill>
                  <a:srgbClr val="9FD4CF"/>
                </a:solidFill>
                <a:latin typeface="DejaVu Sans"/>
              </a:defRPr>
            </a:pPr>
            <a:r>
              <a:t>Điểm khác biệt • Kết quả đo • Tiếp thu góp ý Seminar</a:t>
            </a:r>
          </a:p>
        </p:txBody>
      </p:sp>
      <p:sp>
        <p:nvSpPr>
          <p:cNvPr id="6" name="TextBox 5"/>
          <p:cNvSpPr txBox="1"/>
          <p:nvPr/>
        </p:nvSpPr>
        <p:spPr>
          <a:xfrm>
            <a:off x="877824" y="3822191"/>
            <a:ext cx="10424160" cy="950976"/>
          </a:xfrm>
          <a:prstGeom prst="rect">
            <a:avLst/>
          </a:prstGeom>
          <a:noFill/>
        </p:spPr>
        <p:txBody>
          <a:bodyPr wrap="square" lIns="9144" rIns="9144" tIns="9144" bIns="9144">
            <a:spAutoFit/>
          </a:bodyPr>
          <a:lstStyle/>
          <a:p>
            <a:pPr>
              <a:lnSpc>
                <a:spcPct val="104000"/>
              </a:lnSpc>
              <a:spcAft>
                <a:spcPts val="300"/>
              </a:spcAft>
              <a:defRPr sz="2000" b="0">
                <a:solidFill>
                  <a:srgbClr val="FFFFFF"/>
                </a:solidFill>
                <a:latin typeface="DejaVu Sans"/>
              </a:defRPr>
            </a:pPr>
            <a:r>
              <a:t>Hệ thống phát hiện Ransomware dựa trên Phân tích đa tầng,</a:t>
            </a:r>
          </a:p>
          <a:p>
            <a:pPr>
              <a:lnSpc>
                <a:spcPct val="104000"/>
              </a:lnSpc>
              <a:spcAft>
                <a:spcPts val="300"/>
              </a:spcAft>
              <a:defRPr sz="2000" b="0">
                <a:solidFill>
                  <a:srgbClr val="FFFFFF"/>
                </a:solidFill>
                <a:latin typeface="DejaVu Sans"/>
              </a:defRPr>
            </a:pPr>
            <a:r>
              <a:t>tích hợp Học tích cực &amp; Kiểm chứng độ trung thực XAI</a:t>
            </a:r>
          </a:p>
        </p:txBody>
      </p:sp>
      <p:cxnSp>
        <p:nvCxnSpPr>
          <p:cNvPr id="7" name="Connector 6"/>
          <p:cNvCxnSpPr/>
          <p:nvPr/>
        </p:nvCxnSpPr>
        <p:spPr>
          <a:xfrm>
            <a:off x="877824" y="5084064"/>
            <a:ext cx="10140696" cy="0"/>
          </a:xfrm>
          <a:prstGeom prst="line">
            <a:avLst/>
          </a:prstGeom>
          <a:ln w="12700">
            <a:solidFill>
              <a:srgbClr val="36506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77824" y="5422392"/>
            <a:ext cx="10332720" cy="457200"/>
          </a:xfrm>
          <a:prstGeom prst="rect">
            <a:avLst/>
          </a:prstGeom>
          <a:noFill/>
        </p:spPr>
        <p:txBody>
          <a:bodyPr wrap="square" lIns="9144" rIns="9144" tIns="9144" bIns="9144">
            <a:spAutoFit/>
          </a:bodyPr>
          <a:lstStyle/>
          <a:p>
            <a:pPr>
              <a:lnSpc>
                <a:spcPct val="104000"/>
              </a:lnSpc>
              <a:spcAft>
                <a:spcPts val="300"/>
              </a:spcAft>
              <a:defRPr sz="1800" b="1">
                <a:solidFill>
                  <a:srgbClr val="FFFFFF"/>
                </a:solidFill>
                <a:latin typeface="DejaVu Sans"/>
              </a:defRPr>
            </a:pPr>
            <a:r>
              <a:t>Lưu Văn Doanh  |  GVHD: PGS.TS. Trương Ninh Thuận</a:t>
            </a:r>
          </a:p>
        </p:txBody>
      </p:sp>
      <p:sp>
        <p:nvSpPr>
          <p:cNvPr id="9" name="TextBox 8"/>
          <p:cNvSpPr txBox="1"/>
          <p:nvPr/>
        </p:nvSpPr>
        <p:spPr>
          <a:xfrm>
            <a:off x="877824" y="6007608"/>
            <a:ext cx="10332720" cy="347472"/>
          </a:xfrm>
          <a:prstGeom prst="rect">
            <a:avLst/>
          </a:prstGeom>
          <a:noFill/>
        </p:spPr>
        <p:txBody>
          <a:bodyPr wrap="square" lIns="9144" rIns="9144" tIns="9144" bIns="9144">
            <a:spAutoFit/>
          </a:bodyPr>
          <a:lstStyle/>
          <a:p>
            <a:pPr>
              <a:lnSpc>
                <a:spcPct val="104000"/>
              </a:lnSpc>
              <a:spcAft>
                <a:spcPts val="300"/>
              </a:spcAft>
              <a:defRPr sz="1400" b="0">
                <a:solidFill>
                  <a:srgbClr val="C8D8E5"/>
                </a:solidFill>
                <a:latin typeface="DejaVu Sans"/>
              </a:defRPr>
            </a:pPr>
            <a:r>
              <a:t>Báo cáo kết quả và phạm vi kiểm chứng sau Seminar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0789920" cy="274320"/>
          </a:xfrm>
          <a:prstGeom prst="rect">
            <a:avLst/>
          </a:prstGeom>
          <a:noFill/>
        </p:spPr>
        <p:txBody>
          <a:bodyPr wrap="square" lIns="9144" rIns="9144" tIns="9144" bIns="9144">
            <a:spAutoFit/>
          </a:bodyPr>
          <a:lstStyle/>
          <a:p>
            <a:pPr>
              <a:lnSpc>
                <a:spcPct val="104000"/>
              </a:lnSpc>
              <a:spcAft>
                <a:spcPts val="300"/>
              </a:spcAft>
              <a:defRPr sz="1100" b="1">
                <a:solidFill>
                  <a:srgbClr val="007F7A"/>
                </a:solidFill>
                <a:latin typeface="DejaVu Sans"/>
              </a:defRPr>
            </a:pPr>
            <a:r>
              <a:t>01 / ĐIỂM KHÁC BIỆT</a:t>
            </a:r>
          </a:p>
        </p:txBody>
      </p:sp>
      <p:sp>
        <p:nvSpPr>
          <p:cNvPr id="4" name="TextBox 3"/>
          <p:cNvSpPr txBox="1"/>
          <p:nvPr/>
        </p:nvSpPr>
        <p:spPr>
          <a:xfrm>
            <a:off x="502920" y="722376"/>
            <a:ext cx="11155680" cy="694944"/>
          </a:xfrm>
          <a:prstGeom prst="rect">
            <a:avLst/>
          </a:prstGeom>
          <a:noFill/>
        </p:spPr>
        <p:txBody>
          <a:bodyPr wrap="square" lIns="9144" rIns="9144" tIns="9144" bIns="9144">
            <a:spAutoFit/>
          </a:bodyPr>
          <a:lstStyle/>
          <a:p>
            <a:pPr>
              <a:lnSpc>
                <a:spcPct val="104000"/>
              </a:lnSpc>
              <a:spcAft>
                <a:spcPts val="300"/>
              </a:spcAft>
              <a:defRPr sz="2900" b="1">
                <a:solidFill>
                  <a:srgbClr val="17324D"/>
                </a:solidFill>
                <a:latin typeface="DejaVu Sans"/>
              </a:defRPr>
            </a:pPr>
            <a:r>
              <a:t>Kế thừa nền tảng; bổ sung ba cơ chế cụ thể</a:t>
            </a:r>
          </a:p>
        </p:txBody>
      </p:sp>
      <p:sp>
        <p:nvSpPr>
          <p:cNvPr id="5" name="TextBox 4"/>
          <p:cNvSpPr txBox="1"/>
          <p:nvPr/>
        </p:nvSpPr>
        <p:spPr>
          <a:xfrm>
            <a:off x="502920" y="1490472"/>
            <a:ext cx="11064240" cy="502920"/>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So sánh về phương pháp; không xếp hạng AUC giữa các nghiên cứu dùng dữ liệu khác nhau.</a:t>
            </a:r>
          </a:p>
        </p:txBody>
      </p:sp>
      <p:cxnSp>
        <p:nvCxnSpPr>
          <p:cNvPr id="6" name="Connector 5"/>
          <p:cNvCxnSpPr/>
          <p:nvPr/>
        </p:nvCxnSpPr>
        <p:spPr>
          <a:xfrm>
            <a:off x="502920" y="6382512"/>
            <a:ext cx="11183112" cy="0"/>
          </a:xfrm>
          <a:prstGeom prst="line">
            <a:avLst/>
          </a:prstGeom>
          <a:ln w="12700">
            <a:solidFill>
              <a:srgbClr val="DCE5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744200" cy="210312"/>
          </a:xfrm>
          <a:prstGeom prst="rect">
            <a:avLst/>
          </a:prstGeom>
          <a:noFill/>
        </p:spPr>
        <p:txBody>
          <a:bodyPr wrap="square" lIns="9144" rIns="9144" tIns="9144" bIns="9144">
            <a:spAutoFit/>
          </a:bodyPr>
          <a:lstStyle/>
          <a:p>
            <a:pPr>
              <a:lnSpc>
                <a:spcPct val="104000"/>
              </a:lnSpc>
              <a:spcAft>
                <a:spcPts val="300"/>
              </a:spcAft>
              <a:defRPr sz="900" b="0">
                <a:solidFill>
                  <a:srgbClr val="526779"/>
                </a:solidFill>
                <a:latin typeface="DejaVu Sans"/>
              </a:defRPr>
            </a:pPr>
            <a:r>
              <a:t>Nguồn: luuvan.pdf §2.4, §3.2–3.4; [2], [3], [14], [21], [27] trong tài liệu tham khảo.</a:t>
            </a:r>
          </a:p>
        </p:txBody>
      </p:sp>
      <p:sp>
        <p:nvSpPr>
          <p:cNvPr id="8" name="TextBox 7"/>
          <p:cNvSpPr txBox="1"/>
          <p:nvPr/>
        </p:nvSpPr>
        <p:spPr>
          <a:xfrm>
            <a:off x="11000232" y="6455664"/>
            <a:ext cx="685800" cy="228600"/>
          </a:xfrm>
          <a:prstGeom prst="rect">
            <a:avLst/>
          </a:prstGeom>
          <a:noFill/>
        </p:spPr>
        <p:txBody>
          <a:bodyPr wrap="square" lIns="9144" rIns="9144" tIns="9144" bIns="9144">
            <a:spAutoFit/>
          </a:bodyPr>
          <a:lstStyle/>
          <a:p>
            <a:pPr>
              <a:lnSpc>
                <a:spcPct val="104000"/>
              </a:lnSpc>
              <a:spcAft>
                <a:spcPts val="300"/>
              </a:spcAft>
              <a:defRPr sz="1000" b="1">
                <a:solidFill>
                  <a:srgbClr val="007F7A"/>
                </a:solidFill>
                <a:latin typeface="DejaVu Sans"/>
              </a:defRPr>
            </a:pPr>
            <a:r>
              <a:t>02 / 17</a:t>
            </a:r>
          </a:p>
        </p:txBody>
      </p:sp>
      <p:sp>
        <p:nvSpPr>
          <p:cNvPr id="9" name="Rectangle 8"/>
          <p:cNvSpPr/>
          <p:nvPr/>
        </p:nvSpPr>
        <p:spPr>
          <a:xfrm>
            <a:off x="502920" y="2139696"/>
            <a:ext cx="11183112" cy="43891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240279"/>
            <a:ext cx="2569463" cy="301751"/>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NỀN TẢNG KẾ THỪA</a:t>
            </a:r>
          </a:p>
        </p:txBody>
      </p:sp>
      <p:sp>
        <p:nvSpPr>
          <p:cNvPr id="11" name="TextBox 10"/>
          <p:cNvSpPr txBox="1"/>
          <p:nvPr/>
        </p:nvSpPr>
        <p:spPr>
          <a:xfrm>
            <a:off x="3401568" y="2240279"/>
            <a:ext cx="5248656" cy="301751"/>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PHẦN LUẬN VĂN BỔ SUNG</a:t>
            </a:r>
          </a:p>
        </p:txBody>
      </p:sp>
      <p:sp>
        <p:nvSpPr>
          <p:cNvPr id="12" name="TextBox 11"/>
          <p:cNvSpPr txBox="1"/>
          <p:nvPr/>
        </p:nvSpPr>
        <p:spPr>
          <a:xfrm>
            <a:off x="8869680" y="2240279"/>
            <a:ext cx="2706624" cy="301751"/>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BẰNG CHỨNG CẦN ĐO</a:t>
            </a:r>
          </a:p>
        </p:txBody>
      </p:sp>
      <p:sp>
        <p:nvSpPr>
          <p:cNvPr id="13" name="Rectangle 12"/>
          <p:cNvSpPr/>
          <p:nvPr/>
        </p:nvSpPr>
        <p:spPr>
          <a:xfrm>
            <a:off x="502920" y="2578608"/>
            <a:ext cx="11183112" cy="9875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706624"/>
            <a:ext cx="2569463" cy="804672"/>
          </a:xfrm>
          <a:prstGeom prst="rect">
            <a:avLst/>
          </a:prstGeom>
          <a:noFill/>
        </p:spPr>
        <p:txBody>
          <a:bodyPr wrap="square" lIns="9144" rIns="9144" tIns="9144" bIns="9144">
            <a:spAutoFit/>
          </a:bodyPr>
          <a:lstStyle/>
          <a:p>
            <a:pPr>
              <a:lnSpc>
                <a:spcPct val="104000"/>
              </a:lnSpc>
              <a:spcAft>
                <a:spcPts val="300"/>
              </a:spcAft>
              <a:defRPr sz="1500" b="1">
                <a:solidFill>
                  <a:srgbClr val="17324D"/>
                </a:solidFill>
                <a:latin typeface="DejaVu Sans"/>
              </a:defRPr>
            </a:pPr>
            <a:r>
              <a:t>EMBER / LightGBM</a:t>
            </a:r>
          </a:p>
          <a:p>
            <a:pPr>
              <a:lnSpc>
                <a:spcPct val="104000"/>
              </a:lnSpc>
              <a:spcAft>
                <a:spcPts val="300"/>
              </a:spcAft>
              <a:defRPr sz="1500" b="1">
                <a:solidFill>
                  <a:srgbClr val="17324D"/>
                </a:solidFill>
                <a:latin typeface="DejaVu Sans"/>
              </a:defRPr>
            </a:pPr>
            <a:r>
              <a:t>Anderson &amp; Roth, 2018</a:t>
            </a:r>
          </a:p>
        </p:txBody>
      </p:sp>
      <p:sp>
        <p:nvSpPr>
          <p:cNvPr id="15" name="TextBox 14"/>
          <p:cNvSpPr txBox="1"/>
          <p:nvPr/>
        </p:nvSpPr>
        <p:spPr>
          <a:xfrm>
            <a:off x="3401568" y="2706624"/>
            <a:ext cx="5248656" cy="804672"/>
          </a:xfrm>
          <a:prstGeom prst="rect">
            <a:avLst/>
          </a:prstGeom>
          <a:noFill/>
        </p:spPr>
        <p:txBody>
          <a:bodyPr wrap="square" lIns="9144" rIns="9144" tIns="9144" bIns="9144">
            <a:spAutoFit/>
          </a:bodyPr>
          <a:lstStyle/>
          <a:p>
            <a:pPr>
              <a:lnSpc>
                <a:spcPct val="104000"/>
              </a:lnSpc>
              <a:spcAft>
                <a:spcPts val="300"/>
              </a:spcAft>
              <a:defRPr sz="1700" b="0">
                <a:solidFill>
                  <a:srgbClr val="17324D"/>
                </a:solidFill>
                <a:latin typeface="DejaVu Sans"/>
              </a:defRPr>
            </a:pPr>
            <a:r>
              <a:t>Dung hợp điểm tĩnh–động bằng trọng số</a:t>
            </a:r>
          </a:p>
          <a:p>
            <a:pPr>
              <a:lnSpc>
                <a:spcPct val="104000"/>
              </a:lnSpc>
              <a:spcAft>
                <a:spcPts val="300"/>
              </a:spcAft>
              <a:defRPr sz="1700" b="0">
                <a:solidFill>
                  <a:srgbClr val="17324D"/>
                </a:solidFill>
                <a:latin typeface="DejaVu Sans"/>
              </a:defRPr>
            </a:pPr>
            <a:r>
              <a:t>có trạng thái, lấy cảm hứng từ PID.</a:t>
            </a:r>
          </a:p>
        </p:txBody>
      </p:sp>
      <p:sp>
        <p:nvSpPr>
          <p:cNvPr id="16" name="TextBox 15"/>
          <p:cNvSpPr txBox="1"/>
          <p:nvPr/>
        </p:nvSpPr>
        <p:spPr>
          <a:xfrm>
            <a:off x="8869680" y="2706624"/>
            <a:ext cx="2706624" cy="804672"/>
          </a:xfrm>
          <a:prstGeom prst="rect">
            <a:avLst/>
          </a:prstGeom>
          <a:noFill/>
        </p:spPr>
        <p:txBody>
          <a:bodyPr wrap="square" lIns="9144" rIns="9144" tIns="9144" bIns="9144">
            <a:spAutoFit/>
          </a:bodyPr>
          <a:lstStyle/>
          <a:p>
            <a:pPr>
              <a:lnSpc>
                <a:spcPct val="104000"/>
              </a:lnSpc>
              <a:spcAft>
                <a:spcPts val="300"/>
              </a:spcAft>
              <a:defRPr sz="1700" b="0">
                <a:solidFill>
                  <a:srgbClr val="526779"/>
                </a:solidFill>
                <a:latin typeface="DejaVu Sans"/>
              </a:defRPr>
            </a:pPr>
            <a:r>
              <a:t>Cùng hai tín hiệu:</a:t>
            </a:r>
          </a:p>
          <a:p>
            <a:pPr>
              <a:lnSpc>
                <a:spcPct val="104000"/>
              </a:lnSpc>
              <a:spcAft>
                <a:spcPts val="300"/>
              </a:spcAft>
              <a:defRPr sz="1700" b="0">
                <a:solidFill>
                  <a:srgbClr val="526779"/>
                </a:solidFill>
                <a:latin typeface="DejaVu Sans"/>
              </a:defRPr>
            </a:pPr>
            <a:r>
              <a:t>Fixed / P / PI / PID</a:t>
            </a:r>
          </a:p>
        </p:txBody>
      </p:sp>
      <p:sp>
        <p:nvSpPr>
          <p:cNvPr id="17" name="Rectangle 16"/>
          <p:cNvSpPr/>
          <p:nvPr/>
        </p:nvSpPr>
        <p:spPr>
          <a:xfrm>
            <a:off x="502920" y="3566160"/>
            <a:ext cx="11183112" cy="987552"/>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694176"/>
            <a:ext cx="2569463" cy="804672"/>
          </a:xfrm>
          <a:prstGeom prst="rect">
            <a:avLst/>
          </a:prstGeom>
          <a:noFill/>
        </p:spPr>
        <p:txBody>
          <a:bodyPr wrap="square" lIns="9144" rIns="9144" tIns="9144" bIns="9144">
            <a:spAutoFit/>
          </a:bodyPr>
          <a:lstStyle/>
          <a:p>
            <a:pPr>
              <a:lnSpc>
                <a:spcPct val="104000"/>
              </a:lnSpc>
              <a:spcAft>
                <a:spcPts val="300"/>
              </a:spcAft>
              <a:defRPr sz="1500" b="1">
                <a:solidFill>
                  <a:srgbClr val="17324D"/>
                </a:solidFill>
                <a:latin typeface="DejaVu Sans"/>
              </a:defRPr>
            </a:pPr>
            <a:r>
              <a:t>AL + SHAP</a:t>
            </a:r>
          </a:p>
          <a:p>
            <a:pPr>
              <a:lnSpc>
                <a:spcPct val="104000"/>
              </a:lnSpc>
              <a:spcAft>
                <a:spcPts val="300"/>
              </a:spcAft>
              <a:defRPr sz="1500" b="1">
                <a:solidFill>
                  <a:srgbClr val="17324D"/>
                </a:solidFill>
                <a:latin typeface="DejaVu Sans"/>
              </a:defRPr>
            </a:pPr>
            <a:r>
              <a:t>Settles, 2009; Lundberg &amp; Lee, 2017</a:t>
            </a:r>
          </a:p>
        </p:txBody>
      </p:sp>
      <p:sp>
        <p:nvSpPr>
          <p:cNvPr id="19" name="TextBox 18"/>
          <p:cNvSpPr txBox="1"/>
          <p:nvPr/>
        </p:nvSpPr>
        <p:spPr>
          <a:xfrm>
            <a:off x="3401568" y="3694176"/>
            <a:ext cx="5248656" cy="804672"/>
          </a:xfrm>
          <a:prstGeom prst="rect">
            <a:avLst/>
          </a:prstGeom>
          <a:noFill/>
        </p:spPr>
        <p:txBody>
          <a:bodyPr wrap="square" lIns="9144" rIns="9144" tIns="9144" bIns="9144">
            <a:spAutoFit/>
          </a:bodyPr>
          <a:lstStyle/>
          <a:p>
            <a:pPr>
              <a:lnSpc>
                <a:spcPct val="104000"/>
              </a:lnSpc>
              <a:spcAft>
                <a:spcPts val="300"/>
              </a:spcAft>
              <a:defRPr sz="1700" b="0">
                <a:solidFill>
                  <a:srgbClr val="17324D"/>
                </a:solidFill>
                <a:latin typeface="DejaVu Sans"/>
              </a:defRPr>
            </a:pPr>
            <a:r>
              <a:t>Chọn mẫu bằng bất định dự đoán,</a:t>
            </a:r>
          </a:p>
          <a:p>
            <a:pPr>
              <a:lnSpc>
                <a:spcPct val="104000"/>
              </a:lnSpc>
              <a:spcAft>
                <a:spcPts val="300"/>
              </a:spcAft>
              <a:defRPr sz="1700" b="0">
                <a:solidFill>
                  <a:srgbClr val="17324D"/>
                </a:solidFill>
                <a:latin typeface="DejaVu Sans"/>
              </a:defRPr>
            </a:pPr>
            <a:r>
              <a:t>xung đột hướng và phương sai SHAP.</a:t>
            </a:r>
          </a:p>
        </p:txBody>
      </p:sp>
      <p:sp>
        <p:nvSpPr>
          <p:cNvPr id="20" name="TextBox 19"/>
          <p:cNvSpPr txBox="1"/>
          <p:nvPr/>
        </p:nvSpPr>
        <p:spPr>
          <a:xfrm>
            <a:off x="8869680" y="3694176"/>
            <a:ext cx="2706624" cy="804672"/>
          </a:xfrm>
          <a:prstGeom prst="rect">
            <a:avLst/>
          </a:prstGeom>
          <a:noFill/>
        </p:spPr>
        <p:txBody>
          <a:bodyPr wrap="square" lIns="9144" rIns="9144" tIns="9144" bIns="9144">
            <a:spAutoFit/>
          </a:bodyPr>
          <a:lstStyle/>
          <a:p>
            <a:pPr>
              <a:lnSpc>
                <a:spcPct val="104000"/>
              </a:lnSpc>
              <a:spcAft>
                <a:spcPts val="300"/>
              </a:spcAft>
              <a:defRPr sz="1700" b="0">
                <a:solidFill>
                  <a:srgbClr val="526779"/>
                </a:solidFill>
                <a:latin typeface="DejaVu Sans"/>
              </a:defRPr>
            </a:pPr>
            <a:r>
              <a:t>Cùng số nhãn:</a:t>
            </a:r>
          </a:p>
          <a:p>
            <a:pPr>
              <a:lnSpc>
                <a:spcPct val="104000"/>
              </a:lnSpc>
              <a:spcAft>
                <a:spcPts val="300"/>
              </a:spcAft>
              <a:defRPr sz="1700" b="0">
                <a:solidFill>
                  <a:srgbClr val="526779"/>
                </a:solidFill>
                <a:latin typeface="DejaVu Sans"/>
              </a:defRPr>
            </a:pPr>
            <a:r>
              <a:t>Random / U / XAI</a:t>
            </a:r>
          </a:p>
        </p:txBody>
      </p:sp>
      <p:sp>
        <p:nvSpPr>
          <p:cNvPr id="21" name="Rectangle 20"/>
          <p:cNvSpPr/>
          <p:nvPr/>
        </p:nvSpPr>
        <p:spPr>
          <a:xfrm>
            <a:off x="502920" y="4553712"/>
            <a:ext cx="11183112" cy="9875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 y="4681728"/>
            <a:ext cx="2569463" cy="804672"/>
          </a:xfrm>
          <a:prstGeom prst="rect">
            <a:avLst/>
          </a:prstGeom>
          <a:noFill/>
        </p:spPr>
        <p:txBody>
          <a:bodyPr wrap="square" lIns="9144" rIns="9144" tIns="9144" bIns="9144">
            <a:spAutoFit/>
          </a:bodyPr>
          <a:lstStyle/>
          <a:p>
            <a:pPr>
              <a:lnSpc>
                <a:spcPct val="104000"/>
              </a:lnSpc>
              <a:spcAft>
                <a:spcPts val="300"/>
              </a:spcAft>
              <a:defRPr sz="1700" b="1">
                <a:solidFill>
                  <a:srgbClr val="17324D"/>
                </a:solidFill>
                <a:latin typeface="DejaVu Sans"/>
              </a:defRPr>
            </a:pPr>
            <a:r>
              <a:t>Đánh giá giải thích</a:t>
            </a:r>
          </a:p>
          <a:p>
            <a:pPr>
              <a:lnSpc>
                <a:spcPct val="104000"/>
              </a:lnSpc>
              <a:spcAft>
                <a:spcPts val="300"/>
              </a:spcAft>
              <a:defRPr sz="1700" b="1">
                <a:solidFill>
                  <a:srgbClr val="17324D"/>
                </a:solidFill>
                <a:latin typeface="DejaVu Sans"/>
              </a:defRPr>
            </a:pPr>
            <a:r>
              <a:t>Yeh và cs., 2019</a:t>
            </a:r>
          </a:p>
        </p:txBody>
      </p:sp>
      <p:sp>
        <p:nvSpPr>
          <p:cNvPr id="23" name="TextBox 22"/>
          <p:cNvSpPr txBox="1"/>
          <p:nvPr/>
        </p:nvSpPr>
        <p:spPr>
          <a:xfrm>
            <a:off x="3401568" y="4681728"/>
            <a:ext cx="5248656" cy="804672"/>
          </a:xfrm>
          <a:prstGeom prst="rect">
            <a:avLst/>
          </a:prstGeom>
          <a:noFill/>
        </p:spPr>
        <p:txBody>
          <a:bodyPr wrap="square" lIns="9144" rIns="9144" tIns="9144" bIns="9144">
            <a:spAutoFit/>
          </a:bodyPr>
          <a:lstStyle/>
          <a:p>
            <a:pPr>
              <a:lnSpc>
                <a:spcPct val="104000"/>
              </a:lnSpc>
              <a:spcAft>
                <a:spcPts val="300"/>
              </a:spcAft>
              <a:defRPr sz="1700" b="0">
                <a:solidFill>
                  <a:srgbClr val="17324D"/>
                </a:solidFill>
                <a:latin typeface="DejaVu Sans"/>
              </a:defRPr>
            </a:pPr>
            <a:r>
              <a:t>Cụ thể hóa kiểm tra tác động, tương đồng</a:t>
            </a:r>
          </a:p>
          <a:p>
            <a:pPr>
              <a:lnSpc>
                <a:spcPct val="104000"/>
              </a:lnSpc>
              <a:spcAft>
                <a:spcPts val="300"/>
              </a:spcAft>
              <a:defRPr sz="1700" b="0">
                <a:solidFill>
                  <a:srgbClr val="17324D"/>
                </a:solidFill>
                <a:latin typeface="DejaVu Sans"/>
              </a:defRPr>
            </a:pPr>
            <a:r>
              <a:t>và phân tách giải thích cho vector PE.</a:t>
            </a:r>
          </a:p>
        </p:txBody>
      </p:sp>
      <p:sp>
        <p:nvSpPr>
          <p:cNvPr id="24" name="TextBox 23"/>
          <p:cNvSpPr txBox="1"/>
          <p:nvPr/>
        </p:nvSpPr>
        <p:spPr>
          <a:xfrm>
            <a:off x="8869680" y="4681728"/>
            <a:ext cx="2706624" cy="804672"/>
          </a:xfrm>
          <a:prstGeom prst="rect">
            <a:avLst/>
          </a:prstGeom>
          <a:noFill/>
        </p:spPr>
        <p:txBody>
          <a:bodyPr wrap="square" lIns="9144" rIns="9144" tIns="9144" bIns="9144">
            <a:spAutoFit/>
          </a:bodyPr>
          <a:lstStyle/>
          <a:p>
            <a:pPr>
              <a:lnSpc>
                <a:spcPct val="104000"/>
              </a:lnSpc>
              <a:spcAft>
                <a:spcPts val="300"/>
              </a:spcAft>
              <a:defRPr sz="1650" b="0">
                <a:solidFill>
                  <a:srgbClr val="526779"/>
                </a:solidFill>
                <a:latin typeface="DejaVu Sans"/>
              </a:defRPr>
            </a:pPr>
            <a:r>
              <a:t>Top-SHAP / Random;</a:t>
            </a:r>
          </a:p>
          <a:p>
            <a:pPr>
              <a:lnSpc>
                <a:spcPct val="104000"/>
              </a:lnSpc>
              <a:spcAft>
                <a:spcPts val="300"/>
              </a:spcAft>
              <a:defRPr sz="1650" b="0">
                <a:solidFill>
                  <a:srgbClr val="526779"/>
                </a:solidFill>
                <a:latin typeface="DejaVu Sans"/>
              </a:defRPr>
            </a:pPr>
            <a:r>
              <a:t>độ nhạy và ràng buộc PE</a:t>
            </a:r>
          </a:p>
        </p:txBody>
      </p:sp>
      <p:sp>
        <p:nvSpPr>
          <p:cNvPr id="25" name="Rounded Rectangle 24"/>
          <p:cNvSpPr/>
          <p:nvPr/>
        </p:nvSpPr>
        <p:spPr>
          <a:xfrm>
            <a:off x="502920" y="5596128"/>
            <a:ext cx="11183112" cy="539496"/>
          </a:xfrm>
          <a:prstGeom prst="roundRect">
            <a:avLst>
              <a:gd name="adj" fmla="val 10000"/>
            </a:avLst>
          </a:prstGeom>
          <a:solidFill>
            <a:srgbClr val="E4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5696712"/>
            <a:ext cx="10844784" cy="384048"/>
          </a:xfrm>
          <a:prstGeom prst="rect">
            <a:avLst/>
          </a:prstGeom>
          <a:noFill/>
        </p:spPr>
        <p:txBody>
          <a:bodyPr wrap="square" lIns="9144" rIns="9144" tIns="9144" bIns="9144">
            <a:spAutoFit/>
          </a:bodyPr>
          <a:lstStyle/>
          <a:p>
            <a:pPr>
              <a:lnSpc>
                <a:spcPct val="104000"/>
              </a:lnSpc>
              <a:spcAft>
                <a:spcPts val="300"/>
              </a:spcAft>
              <a:defRPr sz="1450" b="1">
                <a:solidFill>
                  <a:srgbClr val="007F7A"/>
                </a:solidFill>
                <a:latin typeface="DejaVu Sans"/>
              </a:defRPr>
            </a:pPr>
            <a:r>
              <a:t>Đóng góp ở cách thiết kế và kiểm chứng các thành phần; không coi PID, AL hay SHAP là thuật toán mới.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0789920" cy="274320"/>
          </a:xfrm>
          <a:prstGeom prst="rect">
            <a:avLst/>
          </a:prstGeom>
          <a:noFill/>
        </p:spPr>
        <p:txBody>
          <a:bodyPr wrap="square" lIns="9144" rIns="9144" tIns="9144" bIns="9144">
            <a:spAutoFit/>
          </a:bodyPr>
          <a:lstStyle/>
          <a:p>
            <a:pPr>
              <a:lnSpc>
                <a:spcPct val="104000"/>
              </a:lnSpc>
              <a:spcAft>
                <a:spcPts val="300"/>
              </a:spcAft>
              <a:defRPr sz="1100" b="1">
                <a:solidFill>
                  <a:srgbClr val="007F7A"/>
                </a:solidFill>
                <a:latin typeface="DejaVu Sans"/>
              </a:defRPr>
            </a:pPr>
            <a:r>
              <a:t>02 / HỆ THỐNG TÍCH HỢP</a:t>
            </a:r>
          </a:p>
        </p:txBody>
      </p:sp>
      <p:sp>
        <p:nvSpPr>
          <p:cNvPr id="4" name="TextBox 3"/>
          <p:cNvSpPr txBox="1"/>
          <p:nvPr/>
        </p:nvSpPr>
        <p:spPr>
          <a:xfrm>
            <a:off x="502920" y="722376"/>
            <a:ext cx="11155680" cy="694944"/>
          </a:xfrm>
          <a:prstGeom prst="rect">
            <a:avLst/>
          </a:prstGeom>
          <a:noFill/>
        </p:spPr>
        <p:txBody>
          <a:bodyPr wrap="square" lIns="9144" rIns="9144" tIns="9144" bIns="9144">
            <a:spAutoFit/>
          </a:bodyPr>
          <a:lstStyle/>
          <a:p>
            <a:pPr>
              <a:lnSpc>
                <a:spcPct val="104000"/>
              </a:lnSpc>
              <a:spcAft>
                <a:spcPts val="300"/>
              </a:spcAft>
              <a:defRPr sz="2900" b="1">
                <a:solidFill>
                  <a:srgbClr val="17324D"/>
                </a:solidFill>
                <a:latin typeface="DejaVu Sans"/>
              </a:defRPr>
            </a:pPr>
            <a:r>
              <a:t>Mỗi đóng góp tác động vào một khâu khác nhau</a:t>
            </a:r>
          </a:p>
        </p:txBody>
      </p:sp>
      <p:sp>
        <p:nvSpPr>
          <p:cNvPr id="5" name="TextBox 4"/>
          <p:cNvSpPr txBox="1"/>
          <p:nvPr/>
        </p:nvSpPr>
        <p:spPr>
          <a:xfrm>
            <a:off x="502920" y="1490472"/>
            <a:ext cx="11064240" cy="502920"/>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Cổng bất định quyết định chạy động; PID dung hợp; AL cập nhật mô hình; Fidelity kiểm tra giải thích.</a:t>
            </a:r>
          </a:p>
        </p:txBody>
      </p:sp>
      <p:cxnSp>
        <p:nvCxnSpPr>
          <p:cNvPr id="6" name="Connector 5"/>
          <p:cNvCxnSpPr/>
          <p:nvPr/>
        </p:nvCxnSpPr>
        <p:spPr>
          <a:xfrm>
            <a:off x="502920" y="6382512"/>
            <a:ext cx="11183112" cy="0"/>
          </a:xfrm>
          <a:prstGeom prst="line">
            <a:avLst/>
          </a:prstGeom>
          <a:ln w="12700">
            <a:solidFill>
              <a:srgbClr val="DCE5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744200" cy="210312"/>
          </a:xfrm>
          <a:prstGeom prst="rect">
            <a:avLst/>
          </a:prstGeom>
          <a:noFill/>
        </p:spPr>
        <p:txBody>
          <a:bodyPr wrap="square" lIns="9144" rIns="9144" tIns="9144" bIns="9144">
            <a:spAutoFit/>
          </a:bodyPr>
          <a:lstStyle/>
          <a:p>
            <a:pPr>
              <a:lnSpc>
                <a:spcPct val="104000"/>
              </a:lnSpc>
              <a:spcAft>
                <a:spcPts val="300"/>
              </a:spcAft>
              <a:defRPr sz="900" b="0">
                <a:solidFill>
                  <a:srgbClr val="526779"/>
                </a:solidFill>
                <a:latin typeface="DejaVu Sans"/>
              </a:defRPr>
            </a:pPr>
            <a:r>
              <a:t>Nguồn: luuvan.pdf §3.1–3.4; sơ đồ thiết kế được làm rõ sau Seminar.</a:t>
            </a:r>
          </a:p>
        </p:txBody>
      </p:sp>
      <p:sp>
        <p:nvSpPr>
          <p:cNvPr id="8" name="TextBox 7"/>
          <p:cNvSpPr txBox="1"/>
          <p:nvPr/>
        </p:nvSpPr>
        <p:spPr>
          <a:xfrm>
            <a:off x="11000232" y="6455664"/>
            <a:ext cx="685800" cy="228600"/>
          </a:xfrm>
          <a:prstGeom prst="rect">
            <a:avLst/>
          </a:prstGeom>
          <a:noFill/>
        </p:spPr>
        <p:txBody>
          <a:bodyPr wrap="square" lIns="9144" rIns="9144" tIns="9144" bIns="9144">
            <a:spAutoFit/>
          </a:bodyPr>
          <a:lstStyle/>
          <a:p>
            <a:pPr>
              <a:lnSpc>
                <a:spcPct val="104000"/>
              </a:lnSpc>
              <a:spcAft>
                <a:spcPts val="300"/>
              </a:spcAft>
              <a:defRPr sz="1000" b="1">
                <a:solidFill>
                  <a:srgbClr val="007F7A"/>
                </a:solidFill>
                <a:latin typeface="DejaVu Sans"/>
              </a:defRPr>
            </a:pPr>
            <a:r>
              <a:t>03 / 17</a:t>
            </a:r>
          </a:p>
        </p:txBody>
      </p:sp>
      <p:sp>
        <p:nvSpPr>
          <p:cNvPr id="9" name="Rounded Rectangle 8"/>
          <p:cNvSpPr/>
          <p:nvPr/>
        </p:nvSpPr>
        <p:spPr>
          <a:xfrm>
            <a:off x="502920" y="2395728"/>
            <a:ext cx="2029968" cy="1042415"/>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2560320"/>
            <a:ext cx="1773936" cy="832103"/>
          </a:xfrm>
          <a:prstGeom prst="rect">
            <a:avLst/>
          </a:prstGeom>
          <a:noFill/>
        </p:spPr>
        <p:txBody>
          <a:bodyPr wrap="square" lIns="9144" rIns="9144" tIns="9144" bIns="9144">
            <a:spAutoFit/>
          </a:bodyPr>
          <a:lstStyle/>
          <a:p>
            <a:pPr>
              <a:lnSpc>
                <a:spcPct val="104000"/>
              </a:lnSpc>
              <a:spcAft>
                <a:spcPts val="300"/>
              </a:spcAft>
              <a:defRPr sz="1700" b="1">
                <a:solidFill>
                  <a:srgbClr val="17324D"/>
                </a:solidFill>
                <a:latin typeface="DejaVu Sans"/>
              </a:defRPr>
            </a:pPr>
            <a:r>
              <a:t>Tệp PE</a:t>
            </a:r>
          </a:p>
          <a:p>
            <a:pPr>
              <a:lnSpc>
                <a:spcPct val="104000"/>
              </a:lnSpc>
              <a:spcAft>
                <a:spcPts val="300"/>
              </a:spcAft>
              <a:defRPr sz="1700" b="1">
                <a:solidFill>
                  <a:srgbClr val="17324D"/>
                </a:solidFill>
                <a:latin typeface="DejaVu Sans"/>
              </a:defRPr>
            </a:pPr>
            <a:r>
              <a:t>LightGBM → pₛ</a:t>
            </a:r>
          </a:p>
        </p:txBody>
      </p:sp>
      <p:sp>
        <p:nvSpPr>
          <p:cNvPr id="11" name="Rounded Rectangle 10"/>
          <p:cNvSpPr/>
          <p:nvPr/>
        </p:nvSpPr>
        <p:spPr>
          <a:xfrm>
            <a:off x="2926080" y="2395728"/>
            <a:ext cx="2103120" cy="1042415"/>
          </a:xfrm>
          <a:prstGeom prst="roundRect">
            <a:avLst>
              <a:gd name="adj" fmla="val 10000"/>
            </a:avLst>
          </a:prstGeom>
          <a:solidFill>
            <a:srgbClr val="E4F3E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54096" y="2560320"/>
            <a:ext cx="1847087" cy="832103"/>
          </a:xfrm>
          <a:prstGeom prst="rect">
            <a:avLst/>
          </a:prstGeom>
          <a:noFill/>
        </p:spPr>
        <p:txBody>
          <a:bodyPr wrap="square" lIns="9144" rIns="9144" tIns="9144" bIns="9144">
            <a:spAutoFit/>
          </a:bodyPr>
          <a:lstStyle/>
          <a:p>
            <a:pPr>
              <a:lnSpc>
                <a:spcPct val="104000"/>
              </a:lnSpc>
              <a:spcAft>
                <a:spcPts val="300"/>
              </a:spcAft>
              <a:defRPr sz="1700" b="1">
                <a:solidFill>
                  <a:srgbClr val="17324D"/>
                </a:solidFill>
                <a:latin typeface="DejaVu Sans"/>
              </a:defRPr>
            </a:pPr>
            <a:r>
              <a:t>Cổng bất định</a:t>
            </a:r>
          </a:p>
          <a:p>
            <a:pPr>
              <a:lnSpc>
                <a:spcPct val="104000"/>
              </a:lnSpc>
              <a:spcAft>
                <a:spcPts val="300"/>
              </a:spcAft>
              <a:defRPr sz="1700" b="1">
                <a:solidFill>
                  <a:srgbClr val="17324D"/>
                </a:solidFill>
                <a:latin typeface="DejaVu Sans"/>
              </a:defRPr>
            </a:pPr>
            <a:r>
              <a:t>[θ_low, θ_high]</a:t>
            </a:r>
          </a:p>
        </p:txBody>
      </p:sp>
      <p:sp>
        <p:nvSpPr>
          <p:cNvPr id="13" name="Rounded Rectangle 12"/>
          <p:cNvSpPr/>
          <p:nvPr/>
        </p:nvSpPr>
        <p:spPr>
          <a:xfrm>
            <a:off x="8915400" y="2075688"/>
            <a:ext cx="2770632" cy="758952"/>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43416" y="2240280"/>
            <a:ext cx="2514600" cy="548640"/>
          </a:xfrm>
          <a:prstGeom prst="rect">
            <a:avLst/>
          </a:prstGeom>
          <a:noFill/>
        </p:spPr>
        <p:txBody>
          <a:bodyPr wrap="square" lIns="9144" rIns="9144" tIns="9144" bIns="9144">
            <a:spAutoFit/>
          </a:bodyPr>
          <a:lstStyle/>
          <a:p>
            <a:pPr>
              <a:lnSpc>
                <a:spcPct val="104000"/>
              </a:lnSpc>
              <a:spcAft>
                <a:spcPts val="300"/>
              </a:spcAft>
              <a:defRPr sz="1700" b="1">
                <a:solidFill>
                  <a:srgbClr val="17324D"/>
                </a:solidFill>
                <a:latin typeface="DejaVu Sans"/>
              </a:defRPr>
            </a:pPr>
            <a:r>
              <a:t>Quyết định tĩnh</a:t>
            </a:r>
          </a:p>
        </p:txBody>
      </p:sp>
      <p:sp>
        <p:nvSpPr>
          <p:cNvPr id="15" name="Rounded Rectangle 14"/>
          <p:cNvSpPr/>
          <p:nvPr/>
        </p:nvSpPr>
        <p:spPr>
          <a:xfrm>
            <a:off x="5532120" y="3118104"/>
            <a:ext cx="2331720" cy="960120"/>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0136" y="3282696"/>
            <a:ext cx="2075687" cy="749808"/>
          </a:xfrm>
          <a:prstGeom prst="rect">
            <a:avLst/>
          </a:prstGeom>
          <a:noFill/>
        </p:spPr>
        <p:txBody>
          <a:bodyPr wrap="square" lIns="9144" rIns="9144" tIns="9144" bIns="9144">
            <a:spAutoFit/>
          </a:bodyPr>
          <a:lstStyle/>
          <a:p>
            <a:pPr>
              <a:lnSpc>
                <a:spcPct val="104000"/>
              </a:lnSpc>
              <a:spcAft>
                <a:spcPts val="300"/>
              </a:spcAft>
              <a:defRPr sz="1700" b="1">
                <a:solidFill>
                  <a:srgbClr val="17324D"/>
                </a:solidFill>
                <a:latin typeface="DejaVu Sans"/>
              </a:defRPr>
            </a:pPr>
            <a:r>
              <a:t>Phân tích động</a:t>
            </a:r>
          </a:p>
          <a:p>
            <a:pPr>
              <a:lnSpc>
                <a:spcPct val="104000"/>
              </a:lnSpc>
              <a:spcAft>
                <a:spcPts val="300"/>
              </a:spcAft>
              <a:defRPr sz="1700" b="1">
                <a:solidFill>
                  <a:srgbClr val="17324D"/>
                </a:solidFill>
                <a:latin typeface="DejaVu Sans"/>
              </a:defRPr>
            </a:pPr>
            <a:r>
              <a:t>→ p_d</a:t>
            </a:r>
          </a:p>
        </p:txBody>
      </p:sp>
      <p:sp>
        <p:nvSpPr>
          <p:cNvPr id="17" name="Rounded Rectangle 16"/>
          <p:cNvSpPr/>
          <p:nvPr/>
        </p:nvSpPr>
        <p:spPr>
          <a:xfrm>
            <a:off x="8915400" y="3118104"/>
            <a:ext cx="2770632" cy="960120"/>
          </a:xfrm>
          <a:prstGeom prst="roundRect">
            <a:avLst>
              <a:gd name="adj" fmla="val 10000"/>
            </a:avLst>
          </a:prstGeom>
          <a:solidFill>
            <a:srgbClr val="E4F3E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43416" y="3282696"/>
            <a:ext cx="2514600" cy="749808"/>
          </a:xfrm>
          <a:prstGeom prst="rect">
            <a:avLst/>
          </a:prstGeom>
          <a:noFill/>
        </p:spPr>
        <p:txBody>
          <a:bodyPr wrap="square" lIns="9144" rIns="9144" tIns="9144" bIns="9144">
            <a:spAutoFit/>
          </a:bodyPr>
          <a:lstStyle/>
          <a:p>
            <a:pPr>
              <a:lnSpc>
                <a:spcPct val="104000"/>
              </a:lnSpc>
              <a:spcAft>
                <a:spcPts val="300"/>
              </a:spcAft>
              <a:defRPr sz="1700" b="1">
                <a:solidFill>
                  <a:srgbClr val="17324D"/>
                </a:solidFill>
                <a:latin typeface="DejaVu Sans"/>
              </a:defRPr>
            </a:pPr>
            <a:r>
              <a:t>① PID → dung hợp</a:t>
            </a:r>
          </a:p>
          <a:p>
            <a:pPr>
              <a:lnSpc>
                <a:spcPct val="104000"/>
              </a:lnSpc>
              <a:spcAft>
                <a:spcPts val="300"/>
              </a:spcAft>
              <a:defRPr sz="1700" b="1">
                <a:solidFill>
                  <a:srgbClr val="17324D"/>
                </a:solidFill>
                <a:latin typeface="DejaVu Sans"/>
              </a:defRPr>
            </a:pPr>
            <a:r>
              <a:t>→ quyết định</a:t>
            </a:r>
          </a:p>
        </p:txBody>
      </p:sp>
      <p:cxnSp>
        <p:nvCxnSpPr>
          <p:cNvPr id="19" name="Connector 18"/>
          <p:cNvCxnSpPr/>
          <p:nvPr/>
        </p:nvCxnSpPr>
        <p:spPr>
          <a:xfrm>
            <a:off x="2532888" y="2907792"/>
            <a:ext cx="393192" cy="0"/>
          </a:xfrm>
          <a:prstGeom prst="line">
            <a:avLst/>
          </a:prstGeom>
          <a:ln w="25400">
            <a:solidFill>
              <a:srgbClr val="007F7A"/>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977639" y="2313432"/>
            <a:ext cx="0" cy="82296"/>
          </a:xfrm>
          <a:prstGeom prst="line">
            <a:avLst/>
          </a:prstGeom>
          <a:ln w="25400">
            <a:solidFill>
              <a:srgbClr val="007F7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977639" y="2313432"/>
            <a:ext cx="4937761" cy="0"/>
          </a:xfrm>
          <a:prstGeom prst="line">
            <a:avLst/>
          </a:prstGeom>
          <a:ln w="25400">
            <a:solidFill>
              <a:srgbClr val="007F7A"/>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239512" y="1993392"/>
            <a:ext cx="3566160" cy="265176"/>
          </a:xfrm>
          <a:prstGeom prst="rect">
            <a:avLst/>
          </a:prstGeom>
          <a:noFill/>
        </p:spPr>
        <p:txBody>
          <a:bodyPr wrap="square" lIns="9144" rIns="9144" tIns="9144" bIns="9144">
            <a:spAutoFit/>
          </a:bodyPr>
          <a:lstStyle/>
          <a:p>
            <a:pPr>
              <a:lnSpc>
                <a:spcPct val="104000"/>
              </a:lnSpc>
              <a:spcAft>
                <a:spcPts val="300"/>
              </a:spcAft>
              <a:defRPr sz="1300" b="1">
                <a:solidFill>
                  <a:srgbClr val="007F7A"/>
                </a:solidFill>
                <a:latin typeface="DejaVu Sans"/>
              </a:defRPr>
            </a:pPr>
            <a:r>
              <a:t>Ngoài vùng bất định</a:t>
            </a:r>
          </a:p>
        </p:txBody>
      </p:sp>
      <p:cxnSp>
        <p:nvCxnSpPr>
          <p:cNvPr id="23" name="Connector 22"/>
          <p:cNvCxnSpPr/>
          <p:nvPr/>
        </p:nvCxnSpPr>
        <p:spPr>
          <a:xfrm>
            <a:off x="5029200" y="3136392"/>
            <a:ext cx="502920" cy="420624"/>
          </a:xfrm>
          <a:prstGeom prst="line">
            <a:avLst/>
          </a:prstGeom>
          <a:ln w="25400">
            <a:solidFill>
              <a:srgbClr val="007F7A"/>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863840" y="3602736"/>
            <a:ext cx="1051560" cy="0"/>
          </a:xfrm>
          <a:prstGeom prst="line">
            <a:avLst/>
          </a:prstGeom>
          <a:ln w="25400">
            <a:solidFill>
              <a:srgbClr val="007F7A"/>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230368" y="2743200"/>
            <a:ext cx="3566160" cy="265176"/>
          </a:xfrm>
          <a:prstGeom prst="rect">
            <a:avLst/>
          </a:prstGeom>
          <a:noFill/>
        </p:spPr>
        <p:txBody>
          <a:bodyPr wrap="square" lIns="9144" rIns="9144" tIns="9144" bIns="9144">
            <a:spAutoFit/>
          </a:bodyPr>
          <a:lstStyle/>
          <a:p>
            <a:pPr>
              <a:lnSpc>
                <a:spcPct val="104000"/>
              </a:lnSpc>
              <a:spcAft>
                <a:spcPts val="300"/>
              </a:spcAft>
              <a:defRPr sz="1300" b="1">
                <a:solidFill>
                  <a:srgbClr val="007F7A"/>
                </a:solidFill>
                <a:latin typeface="DejaVu Sans"/>
              </a:defRPr>
            </a:pPr>
            <a:r>
              <a:t>Trong vùng bất định</a:t>
            </a:r>
          </a:p>
        </p:txBody>
      </p:sp>
      <p:sp>
        <p:nvSpPr>
          <p:cNvPr id="26" name="Rounded Rectangle 25"/>
          <p:cNvSpPr/>
          <p:nvPr/>
        </p:nvSpPr>
        <p:spPr>
          <a:xfrm>
            <a:off x="502920" y="4462272"/>
            <a:ext cx="7104888" cy="1069848"/>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4636008"/>
            <a:ext cx="6711696" cy="740664"/>
          </a:xfrm>
          <a:prstGeom prst="rect">
            <a:avLst/>
          </a:prstGeom>
          <a:noFill/>
        </p:spPr>
        <p:txBody>
          <a:bodyPr wrap="square" lIns="9144" rIns="9144" tIns="9144" bIns="9144">
            <a:spAutoFit/>
          </a:bodyPr>
          <a:lstStyle/>
          <a:p>
            <a:pPr>
              <a:lnSpc>
                <a:spcPct val="104000"/>
              </a:lnSpc>
              <a:spcAft>
                <a:spcPts val="300"/>
              </a:spcAft>
              <a:defRPr sz="1800" b="1">
                <a:solidFill>
                  <a:srgbClr val="17324D"/>
                </a:solidFill>
                <a:latin typeface="DejaVu Sans"/>
              </a:defRPr>
            </a:pPr>
            <a:r>
              <a:t>② AL: mô hình → SHAP → chọn mẫu → oracle</a:t>
            </a:r>
          </a:p>
          <a:p>
            <a:pPr>
              <a:lnSpc>
                <a:spcPct val="104000"/>
              </a:lnSpc>
              <a:spcAft>
                <a:spcPts val="300"/>
              </a:spcAft>
              <a:defRPr sz="1800" b="1">
                <a:solidFill>
                  <a:srgbClr val="17324D"/>
                </a:solidFill>
                <a:latin typeface="DejaVu Sans"/>
              </a:defRPr>
            </a:pPr>
            <a:r>
              <a:t>→ huấn luyện lại trên toàn bộ nhãn tích lũy</a:t>
            </a:r>
          </a:p>
        </p:txBody>
      </p:sp>
      <p:sp>
        <p:nvSpPr>
          <p:cNvPr id="28" name="Rounded Rectangle 27"/>
          <p:cNvSpPr/>
          <p:nvPr/>
        </p:nvSpPr>
        <p:spPr>
          <a:xfrm>
            <a:off x="7836408" y="4462272"/>
            <a:ext cx="3849624" cy="1069848"/>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37575" y="4636008"/>
            <a:ext cx="3447288" cy="740664"/>
          </a:xfrm>
          <a:prstGeom prst="rect">
            <a:avLst/>
          </a:prstGeom>
          <a:noFill/>
        </p:spPr>
        <p:txBody>
          <a:bodyPr wrap="square" lIns="9144" rIns="9144" tIns="9144" bIns="9144">
            <a:spAutoFit/>
          </a:bodyPr>
          <a:lstStyle/>
          <a:p>
            <a:pPr>
              <a:lnSpc>
                <a:spcPct val="104000"/>
              </a:lnSpc>
              <a:spcAft>
                <a:spcPts val="300"/>
              </a:spcAft>
              <a:defRPr sz="1750" b="1">
                <a:solidFill>
                  <a:srgbClr val="17324D"/>
                </a:solidFill>
                <a:latin typeface="DejaVu Sans"/>
              </a:defRPr>
            </a:pPr>
            <a:r>
              <a:t>③ Fidelity: kiểm tra</a:t>
            </a:r>
          </a:p>
          <a:p>
            <a:pPr>
              <a:lnSpc>
                <a:spcPct val="104000"/>
              </a:lnSpc>
              <a:spcAft>
                <a:spcPts val="300"/>
              </a:spcAft>
              <a:defRPr sz="1750" b="1">
                <a:solidFill>
                  <a:srgbClr val="17324D"/>
                </a:solidFill>
                <a:latin typeface="DejaVu Sans"/>
              </a:defRPr>
            </a:pPr>
            <a:r>
              <a:t>giải thích của mô hình tĩnh</a:t>
            </a:r>
          </a:p>
        </p:txBody>
      </p:sp>
      <p:sp>
        <p:nvSpPr>
          <p:cNvPr id="30" name="Rounded Rectangle 29"/>
          <p:cNvSpPr/>
          <p:nvPr/>
        </p:nvSpPr>
        <p:spPr>
          <a:xfrm>
            <a:off x="502920" y="5596128"/>
            <a:ext cx="11183112" cy="539496"/>
          </a:xfrm>
          <a:prstGeom prst="roundRect">
            <a:avLst>
              <a:gd name="adj" fmla="val 10000"/>
            </a:avLst>
          </a:prstGeom>
          <a:solidFill>
            <a:srgbClr val="E4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 y="5696712"/>
            <a:ext cx="10844784" cy="384048"/>
          </a:xfrm>
          <a:prstGeom prst="rect">
            <a:avLst/>
          </a:prstGeom>
          <a:noFill/>
        </p:spPr>
        <p:txBody>
          <a:bodyPr wrap="square" lIns="9144" rIns="9144" tIns="9144" bIns="9144">
            <a:spAutoFit/>
          </a:bodyPr>
          <a:lstStyle/>
          <a:p>
            <a:pPr>
              <a:lnSpc>
                <a:spcPct val="104000"/>
              </a:lnSpc>
              <a:spcAft>
                <a:spcPts val="300"/>
              </a:spcAft>
              <a:defRPr sz="1600" b="1">
                <a:solidFill>
                  <a:srgbClr val="007F7A"/>
                </a:solidFill>
                <a:latin typeface="DejaVu Sans"/>
              </a:defRPr>
            </a:pPr>
            <a:r>
              <a:t>Cải thiện chọn nhãn, chất lượng phát hiện và chất lượng giải thích phải được đánh giá riêng.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0789920" cy="274320"/>
          </a:xfrm>
          <a:prstGeom prst="rect">
            <a:avLst/>
          </a:prstGeom>
          <a:noFill/>
        </p:spPr>
        <p:txBody>
          <a:bodyPr wrap="square" lIns="9144" rIns="9144" tIns="9144" bIns="9144">
            <a:spAutoFit/>
          </a:bodyPr>
          <a:lstStyle/>
          <a:p>
            <a:pPr>
              <a:lnSpc>
                <a:spcPct val="104000"/>
              </a:lnSpc>
              <a:spcAft>
                <a:spcPts val="300"/>
              </a:spcAft>
              <a:defRPr sz="1100" b="1">
                <a:solidFill>
                  <a:srgbClr val="007F7A"/>
                </a:solidFill>
                <a:latin typeface="DejaVu Sans"/>
              </a:defRPr>
            </a:pPr>
            <a:r>
              <a:t>03 / ĐÓNG GÓP 1 — PID FUSION</a:t>
            </a:r>
          </a:p>
        </p:txBody>
      </p:sp>
      <p:sp>
        <p:nvSpPr>
          <p:cNvPr id="4" name="TextBox 3"/>
          <p:cNvSpPr txBox="1"/>
          <p:nvPr/>
        </p:nvSpPr>
        <p:spPr>
          <a:xfrm>
            <a:off x="502920" y="722376"/>
            <a:ext cx="11155680" cy="694944"/>
          </a:xfrm>
          <a:prstGeom prst="rect">
            <a:avLst/>
          </a:prstGeom>
          <a:noFill/>
        </p:spPr>
        <p:txBody>
          <a:bodyPr wrap="square" lIns="9144" rIns="9144" tIns="9144" bIns="9144">
            <a:spAutoFit/>
          </a:bodyPr>
          <a:lstStyle/>
          <a:p>
            <a:pPr>
              <a:lnSpc>
                <a:spcPct val="104000"/>
              </a:lnSpc>
              <a:spcAft>
                <a:spcPts val="300"/>
              </a:spcAft>
              <a:defRPr sz="2800" b="1">
                <a:solidFill>
                  <a:srgbClr val="17324D"/>
                </a:solidFill>
                <a:latin typeface="DejaVu Sans"/>
              </a:defRPr>
            </a:pPr>
            <a:r>
              <a:t>PID bổ sung khả năng điều chỉnh trọng số có trạng thái</a:t>
            </a:r>
          </a:p>
        </p:txBody>
      </p:sp>
      <p:sp>
        <p:nvSpPr>
          <p:cNvPr id="5" name="TextBox 4"/>
          <p:cNvSpPr txBox="1"/>
          <p:nvPr/>
        </p:nvSpPr>
        <p:spPr>
          <a:xfrm>
            <a:off x="502920" y="1490472"/>
            <a:ext cx="11064240" cy="502920"/>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Lý do lựa chọn là giả thuyết kỹ thuật; hiệu quả giảm FPR cần phép đo ghép cặp.</a:t>
            </a:r>
          </a:p>
        </p:txBody>
      </p:sp>
      <p:cxnSp>
        <p:nvCxnSpPr>
          <p:cNvPr id="6" name="Connector 5"/>
          <p:cNvCxnSpPr/>
          <p:nvPr/>
        </p:nvCxnSpPr>
        <p:spPr>
          <a:xfrm>
            <a:off x="502920" y="6382512"/>
            <a:ext cx="11183112" cy="0"/>
          </a:xfrm>
          <a:prstGeom prst="line">
            <a:avLst/>
          </a:prstGeom>
          <a:ln w="12700">
            <a:solidFill>
              <a:srgbClr val="DCE5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744200" cy="210312"/>
          </a:xfrm>
          <a:prstGeom prst="rect">
            <a:avLst/>
          </a:prstGeom>
          <a:noFill/>
        </p:spPr>
        <p:txBody>
          <a:bodyPr wrap="square" lIns="9144" rIns="9144" tIns="9144" bIns="9144">
            <a:spAutoFit/>
          </a:bodyPr>
          <a:lstStyle/>
          <a:p>
            <a:pPr>
              <a:lnSpc>
                <a:spcPct val="104000"/>
              </a:lnSpc>
              <a:spcAft>
                <a:spcPts val="300"/>
              </a:spcAft>
              <a:defRPr sz="900" b="0">
                <a:solidFill>
                  <a:srgbClr val="526779"/>
                </a:solidFill>
                <a:latin typeface="DejaVu Sans"/>
              </a:defRPr>
            </a:pPr>
            <a:r>
              <a:t>Nguồn: luuvan.pdf §3.2, tr.36–39; src/pid_fusion.py. Chưa có kiểm chứng chất lượng bằng log động thật.</a:t>
            </a:r>
          </a:p>
        </p:txBody>
      </p:sp>
      <p:sp>
        <p:nvSpPr>
          <p:cNvPr id="8" name="TextBox 7"/>
          <p:cNvSpPr txBox="1"/>
          <p:nvPr/>
        </p:nvSpPr>
        <p:spPr>
          <a:xfrm>
            <a:off x="11000232" y="6455664"/>
            <a:ext cx="685800" cy="228600"/>
          </a:xfrm>
          <a:prstGeom prst="rect">
            <a:avLst/>
          </a:prstGeom>
          <a:noFill/>
        </p:spPr>
        <p:txBody>
          <a:bodyPr wrap="square" lIns="9144" rIns="9144" tIns="9144" bIns="9144">
            <a:spAutoFit/>
          </a:bodyPr>
          <a:lstStyle/>
          <a:p>
            <a:pPr>
              <a:lnSpc>
                <a:spcPct val="104000"/>
              </a:lnSpc>
              <a:spcAft>
                <a:spcPts val="300"/>
              </a:spcAft>
              <a:defRPr sz="1000" b="1">
                <a:solidFill>
                  <a:srgbClr val="007F7A"/>
                </a:solidFill>
                <a:latin typeface="DejaVu Sans"/>
              </a:defRPr>
            </a:pPr>
            <a:r>
              <a:t>04 / 17</a:t>
            </a:r>
          </a:p>
        </p:txBody>
      </p:sp>
      <p:sp>
        <p:nvSpPr>
          <p:cNvPr id="9" name="Rounded Rectangle 8"/>
          <p:cNvSpPr/>
          <p:nvPr/>
        </p:nvSpPr>
        <p:spPr>
          <a:xfrm>
            <a:off x="502920" y="2139696"/>
            <a:ext cx="5495544" cy="3264408"/>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368296"/>
            <a:ext cx="5065776" cy="365760"/>
          </a:xfrm>
          <a:prstGeom prst="rect">
            <a:avLst/>
          </a:prstGeom>
          <a:noFill/>
        </p:spPr>
        <p:txBody>
          <a:bodyPr wrap="square" lIns="9144" rIns="9144" tIns="9144" bIns="9144">
            <a:spAutoFit/>
          </a:bodyPr>
          <a:lstStyle/>
          <a:p>
            <a:pPr>
              <a:lnSpc>
                <a:spcPct val="104000"/>
              </a:lnSpc>
              <a:spcAft>
                <a:spcPts val="300"/>
              </a:spcAft>
              <a:defRPr sz="2100" b="1">
                <a:solidFill>
                  <a:srgbClr val="007F7A"/>
                </a:solidFill>
                <a:latin typeface="DejaVu Sans"/>
              </a:defRPr>
            </a:pPr>
            <a:r>
              <a:t>Ý tưởng dung hợp</a:t>
            </a:r>
          </a:p>
        </p:txBody>
      </p:sp>
      <p:sp>
        <p:nvSpPr>
          <p:cNvPr id="11" name="TextBox 10"/>
          <p:cNvSpPr txBox="1"/>
          <p:nvPr/>
        </p:nvSpPr>
        <p:spPr>
          <a:xfrm>
            <a:off x="713232" y="2889504"/>
            <a:ext cx="5029200" cy="1097280"/>
          </a:xfrm>
          <a:prstGeom prst="rect">
            <a:avLst/>
          </a:prstGeom>
          <a:noFill/>
        </p:spPr>
        <p:txBody>
          <a:bodyPr wrap="square" lIns="9144" rIns="9144" tIns="9144" bIns="9144">
            <a:spAutoFit/>
          </a:bodyPr>
          <a:lstStyle/>
          <a:p>
            <a:pPr>
              <a:lnSpc>
                <a:spcPct val="104000"/>
              </a:lnSpc>
              <a:spcAft>
                <a:spcPts val="300"/>
              </a:spcAft>
              <a:defRPr sz="2000" b="1">
                <a:solidFill>
                  <a:srgbClr val="17324D"/>
                </a:solidFill>
                <a:latin typeface="DejaVu Sans"/>
              </a:defRPr>
            </a:pPr>
            <a:r>
              <a:t>eₜ = pₛ,ₜ − p_d,ₜ</a:t>
            </a:r>
          </a:p>
          <a:p>
            <a:pPr>
              <a:lnSpc>
                <a:spcPct val="104000"/>
              </a:lnSpc>
              <a:spcAft>
                <a:spcPts val="300"/>
              </a:spcAft>
              <a:defRPr sz="2000" b="1">
                <a:solidFill>
                  <a:srgbClr val="17324D"/>
                </a:solidFill>
                <a:latin typeface="DejaVu Sans"/>
              </a:defRPr>
            </a:pPr>
            <a:r>
              <a:t>uₜ = Kₚeₜ + KᵢΣe + K_dΔe</a:t>
            </a:r>
          </a:p>
          <a:p>
            <a:pPr>
              <a:lnSpc>
                <a:spcPct val="104000"/>
              </a:lnSpc>
              <a:spcAft>
                <a:spcPts val="300"/>
              </a:spcAft>
              <a:defRPr sz="2000" b="1">
                <a:solidFill>
                  <a:srgbClr val="17324D"/>
                </a:solidFill>
                <a:latin typeface="DejaVu Sans"/>
              </a:defRPr>
            </a:pPr>
            <a:r>
              <a:t>wₜ = clip(sigmoid(uₜ), 0,1; 0,9)</a:t>
            </a:r>
          </a:p>
        </p:txBody>
      </p:sp>
      <p:sp>
        <p:nvSpPr>
          <p:cNvPr id="12" name="TextBox 11"/>
          <p:cNvSpPr txBox="1"/>
          <p:nvPr/>
        </p:nvSpPr>
        <p:spPr>
          <a:xfrm>
            <a:off x="713232" y="4361688"/>
            <a:ext cx="5010912" cy="749808"/>
          </a:xfrm>
          <a:prstGeom prst="rect">
            <a:avLst/>
          </a:prstGeom>
          <a:noFill/>
        </p:spPr>
        <p:txBody>
          <a:bodyPr wrap="square" lIns="9144" rIns="9144" tIns="9144" bIns="9144">
            <a:spAutoFit/>
          </a:bodyPr>
          <a:lstStyle/>
          <a:p>
            <a:pPr>
              <a:lnSpc>
                <a:spcPct val="104000"/>
              </a:lnSpc>
              <a:spcAft>
                <a:spcPts val="300"/>
              </a:spcAft>
              <a:defRPr sz="2100" b="1">
                <a:solidFill>
                  <a:srgbClr val="17324D"/>
                </a:solidFill>
                <a:latin typeface="DejaVu Sans"/>
              </a:defRPr>
            </a:pPr>
            <a:r>
              <a:t>p_final = wₜpₛ + (1 − wₜ)p_d</a:t>
            </a:r>
          </a:p>
          <a:p>
            <a:pPr>
              <a:lnSpc>
                <a:spcPct val="104000"/>
              </a:lnSpc>
              <a:spcAft>
                <a:spcPts val="300"/>
              </a:spcAft>
              <a:defRPr sz="2100" b="1">
                <a:solidFill>
                  <a:srgbClr val="17324D"/>
                </a:solidFill>
                <a:latin typeface="DejaVu Sans"/>
              </a:defRPr>
            </a:pPr>
            <a:r>
              <a:t>⇒ p_final ∈ [0,1]</a:t>
            </a:r>
          </a:p>
        </p:txBody>
      </p:sp>
      <p:sp>
        <p:nvSpPr>
          <p:cNvPr id="13" name="Rounded Rectangle 12"/>
          <p:cNvSpPr/>
          <p:nvPr/>
        </p:nvSpPr>
        <p:spPr>
          <a:xfrm>
            <a:off x="6217920" y="2139696"/>
            <a:ext cx="5468112" cy="3264408"/>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2368296"/>
            <a:ext cx="5047488" cy="365760"/>
          </a:xfrm>
          <a:prstGeom prst="rect">
            <a:avLst/>
          </a:prstGeom>
          <a:noFill/>
        </p:spPr>
        <p:txBody>
          <a:bodyPr wrap="square" lIns="9144" rIns="9144" tIns="9144" bIns="9144">
            <a:spAutoFit/>
          </a:bodyPr>
          <a:lstStyle/>
          <a:p>
            <a:pPr>
              <a:lnSpc>
                <a:spcPct val="104000"/>
              </a:lnSpc>
              <a:spcAft>
                <a:spcPts val="300"/>
              </a:spcAft>
              <a:defRPr sz="2100" b="1">
                <a:solidFill>
                  <a:srgbClr val="007F7A"/>
                </a:solidFill>
                <a:latin typeface="DejaVu Sans"/>
              </a:defRPr>
            </a:pPr>
            <a:r>
              <a:t>Vai trò và giới hạn</a:t>
            </a:r>
          </a:p>
        </p:txBody>
      </p:sp>
      <p:sp>
        <p:nvSpPr>
          <p:cNvPr id="15" name="TextBox 14"/>
          <p:cNvSpPr txBox="1"/>
          <p:nvPr/>
        </p:nvSpPr>
        <p:spPr>
          <a:xfrm>
            <a:off x="6428232" y="2880360"/>
            <a:ext cx="5020056" cy="2267712"/>
          </a:xfrm>
          <a:prstGeom prst="rect">
            <a:avLst/>
          </a:prstGeom>
          <a:noFill/>
        </p:spPr>
        <p:txBody>
          <a:bodyPr wrap="square" lIns="9144" rIns="9144" tIns="9144" bIns="9144">
            <a:spAutoFit/>
          </a:bodyPr>
          <a:lstStyle/>
          <a:p>
            <a:pPr>
              <a:lnSpc>
                <a:spcPct val="104000"/>
              </a:lnSpc>
              <a:spcAft>
                <a:spcPts val="300"/>
              </a:spcAft>
              <a:defRPr sz="1800" b="0">
                <a:solidFill>
                  <a:srgbClr val="17324D"/>
                </a:solidFill>
                <a:latin typeface="DejaVu Sans"/>
              </a:defRPr>
            </a:pPr>
            <a:r>
              <a:t>P: phản ứng với bất đồng hiện tại.</a:t>
            </a:r>
          </a:p>
          <a:p>
            <a:pPr>
              <a:lnSpc>
                <a:spcPct val="104000"/>
              </a:lnSpc>
              <a:spcAft>
                <a:spcPts val="300"/>
              </a:spcAft>
              <a:defRPr sz="1800" b="0">
                <a:solidFill>
                  <a:srgbClr val="17324D"/>
                </a:solidFill>
                <a:latin typeface="DejaVu Sans"/>
              </a:defRPr>
            </a:pPr>
            <a:r>
              <a:t>I: tích lũy bất đồng qua chuỗi.</a:t>
            </a:r>
          </a:p>
          <a:p>
            <a:pPr>
              <a:lnSpc>
                <a:spcPct val="104000"/>
              </a:lnSpc>
              <a:spcAft>
                <a:spcPts val="300"/>
              </a:spcAft>
              <a:defRPr sz="1800" b="0">
                <a:solidFill>
                  <a:srgbClr val="17324D"/>
                </a:solidFill>
                <a:latin typeface="DejaVu Sans"/>
              </a:defRPr>
            </a:pPr>
            <a:r>
              <a:t>D: phản ứng với biến thiên.</a:t>
            </a:r>
          </a:p>
          <a:p>
            <a:pPr>
              <a:lnSpc>
                <a:spcPct val="104000"/>
              </a:lnSpc>
              <a:spcAft>
                <a:spcPts val="300"/>
              </a:spcAft>
              <a:defRPr sz="1800" b="0">
                <a:solidFill>
                  <a:srgbClr val="17324D"/>
                </a:solidFill>
                <a:latin typeface="DejaVu Sans"/>
              </a:defRPr>
            </a:pPr>
          </a:p>
          <a:p>
            <a:pPr>
              <a:lnSpc>
                <a:spcPct val="104000"/>
              </a:lnSpc>
              <a:spcAft>
                <a:spcPts val="300"/>
              </a:spcAft>
              <a:defRPr sz="1800" b="0">
                <a:solidFill>
                  <a:srgbClr val="17324D"/>
                </a:solidFill>
                <a:latin typeface="DejaVu Sans"/>
              </a:defRPr>
            </a:pPr>
            <a:r>
              <a:t>Bất đồng không cho biết mô hình nào đúng. Trọng số hợp lệ không bảo đảm AUC hoặc FPR tốt hơn.</a:t>
            </a:r>
          </a:p>
        </p:txBody>
      </p:sp>
      <p:sp>
        <p:nvSpPr>
          <p:cNvPr id="16" name="Rounded Rectangle 15"/>
          <p:cNvSpPr/>
          <p:nvPr/>
        </p:nvSpPr>
        <p:spPr>
          <a:xfrm>
            <a:off x="502920" y="5596128"/>
            <a:ext cx="11183112" cy="539496"/>
          </a:xfrm>
          <a:prstGeom prst="roundRect">
            <a:avLst>
              <a:gd name="adj" fmla="val 10000"/>
            </a:avLst>
          </a:prstGeom>
          <a:solidFill>
            <a:srgbClr val="FFF1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5696712"/>
            <a:ext cx="10844784" cy="384048"/>
          </a:xfrm>
          <a:prstGeom prst="rect">
            <a:avLst/>
          </a:prstGeom>
          <a:noFill/>
        </p:spPr>
        <p:txBody>
          <a:bodyPr wrap="square" lIns="9144" rIns="9144" tIns="9144" bIns="9144">
            <a:spAutoFit/>
          </a:bodyPr>
          <a:lstStyle/>
          <a:p>
            <a:pPr>
              <a:lnSpc>
                <a:spcPct val="104000"/>
              </a:lnSpc>
              <a:spcAft>
                <a:spcPts val="300"/>
              </a:spcAft>
              <a:defRPr sz="1600" b="1">
                <a:solidFill>
                  <a:srgbClr val="A66B16"/>
                </a:solidFill>
                <a:latin typeface="DejaVu Sans"/>
              </a:defRPr>
            </a:pPr>
            <a:r>
              <a:t>Hiện đã có nguyên mẫu; chưa đủ bằng chứng thực nghiệm để kết luận PID cải thiện phát hiện.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0789920" cy="274320"/>
          </a:xfrm>
          <a:prstGeom prst="rect">
            <a:avLst/>
          </a:prstGeom>
          <a:noFill/>
        </p:spPr>
        <p:txBody>
          <a:bodyPr wrap="square" lIns="9144" rIns="9144" tIns="9144" bIns="9144">
            <a:spAutoFit/>
          </a:bodyPr>
          <a:lstStyle/>
          <a:p>
            <a:pPr>
              <a:lnSpc>
                <a:spcPct val="104000"/>
              </a:lnSpc>
              <a:spcAft>
                <a:spcPts val="300"/>
              </a:spcAft>
              <a:defRPr sz="1100" b="1">
                <a:solidFill>
                  <a:srgbClr val="007F7A"/>
                </a:solidFill>
                <a:latin typeface="DejaVu Sans"/>
              </a:defRPr>
            </a:pPr>
            <a:r>
              <a:t>04 / CƠ SỞ THỰC NGHIỆM MỚI</a:t>
            </a:r>
          </a:p>
        </p:txBody>
      </p:sp>
      <p:sp>
        <p:nvSpPr>
          <p:cNvPr id="4" name="TextBox 3"/>
          <p:cNvSpPr txBox="1"/>
          <p:nvPr/>
        </p:nvSpPr>
        <p:spPr>
          <a:xfrm>
            <a:off x="502920" y="722376"/>
            <a:ext cx="11155680" cy="694944"/>
          </a:xfrm>
          <a:prstGeom prst="rect">
            <a:avLst/>
          </a:prstGeom>
          <a:noFill/>
        </p:spPr>
        <p:txBody>
          <a:bodyPr wrap="square" lIns="9144" rIns="9144" tIns="9144" bIns="9144">
            <a:spAutoFit/>
          </a:bodyPr>
          <a:lstStyle/>
          <a:p>
            <a:pPr>
              <a:lnSpc>
                <a:spcPct val="104000"/>
              </a:lnSpc>
              <a:spcAft>
                <a:spcPts val="300"/>
              </a:spcAft>
              <a:defRPr sz="2900" b="1">
                <a:solidFill>
                  <a:srgbClr val="17324D"/>
                </a:solidFill>
                <a:latin typeface="DejaVu Sans"/>
              </a:defRPr>
            </a:pPr>
            <a:r>
              <a:t>Pilot nhỏ, có đối chứng và lưu được dấu vết chạy</a:t>
            </a:r>
          </a:p>
        </p:txBody>
      </p:sp>
      <p:sp>
        <p:nvSpPr>
          <p:cNvPr id="5" name="TextBox 4"/>
          <p:cNvSpPr txBox="1"/>
          <p:nvPr/>
        </p:nvSpPr>
        <p:spPr>
          <a:xfrm>
            <a:off x="502920" y="1490472"/>
            <a:ext cx="11064240" cy="502920"/>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Huấn luyện mới trên CSV hiện có; không dùng mô hình đã huấn luyện sẵn để thay số trong luận văn.</a:t>
            </a:r>
          </a:p>
        </p:txBody>
      </p:sp>
      <p:cxnSp>
        <p:nvCxnSpPr>
          <p:cNvPr id="6" name="Connector 5"/>
          <p:cNvCxnSpPr/>
          <p:nvPr/>
        </p:nvCxnSpPr>
        <p:spPr>
          <a:xfrm>
            <a:off x="502920" y="6382512"/>
            <a:ext cx="11183112" cy="0"/>
          </a:xfrm>
          <a:prstGeom prst="line">
            <a:avLst/>
          </a:prstGeom>
          <a:ln w="12700">
            <a:solidFill>
              <a:srgbClr val="DCE5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744200" cy="210312"/>
          </a:xfrm>
          <a:prstGeom prst="rect">
            <a:avLst/>
          </a:prstGeom>
          <a:noFill/>
        </p:spPr>
        <p:txBody>
          <a:bodyPr wrap="square" lIns="9144" rIns="9144" tIns="9144" bIns="9144">
            <a:spAutoFit/>
          </a:bodyPr>
          <a:lstStyle/>
          <a:p>
            <a:pPr>
              <a:lnSpc>
                <a:spcPct val="104000"/>
              </a:lnSpc>
              <a:spcAft>
                <a:spcPts val="300"/>
              </a:spcAft>
              <a:defRPr sz="900" b="0">
                <a:solidFill>
                  <a:srgbClr val="526779"/>
                </a:solidFill>
                <a:latin typeface="DejaVu Sans"/>
              </a:defRPr>
            </a:pPr>
            <a:r>
              <a:t>Nguồn: data/processed/real_mini_dataset.csv; cấu hình và split được lưu trong thư mục experiments/ của ZIP.</a:t>
            </a:r>
          </a:p>
        </p:txBody>
      </p:sp>
      <p:sp>
        <p:nvSpPr>
          <p:cNvPr id="8" name="TextBox 7"/>
          <p:cNvSpPr txBox="1"/>
          <p:nvPr/>
        </p:nvSpPr>
        <p:spPr>
          <a:xfrm>
            <a:off x="11000232" y="6455664"/>
            <a:ext cx="685800" cy="228600"/>
          </a:xfrm>
          <a:prstGeom prst="rect">
            <a:avLst/>
          </a:prstGeom>
          <a:noFill/>
        </p:spPr>
        <p:txBody>
          <a:bodyPr wrap="square" lIns="9144" rIns="9144" tIns="9144" bIns="9144">
            <a:spAutoFit/>
          </a:bodyPr>
          <a:lstStyle/>
          <a:p>
            <a:pPr>
              <a:lnSpc>
                <a:spcPct val="104000"/>
              </a:lnSpc>
              <a:spcAft>
                <a:spcPts val="300"/>
              </a:spcAft>
              <a:defRPr sz="1000" b="1">
                <a:solidFill>
                  <a:srgbClr val="007F7A"/>
                </a:solidFill>
                <a:latin typeface="DejaVu Sans"/>
              </a:defRPr>
            </a:pPr>
            <a:r>
              <a:t>05 / 17</a:t>
            </a:r>
          </a:p>
        </p:txBody>
      </p:sp>
      <p:sp>
        <p:nvSpPr>
          <p:cNvPr id="9" name="Rounded Rectangle 8"/>
          <p:cNvSpPr/>
          <p:nvPr/>
        </p:nvSpPr>
        <p:spPr>
          <a:xfrm>
            <a:off x="502920" y="2240280"/>
            <a:ext cx="3621024" cy="2487168"/>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2487168"/>
            <a:ext cx="3264408" cy="640080"/>
          </a:xfrm>
          <a:prstGeom prst="rect">
            <a:avLst/>
          </a:prstGeom>
          <a:noFill/>
        </p:spPr>
        <p:txBody>
          <a:bodyPr wrap="square" lIns="9144" rIns="9144" tIns="9144" bIns="9144">
            <a:spAutoFit/>
          </a:bodyPr>
          <a:lstStyle/>
          <a:p>
            <a:pPr>
              <a:lnSpc>
                <a:spcPct val="104000"/>
              </a:lnSpc>
              <a:spcAft>
                <a:spcPts val="300"/>
              </a:spcAft>
              <a:defRPr sz="2700" b="1">
                <a:solidFill>
                  <a:srgbClr val="007F7A"/>
                </a:solidFill>
                <a:latin typeface="DejaVu Sans"/>
              </a:defRPr>
            </a:pPr>
            <a:r>
              <a:t>2.000</a:t>
            </a:r>
          </a:p>
        </p:txBody>
      </p:sp>
      <p:sp>
        <p:nvSpPr>
          <p:cNvPr id="11" name="TextBox 10"/>
          <p:cNvSpPr txBox="1"/>
          <p:nvPr/>
        </p:nvSpPr>
        <p:spPr>
          <a:xfrm>
            <a:off x="676656" y="3337560"/>
            <a:ext cx="3255264" cy="475488"/>
          </a:xfrm>
          <a:prstGeom prst="rect">
            <a:avLst/>
          </a:prstGeom>
          <a:noFill/>
        </p:spPr>
        <p:txBody>
          <a:bodyPr wrap="square" lIns="9144" rIns="9144" tIns="9144" bIns="9144">
            <a:spAutoFit/>
          </a:bodyPr>
          <a:lstStyle/>
          <a:p>
            <a:pPr>
              <a:lnSpc>
                <a:spcPct val="104000"/>
              </a:lnSpc>
              <a:spcAft>
                <a:spcPts val="300"/>
              </a:spcAft>
              <a:defRPr sz="1700" b="1">
                <a:solidFill>
                  <a:srgbClr val="17324D"/>
                </a:solidFill>
                <a:latin typeface="DejaVu Sans"/>
              </a:defRPr>
            </a:pPr>
            <a:r>
              <a:t>Mẫu trong repository</a:t>
            </a:r>
          </a:p>
        </p:txBody>
      </p:sp>
      <p:sp>
        <p:nvSpPr>
          <p:cNvPr id="12" name="TextBox 11"/>
          <p:cNvSpPr txBox="1"/>
          <p:nvPr/>
        </p:nvSpPr>
        <p:spPr>
          <a:xfrm>
            <a:off x="676656" y="3977639"/>
            <a:ext cx="3255264" cy="640080"/>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2.381 đặc trưng</a:t>
            </a:r>
          </a:p>
          <a:p>
            <a:pPr>
              <a:lnSpc>
                <a:spcPct val="104000"/>
              </a:lnSpc>
              <a:spcAft>
                <a:spcPts val="300"/>
              </a:spcAft>
              <a:defRPr sz="1600" b="0">
                <a:solidFill>
                  <a:srgbClr val="526779"/>
                </a:solidFill>
                <a:latin typeface="DejaVu Sans"/>
              </a:defRPr>
            </a:pPr>
            <a:r>
              <a:t>1.500 nhãn 0 / 500 nhãn 1</a:t>
            </a:r>
          </a:p>
        </p:txBody>
      </p:sp>
      <p:sp>
        <p:nvSpPr>
          <p:cNvPr id="13" name="Rounded Rectangle 12"/>
          <p:cNvSpPr/>
          <p:nvPr/>
        </p:nvSpPr>
        <p:spPr>
          <a:xfrm>
            <a:off x="4279392" y="2240280"/>
            <a:ext cx="3621024" cy="2487168"/>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3128" y="2487168"/>
            <a:ext cx="3264408" cy="640080"/>
          </a:xfrm>
          <a:prstGeom prst="rect">
            <a:avLst/>
          </a:prstGeom>
          <a:noFill/>
        </p:spPr>
        <p:txBody>
          <a:bodyPr wrap="square" lIns="9144" rIns="9144" tIns="9144" bIns="9144">
            <a:spAutoFit/>
          </a:bodyPr>
          <a:lstStyle/>
          <a:p>
            <a:pPr>
              <a:lnSpc>
                <a:spcPct val="104000"/>
              </a:lnSpc>
              <a:spcAft>
                <a:spcPts val="300"/>
              </a:spcAft>
              <a:defRPr sz="2650" b="1">
                <a:solidFill>
                  <a:srgbClr val="007F7A"/>
                </a:solidFill>
                <a:latin typeface="DejaVu Sans"/>
              </a:defRPr>
            </a:pPr>
            <a:r>
              <a:t>1.200 / 400 / 400</a:t>
            </a:r>
          </a:p>
        </p:txBody>
      </p:sp>
      <p:sp>
        <p:nvSpPr>
          <p:cNvPr id="15" name="TextBox 14"/>
          <p:cNvSpPr txBox="1"/>
          <p:nvPr/>
        </p:nvSpPr>
        <p:spPr>
          <a:xfrm>
            <a:off x="4453128" y="3337560"/>
            <a:ext cx="3255264" cy="475488"/>
          </a:xfrm>
          <a:prstGeom prst="rect">
            <a:avLst/>
          </a:prstGeom>
          <a:noFill/>
        </p:spPr>
        <p:txBody>
          <a:bodyPr wrap="square" lIns="9144" rIns="9144" tIns="9144" bIns="9144">
            <a:spAutoFit/>
          </a:bodyPr>
          <a:lstStyle/>
          <a:p>
            <a:pPr>
              <a:lnSpc>
                <a:spcPct val="104000"/>
              </a:lnSpc>
              <a:spcAft>
                <a:spcPts val="300"/>
              </a:spcAft>
              <a:defRPr sz="1700" b="1">
                <a:solidFill>
                  <a:srgbClr val="17324D"/>
                </a:solidFill>
                <a:latin typeface="DejaVu Sans"/>
              </a:defRPr>
            </a:pPr>
            <a:r>
              <a:t>Train–pool / Val / Test</a:t>
            </a:r>
          </a:p>
        </p:txBody>
      </p:sp>
      <p:sp>
        <p:nvSpPr>
          <p:cNvPr id="16" name="TextBox 15"/>
          <p:cNvSpPr txBox="1"/>
          <p:nvPr/>
        </p:nvSpPr>
        <p:spPr>
          <a:xfrm>
            <a:off x="4453128" y="3977639"/>
            <a:ext cx="3255264" cy="640080"/>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Split phân tầng cố định</a:t>
            </a:r>
          </a:p>
          <a:p>
            <a:pPr>
              <a:lnSpc>
                <a:spcPct val="104000"/>
              </a:lnSpc>
              <a:spcAft>
                <a:spcPts val="300"/>
              </a:spcAft>
              <a:defRPr sz="1600" b="0">
                <a:solidFill>
                  <a:srgbClr val="526779"/>
                </a:solidFill>
                <a:latin typeface="DejaVu Sans"/>
              </a:defRPr>
            </a:pPr>
            <a:r>
              <a:t>Mọi ngưỡng chọn trên Val</a:t>
            </a:r>
          </a:p>
        </p:txBody>
      </p:sp>
      <p:sp>
        <p:nvSpPr>
          <p:cNvPr id="17" name="Rounded Rectangle 16"/>
          <p:cNvSpPr/>
          <p:nvPr/>
        </p:nvSpPr>
        <p:spPr>
          <a:xfrm>
            <a:off x="8055864" y="2240280"/>
            <a:ext cx="3621024" cy="2487168"/>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2487168"/>
            <a:ext cx="3264408" cy="640080"/>
          </a:xfrm>
          <a:prstGeom prst="rect">
            <a:avLst/>
          </a:prstGeom>
          <a:noFill/>
        </p:spPr>
        <p:txBody>
          <a:bodyPr wrap="square" lIns="9144" rIns="9144" tIns="9144" bIns="9144">
            <a:spAutoFit/>
          </a:bodyPr>
          <a:lstStyle/>
          <a:p>
            <a:pPr>
              <a:lnSpc>
                <a:spcPct val="104000"/>
              </a:lnSpc>
              <a:spcAft>
                <a:spcPts val="300"/>
              </a:spcAft>
              <a:defRPr sz="2700" b="1">
                <a:solidFill>
                  <a:srgbClr val="007F7A"/>
                </a:solidFill>
                <a:latin typeface="DejaVu Sans"/>
              </a:defRPr>
            </a:pPr>
            <a:r>
              <a:t>5 × 5 × 6</a:t>
            </a:r>
          </a:p>
        </p:txBody>
      </p:sp>
      <p:sp>
        <p:nvSpPr>
          <p:cNvPr id="19" name="TextBox 18"/>
          <p:cNvSpPr txBox="1"/>
          <p:nvPr/>
        </p:nvSpPr>
        <p:spPr>
          <a:xfrm>
            <a:off x="8229600" y="3337560"/>
            <a:ext cx="3255264" cy="475488"/>
          </a:xfrm>
          <a:prstGeom prst="rect">
            <a:avLst/>
          </a:prstGeom>
          <a:noFill/>
        </p:spPr>
        <p:txBody>
          <a:bodyPr wrap="square" lIns="9144" rIns="9144" tIns="9144" bIns="9144">
            <a:spAutoFit/>
          </a:bodyPr>
          <a:lstStyle/>
          <a:p>
            <a:pPr>
              <a:lnSpc>
                <a:spcPct val="104000"/>
              </a:lnSpc>
              <a:spcAft>
                <a:spcPts val="300"/>
              </a:spcAft>
              <a:defRPr sz="1700" b="1">
                <a:solidFill>
                  <a:srgbClr val="17324D"/>
                </a:solidFill>
                <a:latin typeface="DejaVu Sans"/>
              </a:defRPr>
            </a:pPr>
            <a:r>
              <a:t>Checkpoint AL</a:t>
            </a:r>
          </a:p>
        </p:txBody>
      </p:sp>
      <p:sp>
        <p:nvSpPr>
          <p:cNvPr id="20" name="TextBox 19"/>
          <p:cNvSpPr txBox="1"/>
          <p:nvPr/>
        </p:nvSpPr>
        <p:spPr>
          <a:xfrm>
            <a:off x="8229600" y="3977639"/>
            <a:ext cx="3255264" cy="640080"/>
          </a:xfrm>
          <a:prstGeom prst="rect">
            <a:avLst/>
          </a:prstGeom>
          <a:noFill/>
        </p:spPr>
        <p:txBody>
          <a:bodyPr wrap="square" lIns="9144" rIns="9144" tIns="9144" bIns="9144">
            <a:spAutoFit/>
          </a:bodyPr>
          <a:lstStyle/>
          <a:p>
            <a:pPr>
              <a:lnSpc>
                <a:spcPct val="104000"/>
              </a:lnSpc>
              <a:spcAft>
                <a:spcPts val="300"/>
              </a:spcAft>
              <a:defRPr sz="1550" b="0">
                <a:solidFill>
                  <a:srgbClr val="526779"/>
                </a:solidFill>
                <a:latin typeface="DejaVu Sans"/>
              </a:defRPr>
            </a:pPr>
            <a:r>
              <a:t>5 chiến lược × 5 seed</a:t>
            </a:r>
          </a:p>
          <a:p>
            <a:pPr>
              <a:lnSpc>
                <a:spcPct val="104000"/>
              </a:lnSpc>
              <a:spcAft>
                <a:spcPts val="300"/>
              </a:spcAft>
              <a:defRPr sz="1550" b="0">
                <a:solidFill>
                  <a:srgbClr val="526779"/>
                </a:solidFill>
                <a:latin typeface="DejaVu Sans"/>
              </a:defRPr>
            </a:pPr>
            <a:r>
              <a:t>6 mức ngân sách: 200–700 nhãn</a:t>
            </a:r>
          </a:p>
        </p:txBody>
      </p:sp>
      <p:sp>
        <p:nvSpPr>
          <p:cNvPr id="21" name="Rounded Rectangle 20"/>
          <p:cNvSpPr/>
          <p:nvPr/>
        </p:nvSpPr>
        <p:spPr>
          <a:xfrm>
            <a:off x="502920" y="4956048"/>
            <a:ext cx="11183112" cy="1060704"/>
          </a:xfrm>
          <a:prstGeom prst="roundRect">
            <a:avLst>
              <a:gd name="adj" fmla="val 10000"/>
            </a:avLst>
          </a:prstGeom>
          <a:solidFill>
            <a:srgbClr val="FFF1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 y="5138928"/>
            <a:ext cx="10780776" cy="777240"/>
          </a:xfrm>
          <a:prstGeom prst="rect">
            <a:avLst/>
          </a:prstGeom>
          <a:noFill/>
        </p:spPr>
        <p:txBody>
          <a:bodyPr wrap="square" lIns="9144" rIns="9144" tIns="9144" bIns="9144">
            <a:spAutoFit/>
          </a:bodyPr>
          <a:lstStyle/>
          <a:p>
            <a:pPr>
              <a:lnSpc>
                <a:spcPct val="104000"/>
              </a:lnSpc>
              <a:spcAft>
                <a:spcPts val="300"/>
              </a:spcAft>
              <a:defRPr sz="1600" b="1">
                <a:solidFill>
                  <a:srgbClr val="A66B16"/>
                </a:solidFill>
                <a:latin typeface="DejaVu Sans"/>
              </a:defRPr>
            </a:pPr>
            <a:r>
              <a:t>Chưa xác minh nguồn và ý nghĩa nhãn ransomware của CSV.</a:t>
            </a:r>
          </a:p>
          <a:p>
            <a:pPr>
              <a:lnSpc>
                <a:spcPct val="104000"/>
              </a:lnSpc>
              <a:spcAft>
                <a:spcPts val="300"/>
              </a:spcAft>
              <a:defRPr sz="1600" b="1">
                <a:solidFill>
                  <a:srgbClr val="A66B16"/>
                </a:solidFill>
                <a:latin typeface="DejaVu Sans"/>
              </a:defRPr>
            </a:pPr>
            <a:r>
              <a:t>Đây là kiểm chứng nội bộ trên vector PE; chưa là đánh giá khái quát theo họ hoặc thời gian.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0789920" cy="274320"/>
          </a:xfrm>
          <a:prstGeom prst="rect">
            <a:avLst/>
          </a:prstGeom>
          <a:noFill/>
        </p:spPr>
        <p:txBody>
          <a:bodyPr wrap="square" lIns="9144" rIns="9144" tIns="9144" bIns="9144">
            <a:spAutoFit/>
          </a:bodyPr>
          <a:lstStyle/>
          <a:p>
            <a:pPr>
              <a:lnSpc>
                <a:spcPct val="104000"/>
              </a:lnSpc>
              <a:spcAft>
                <a:spcPts val="300"/>
              </a:spcAft>
              <a:defRPr sz="1100" b="1">
                <a:solidFill>
                  <a:srgbClr val="007F7A"/>
                </a:solidFill>
                <a:latin typeface="DejaVu Sans"/>
              </a:defRPr>
            </a:pPr>
            <a:r>
              <a:t>05 / ĐÓNG GÓP 2 — XAI-GUIDED AL</a:t>
            </a:r>
          </a:p>
        </p:txBody>
      </p:sp>
      <p:sp>
        <p:nvSpPr>
          <p:cNvPr id="4" name="TextBox 3"/>
          <p:cNvSpPr txBox="1"/>
          <p:nvPr/>
        </p:nvSpPr>
        <p:spPr>
          <a:xfrm>
            <a:off x="502920" y="722376"/>
            <a:ext cx="11155680" cy="694944"/>
          </a:xfrm>
          <a:prstGeom prst="rect">
            <a:avLst/>
          </a:prstGeom>
          <a:noFill/>
        </p:spPr>
        <p:txBody>
          <a:bodyPr wrap="square" lIns="9144" rIns="9144" tIns="9144" bIns="9144">
            <a:spAutoFit/>
          </a:bodyPr>
          <a:lstStyle/>
          <a:p>
            <a:pPr>
              <a:lnSpc>
                <a:spcPct val="104000"/>
              </a:lnSpc>
              <a:spcAft>
                <a:spcPts val="300"/>
              </a:spcAft>
              <a:defRPr sz="2900" b="1">
                <a:solidFill>
                  <a:srgbClr val="17324D"/>
                </a:solidFill>
                <a:latin typeface="DejaVu Sans"/>
              </a:defRPr>
            </a:pPr>
            <a:r>
              <a:t>Dùng cấu trúc giải thích để xếp hạng mẫu cần nhãn</a:t>
            </a:r>
          </a:p>
        </p:txBody>
      </p:sp>
      <p:sp>
        <p:nvSpPr>
          <p:cNvPr id="5" name="TextBox 4"/>
          <p:cNvSpPr txBox="1"/>
          <p:nvPr/>
        </p:nvSpPr>
        <p:spPr>
          <a:xfrm>
            <a:off x="502920" y="1490472"/>
            <a:ext cx="11064240" cy="502920"/>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So với Uncertainty: bổ sung xung đột hướng và độ phân tán đóng góp của đặc trưng.</a:t>
            </a:r>
          </a:p>
        </p:txBody>
      </p:sp>
      <p:cxnSp>
        <p:nvCxnSpPr>
          <p:cNvPr id="6" name="Connector 5"/>
          <p:cNvCxnSpPr/>
          <p:nvPr/>
        </p:nvCxnSpPr>
        <p:spPr>
          <a:xfrm>
            <a:off x="502920" y="6382512"/>
            <a:ext cx="11183112" cy="0"/>
          </a:xfrm>
          <a:prstGeom prst="line">
            <a:avLst/>
          </a:prstGeom>
          <a:ln w="12700">
            <a:solidFill>
              <a:srgbClr val="DCE5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744200" cy="210312"/>
          </a:xfrm>
          <a:prstGeom prst="rect">
            <a:avLst/>
          </a:prstGeom>
          <a:noFill/>
        </p:spPr>
        <p:txBody>
          <a:bodyPr wrap="square" lIns="9144" rIns="9144" tIns="9144" bIns="9144">
            <a:spAutoFit/>
          </a:bodyPr>
          <a:lstStyle/>
          <a:p>
            <a:pPr>
              <a:lnSpc>
                <a:spcPct val="104000"/>
              </a:lnSpc>
              <a:spcAft>
                <a:spcPts val="300"/>
              </a:spcAft>
              <a:defRPr sz="900" b="0">
                <a:solidFill>
                  <a:srgbClr val="526779"/>
                </a:solidFill>
                <a:latin typeface="DejaVu Sans"/>
              </a:defRPr>
            </a:pPr>
            <a:r>
              <a:t>Nguồn: luuvan.pdf §3.3, Bảng 4.10; pilot_al/run_pilot.py. SHAP được tính lại bằng mô hình của từng vòng.</a:t>
            </a:r>
          </a:p>
        </p:txBody>
      </p:sp>
      <p:sp>
        <p:nvSpPr>
          <p:cNvPr id="8" name="TextBox 7"/>
          <p:cNvSpPr txBox="1"/>
          <p:nvPr/>
        </p:nvSpPr>
        <p:spPr>
          <a:xfrm>
            <a:off x="11000232" y="6455664"/>
            <a:ext cx="685800" cy="228600"/>
          </a:xfrm>
          <a:prstGeom prst="rect">
            <a:avLst/>
          </a:prstGeom>
          <a:noFill/>
        </p:spPr>
        <p:txBody>
          <a:bodyPr wrap="square" lIns="9144" rIns="9144" tIns="9144" bIns="9144">
            <a:spAutoFit/>
          </a:bodyPr>
          <a:lstStyle/>
          <a:p>
            <a:pPr>
              <a:lnSpc>
                <a:spcPct val="104000"/>
              </a:lnSpc>
              <a:spcAft>
                <a:spcPts val="300"/>
              </a:spcAft>
              <a:defRPr sz="1000" b="1">
                <a:solidFill>
                  <a:srgbClr val="007F7A"/>
                </a:solidFill>
                <a:latin typeface="DejaVu Sans"/>
              </a:defRPr>
            </a:pPr>
            <a:r>
              <a:t>06 / 17</a:t>
            </a:r>
          </a:p>
        </p:txBody>
      </p:sp>
      <p:sp>
        <p:nvSpPr>
          <p:cNvPr id="9" name="Rounded Rectangle 8"/>
          <p:cNvSpPr/>
          <p:nvPr/>
        </p:nvSpPr>
        <p:spPr>
          <a:xfrm>
            <a:off x="502920" y="2185416"/>
            <a:ext cx="3621024" cy="2276856"/>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2432304"/>
            <a:ext cx="3246120" cy="438912"/>
          </a:xfrm>
          <a:prstGeom prst="rect">
            <a:avLst/>
          </a:prstGeom>
          <a:noFill/>
        </p:spPr>
        <p:txBody>
          <a:bodyPr wrap="square" lIns="9144" rIns="9144" tIns="9144" bIns="9144">
            <a:spAutoFit/>
          </a:bodyPr>
          <a:lstStyle/>
          <a:p>
            <a:pPr>
              <a:lnSpc>
                <a:spcPct val="104000"/>
              </a:lnSpc>
              <a:spcAft>
                <a:spcPts val="300"/>
              </a:spcAft>
              <a:defRPr sz="2200" b="1">
                <a:solidFill>
                  <a:srgbClr val="007F7A"/>
                </a:solidFill>
                <a:latin typeface="DejaVu Sans"/>
              </a:defRPr>
            </a:pPr>
            <a:r>
              <a:t>U — bất định</a:t>
            </a:r>
          </a:p>
        </p:txBody>
      </p:sp>
      <p:sp>
        <p:nvSpPr>
          <p:cNvPr id="11" name="TextBox 10"/>
          <p:cNvSpPr txBox="1"/>
          <p:nvPr/>
        </p:nvSpPr>
        <p:spPr>
          <a:xfrm>
            <a:off x="676656" y="3090672"/>
            <a:ext cx="3255264" cy="594360"/>
          </a:xfrm>
          <a:prstGeom prst="rect">
            <a:avLst/>
          </a:prstGeom>
          <a:noFill/>
        </p:spPr>
        <p:txBody>
          <a:bodyPr wrap="square" lIns="9144" rIns="9144" tIns="9144" bIns="9144">
            <a:spAutoFit/>
          </a:bodyPr>
          <a:lstStyle/>
          <a:p>
            <a:pPr>
              <a:lnSpc>
                <a:spcPct val="104000"/>
              </a:lnSpc>
              <a:spcAft>
                <a:spcPts val="300"/>
              </a:spcAft>
              <a:defRPr sz="1900" b="1">
                <a:solidFill>
                  <a:srgbClr val="17324D"/>
                </a:solidFill>
                <a:latin typeface="DejaVu Sans"/>
              </a:defRPr>
            </a:pPr>
            <a:r>
              <a:t>U = 1 − 2|p − 0,5|</a:t>
            </a:r>
          </a:p>
        </p:txBody>
      </p:sp>
      <p:sp>
        <p:nvSpPr>
          <p:cNvPr id="12" name="TextBox 11"/>
          <p:cNvSpPr txBox="1"/>
          <p:nvPr/>
        </p:nvSpPr>
        <p:spPr>
          <a:xfrm>
            <a:off x="676656" y="3895344"/>
            <a:ext cx="3255264" cy="365760"/>
          </a:xfrm>
          <a:prstGeom prst="rect">
            <a:avLst/>
          </a:prstGeom>
          <a:noFill/>
        </p:spPr>
        <p:txBody>
          <a:bodyPr wrap="square" lIns="9144" rIns="9144" tIns="9144" bIns="9144">
            <a:spAutoFit/>
          </a:bodyPr>
          <a:lstStyle/>
          <a:p>
            <a:pPr>
              <a:lnSpc>
                <a:spcPct val="104000"/>
              </a:lnSpc>
              <a:spcAft>
                <a:spcPts val="300"/>
              </a:spcAft>
              <a:defRPr sz="1500" b="0">
                <a:solidFill>
                  <a:srgbClr val="526779"/>
                </a:solidFill>
                <a:latin typeface="DejaVu Sans"/>
              </a:defRPr>
            </a:pPr>
            <a:r>
              <a:t>Mẫu gần ranh giới dự đoán</a:t>
            </a:r>
          </a:p>
        </p:txBody>
      </p:sp>
      <p:sp>
        <p:nvSpPr>
          <p:cNvPr id="13" name="Rounded Rectangle 12"/>
          <p:cNvSpPr/>
          <p:nvPr/>
        </p:nvSpPr>
        <p:spPr>
          <a:xfrm>
            <a:off x="4279392" y="2185416"/>
            <a:ext cx="3621024" cy="2276856"/>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3128" y="2432304"/>
            <a:ext cx="3246120" cy="438912"/>
          </a:xfrm>
          <a:prstGeom prst="rect">
            <a:avLst/>
          </a:prstGeom>
          <a:noFill/>
        </p:spPr>
        <p:txBody>
          <a:bodyPr wrap="square" lIns="9144" rIns="9144" tIns="9144" bIns="9144">
            <a:spAutoFit/>
          </a:bodyPr>
          <a:lstStyle/>
          <a:p>
            <a:pPr>
              <a:lnSpc>
                <a:spcPct val="104000"/>
              </a:lnSpc>
              <a:spcAft>
                <a:spcPts val="300"/>
              </a:spcAft>
              <a:defRPr sz="2200" b="1">
                <a:solidFill>
                  <a:srgbClr val="007F7A"/>
                </a:solidFill>
                <a:latin typeface="DejaVu Sans"/>
              </a:defRPr>
            </a:pPr>
            <a:r>
              <a:t>H — hướng SHAP</a:t>
            </a:r>
          </a:p>
        </p:txBody>
      </p:sp>
      <p:sp>
        <p:nvSpPr>
          <p:cNvPr id="15" name="TextBox 14"/>
          <p:cNvSpPr txBox="1"/>
          <p:nvPr/>
        </p:nvSpPr>
        <p:spPr>
          <a:xfrm>
            <a:off x="4453128" y="3090672"/>
            <a:ext cx="3255264" cy="594360"/>
          </a:xfrm>
          <a:prstGeom prst="rect">
            <a:avLst/>
          </a:prstGeom>
          <a:noFill/>
        </p:spPr>
        <p:txBody>
          <a:bodyPr wrap="square" lIns="9144" rIns="9144" tIns="9144" bIns="9144">
            <a:spAutoFit/>
          </a:bodyPr>
          <a:lstStyle/>
          <a:p>
            <a:pPr>
              <a:lnSpc>
                <a:spcPct val="104000"/>
              </a:lnSpc>
              <a:spcAft>
                <a:spcPts val="300"/>
              </a:spcAft>
              <a:defRPr sz="1800" b="1">
                <a:solidFill>
                  <a:srgbClr val="17324D"/>
                </a:solidFill>
                <a:latin typeface="DejaVu Sans"/>
              </a:defRPr>
            </a:pPr>
            <a:r>
              <a:t>H = −q₊log₂q₊ − q₋log₂q₋</a:t>
            </a:r>
          </a:p>
        </p:txBody>
      </p:sp>
      <p:sp>
        <p:nvSpPr>
          <p:cNvPr id="16" name="TextBox 15"/>
          <p:cNvSpPr txBox="1"/>
          <p:nvPr/>
        </p:nvSpPr>
        <p:spPr>
          <a:xfrm>
            <a:off x="4453128" y="3895344"/>
            <a:ext cx="3255264" cy="365760"/>
          </a:xfrm>
          <a:prstGeom prst="rect">
            <a:avLst/>
          </a:prstGeom>
          <a:noFill/>
        </p:spPr>
        <p:txBody>
          <a:bodyPr wrap="square" lIns="9144" rIns="9144" tIns="9144" bIns="9144">
            <a:spAutoFit/>
          </a:bodyPr>
          <a:lstStyle/>
          <a:p>
            <a:pPr>
              <a:lnSpc>
                <a:spcPct val="104000"/>
              </a:lnSpc>
              <a:spcAft>
                <a:spcPts val="300"/>
              </a:spcAft>
              <a:defRPr sz="1500" b="0">
                <a:solidFill>
                  <a:srgbClr val="526779"/>
                </a:solidFill>
                <a:latin typeface="DejaVu Sans"/>
              </a:defRPr>
            </a:pPr>
            <a:r>
              <a:t>Hai hướng đóng góp cùng mạnh</a:t>
            </a:r>
          </a:p>
        </p:txBody>
      </p:sp>
      <p:sp>
        <p:nvSpPr>
          <p:cNvPr id="17" name="Rounded Rectangle 16"/>
          <p:cNvSpPr/>
          <p:nvPr/>
        </p:nvSpPr>
        <p:spPr>
          <a:xfrm>
            <a:off x="8055864" y="2185416"/>
            <a:ext cx="3621024" cy="2276856"/>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2432304"/>
            <a:ext cx="3246120" cy="438912"/>
          </a:xfrm>
          <a:prstGeom prst="rect">
            <a:avLst/>
          </a:prstGeom>
          <a:noFill/>
        </p:spPr>
        <p:txBody>
          <a:bodyPr wrap="square" lIns="9144" rIns="9144" tIns="9144" bIns="9144">
            <a:spAutoFit/>
          </a:bodyPr>
          <a:lstStyle/>
          <a:p>
            <a:pPr>
              <a:lnSpc>
                <a:spcPct val="104000"/>
              </a:lnSpc>
              <a:spcAft>
                <a:spcPts val="300"/>
              </a:spcAft>
              <a:defRPr sz="2200" b="1">
                <a:solidFill>
                  <a:srgbClr val="007F7A"/>
                </a:solidFill>
                <a:latin typeface="DejaVu Sans"/>
              </a:defRPr>
            </a:pPr>
            <a:r>
              <a:t>V — phương sai</a:t>
            </a:r>
          </a:p>
        </p:txBody>
      </p:sp>
      <p:sp>
        <p:nvSpPr>
          <p:cNvPr id="19" name="TextBox 18"/>
          <p:cNvSpPr txBox="1"/>
          <p:nvPr/>
        </p:nvSpPr>
        <p:spPr>
          <a:xfrm>
            <a:off x="8229600" y="3090672"/>
            <a:ext cx="3255264" cy="594360"/>
          </a:xfrm>
          <a:prstGeom prst="rect">
            <a:avLst/>
          </a:prstGeom>
          <a:noFill/>
        </p:spPr>
        <p:txBody>
          <a:bodyPr wrap="square" lIns="9144" rIns="9144" tIns="9144" bIns="9144">
            <a:spAutoFit/>
          </a:bodyPr>
          <a:lstStyle/>
          <a:p>
            <a:pPr>
              <a:lnSpc>
                <a:spcPct val="104000"/>
              </a:lnSpc>
              <a:spcAft>
                <a:spcPts val="300"/>
              </a:spcAft>
              <a:defRPr sz="1900" b="1">
                <a:solidFill>
                  <a:srgbClr val="17324D"/>
                </a:solidFill>
                <a:latin typeface="DejaVu Sans"/>
              </a:defRPr>
            </a:pPr>
            <a:r>
              <a:t>V = Var(φ₁,…,φ_d)</a:t>
            </a:r>
          </a:p>
        </p:txBody>
      </p:sp>
      <p:sp>
        <p:nvSpPr>
          <p:cNvPr id="20" name="TextBox 19"/>
          <p:cNvSpPr txBox="1"/>
          <p:nvPr/>
        </p:nvSpPr>
        <p:spPr>
          <a:xfrm>
            <a:off x="8229600" y="3895344"/>
            <a:ext cx="3255264" cy="365760"/>
          </a:xfrm>
          <a:prstGeom prst="rect">
            <a:avLst/>
          </a:prstGeom>
          <a:noFill/>
        </p:spPr>
        <p:txBody>
          <a:bodyPr wrap="square" lIns="9144" rIns="9144" tIns="9144" bIns="9144">
            <a:spAutoFit/>
          </a:bodyPr>
          <a:lstStyle/>
          <a:p>
            <a:pPr>
              <a:lnSpc>
                <a:spcPct val="104000"/>
              </a:lnSpc>
              <a:spcAft>
                <a:spcPts val="300"/>
              </a:spcAft>
              <a:defRPr sz="1500" b="0">
                <a:solidFill>
                  <a:srgbClr val="526779"/>
                </a:solidFill>
                <a:latin typeface="DejaVu Sans"/>
              </a:defRPr>
            </a:pPr>
            <a:r>
              <a:t>Đóng góp phân tán không đều</a:t>
            </a:r>
          </a:p>
        </p:txBody>
      </p:sp>
      <p:sp>
        <p:nvSpPr>
          <p:cNvPr id="21" name="Rounded Rectangle 20"/>
          <p:cNvSpPr/>
          <p:nvPr/>
        </p:nvSpPr>
        <p:spPr>
          <a:xfrm>
            <a:off x="502920" y="4663440"/>
            <a:ext cx="11183112" cy="777240"/>
          </a:xfrm>
          <a:prstGeom prst="roundRect">
            <a:avLst>
              <a:gd name="adj" fmla="val 10000"/>
            </a:avLst>
          </a:prstGeom>
          <a:solidFill>
            <a:srgbClr val="E4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 y="4855464"/>
            <a:ext cx="10698480" cy="420624"/>
          </a:xfrm>
          <a:prstGeom prst="rect">
            <a:avLst/>
          </a:prstGeom>
          <a:noFill/>
        </p:spPr>
        <p:txBody>
          <a:bodyPr wrap="square" lIns="9144" rIns="9144" tIns="9144" bIns="9144">
            <a:spAutoFit/>
          </a:bodyPr>
          <a:lstStyle/>
          <a:p>
            <a:pPr>
              <a:lnSpc>
                <a:spcPct val="104000"/>
              </a:lnSpc>
              <a:spcAft>
                <a:spcPts val="300"/>
              </a:spcAft>
              <a:defRPr sz="2200" b="1">
                <a:solidFill>
                  <a:srgbClr val="007F7A"/>
                </a:solidFill>
                <a:latin typeface="DejaVu Sans"/>
              </a:defRPr>
            </a:pPr>
            <a:r>
              <a:t>S = 0,3Û + 0,4Ĥ + 0,3V̂    |    Min–max trên pool hiện tại</a:t>
            </a:r>
          </a:p>
        </p:txBody>
      </p:sp>
      <p:sp>
        <p:nvSpPr>
          <p:cNvPr id="23" name="TextBox 22"/>
          <p:cNvSpPr txBox="1"/>
          <p:nvPr/>
        </p:nvSpPr>
        <p:spPr>
          <a:xfrm>
            <a:off x="548640" y="5650992"/>
            <a:ext cx="11064240" cy="457200"/>
          </a:xfrm>
          <a:prstGeom prst="rect">
            <a:avLst/>
          </a:prstGeom>
          <a:noFill/>
        </p:spPr>
        <p:txBody>
          <a:bodyPr wrap="square" lIns="9144" rIns="9144" tIns="9144" bIns="9144">
            <a:spAutoFit/>
          </a:bodyPr>
          <a:lstStyle/>
          <a:p>
            <a:pPr>
              <a:lnSpc>
                <a:spcPct val="104000"/>
              </a:lnSpc>
              <a:spcAft>
                <a:spcPts val="300"/>
              </a:spcAft>
              <a:defRPr sz="1700" b="1">
                <a:solidFill>
                  <a:srgbClr val="17324D"/>
                </a:solidFill>
                <a:latin typeface="DejaVu Sans"/>
              </a:defRPr>
            </a:pPr>
            <a:r>
              <a:t>Ablation: Random • U • U+H • U+V • XAI đầy đủ — cùng số nhãn và cùng lịch học lại.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0789920" cy="274320"/>
          </a:xfrm>
          <a:prstGeom prst="rect">
            <a:avLst/>
          </a:prstGeom>
          <a:noFill/>
        </p:spPr>
        <p:txBody>
          <a:bodyPr wrap="square" lIns="9144" rIns="9144" tIns="9144" bIns="9144">
            <a:spAutoFit/>
          </a:bodyPr>
          <a:lstStyle/>
          <a:p>
            <a:pPr>
              <a:lnSpc>
                <a:spcPct val="104000"/>
              </a:lnSpc>
              <a:spcAft>
                <a:spcPts val="300"/>
              </a:spcAft>
              <a:defRPr sz="1100" b="1">
                <a:solidFill>
                  <a:srgbClr val="007F7A"/>
                </a:solidFill>
                <a:latin typeface="DejaVu Sans"/>
              </a:defRPr>
            </a:pPr>
            <a:r>
              <a:t>06 / KẾT QUẢ AL — ĐÃ CHẠY</a:t>
            </a:r>
          </a:p>
        </p:txBody>
      </p:sp>
      <p:sp>
        <p:nvSpPr>
          <p:cNvPr id="4" name="TextBox 3"/>
          <p:cNvSpPr txBox="1"/>
          <p:nvPr/>
        </p:nvSpPr>
        <p:spPr>
          <a:xfrm>
            <a:off x="502920" y="722376"/>
            <a:ext cx="11155680" cy="694944"/>
          </a:xfrm>
          <a:prstGeom prst="rect">
            <a:avLst/>
          </a:prstGeom>
          <a:noFill/>
        </p:spPr>
        <p:txBody>
          <a:bodyPr wrap="square" lIns="9144" rIns="9144" tIns="9144" bIns="9144">
            <a:spAutoFit/>
          </a:bodyPr>
          <a:lstStyle/>
          <a:p>
            <a:pPr>
              <a:lnSpc>
                <a:spcPct val="104000"/>
              </a:lnSpc>
              <a:spcAft>
                <a:spcPts val="300"/>
              </a:spcAft>
              <a:defRPr sz="2700" b="1">
                <a:solidFill>
                  <a:srgbClr val="17324D"/>
                </a:solidFill>
                <a:latin typeface="DejaVu Sans"/>
              </a:defRPr>
            </a:pPr>
            <a:r>
              <a:t>Cùng 700 nhãn: XAI vượt Uncertainty về AUC ở cả 5 seed</a:t>
            </a:r>
          </a:p>
        </p:txBody>
      </p:sp>
      <p:sp>
        <p:nvSpPr>
          <p:cNvPr id="5" name="TextBox 4"/>
          <p:cNvSpPr txBox="1"/>
          <p:nvPr/>
        </p:nvSpPr>
        <p:spPr>
          <a:xfrm>
            <a:off x="502920" y="1490472"/>
            <a:ext cx="11064240" cy="502920"/>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Trung bình ± độ lệch chuẩn qua 5 seed, dùng chung một tập test cố định.</a:t>
            </a:r>
          </a:p>
        </p:txBody>
      </p:sp>
      <p:cxnSp>
        <p:nvCxnSpPr>
          <p:cNvPr id="6" name="Connector 5"/>
          <p:cNvCxnSpPr/>
          <p:nvPr/>
        </p:nvCxnSpPr>
        <p:spPr>
          <a:xfrm>
            <a:off x="502920" y="6382512"/>
            <a:ext cx="11183112" cy="0"/>
          </a:xfrm>
          <a:prstGeom prst="line">
            <a:avLst/>
          </a:prstGeom>
          <a:ln w="12700">
            <a:solidFill>
              <a:srgbClr val="DCE5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744200" cy="210312"/>
          </a:xfrm>
          <a:prstGeom prst="rect">
            <a:avLst/>
          </a:prstGeom>
          <a:noFill/>
        </p:spPr>
        <p:txBody>
          <a:bodyPr wrap="square" lIns="9144" rIns="9144" tIns="9144" bIns="9144">
            <a:spAutoFit/>
          </a:bodyPr>
          <a:lstStyle/>
          <a:p>
            <a:pPr>
              <a:lnSpc>
                <a:spcPct val="104000"/>
              </a:lnSpc>
              <a:spcAft>
                <a:spcPts val="300"/>
              </a:spcAft>
              <a:defRPr sz="900" b="0">
                <a:solidFill>
                  <a:srgbClr val="526779"/>
                </a:solidFill>
                <a:latin typeface="DejaVu Sans"/>
              </a:defRPr>
            </a:pPr>
            <a:r>
              <a:t>Nguồn: experiments/pilot_al/summary.json, metrics.csv và predictions.csv.gz; pilot, chưa xác minh nguồn CSV.</a:t>
            </a:r>
          </a:p>
        </p:txBody>
      </p:sp>
      <p:sp>
        <p:nvSpPr>
          <p:cNvPr id="8" name="TextBox 7"/>
          <p:cNvSpPr txBox="1"/>
          <p:nvPr/>
        </p:nvSpPr>
        <p:spPr>
          <a:xfrm>
            <a:off x="11000232" y="6455664"/>
            <a:ext cx="685800" cy="228600"/>
          </a:xfrm>
          <a:prstGeom prst="rect">
            <a:avLst/>
          </a:prstGeom>
          <a:noFill/>
        </p:spPr>
        <p:txBody>
          <a:bodyPr wrap="square" lIns="9144" rIns="9144" tIns="9144" bIns="9144">
            <a:spAutoFit/>
          </a:bodyPr>
          <a:lstStyle/>
          <a:p>
            <a:pPr>
              <a:lnSpc>
                <a:spcPct val="104000"/>
              </a:lnSpc>
              <a:spcAft>
                <a:spcPts val="300"/>
              </a:spcAft>
              <a:defRPr sz="1000" b="1">
                <a:solidFill>
                  <a:srgbClr val="007F7A"/>
                </a:solidFill>
                <a:latin typeface="DejaVu Sans"/>
              </a:defRPr>
            </a:pPr>
            <a:r>
              <a:t>07 / 17</a:t>
            </a:r>
          </a:p>
        </p:txBody>
      </p:sp>
      <p:sp>
        <p:nvSpPr>
          <p:cNvPr id="9" name="Rounded Rectangle 8"/>
          <p:cNvSpPr/>
          <p:nvPr/>
        </p:nvSpPr>
        <p:spPr>
          <a:xfrm>
            <a:off x="502920" y="2112264"/>
            <a:ext cx="6885432" cy="3575304"/>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_curve.png"/>
          <p:cNvPicPr>
            <a:picLocks noChangeAspect="1"/>
          </p:cNvPicPr>
          <p:nvPr/>
        </p:nvPicPr>
        <p:blipFill>
          <a:blip r:embed="rId2"/>
          <a:stretch>
            <a:fillRect/>
          </a:stretch>
        </p:blipFill>
        <p:spPr>
          <a:xfrm>
            <a:off x="630936" y="2249424"/>
            <a:ext cx="6565392" cy="3326465"/>
          </a:xfrm>
          <a:prstGeom prst="rect">
            <a:avLst/>
          </a:prstGeom>
        </p:spPr>
      </p:pic>
      <p:sp>
        <p:nvSpPr>
          <p:cNvPr id="11" name="Rounded Rectangle 10"/>
          <p:cNvSpPr/>
          <p:nvPr/>
        </p:nvSpPr>
        <p:spPr>
          <a:xfrm>
            <a:off x="7598664" y="2112264"/>
            <a:ext cx="4087368" cy="3575304"/>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08975" y="2359152"/>
            <a:ext cx="3675887" cy="320040"/>
          </a:xfrm>
          <a:prstGeom prst="rect">
            <a:avLst/>
          </a:prstGeom>
          <a:noFill/>
        </p:spPr>
        <p:txBody>
          <a:bodyPr wrap="square" lIns="9144" rIns="9144" tIns="9144" bIns="9144">
            <a:spAutoFit/>
          </a:bodyPr>
          <a:lstStyle/>
          <a:p>
            <a:pPr>
              <a:lnSpc>
                <a:spcPct val="104000"/>
              </a:lnSpc>
              <a:spcAft>
                <a:spcPts val="300"/>
              </a:spcAft>
              <a:defRPr sz="1300" b="1">
                <a:solidFill>
                  <a:srgbClr val="007F7A"/>
                </a:solidFill>
                <a:latin typeface="DejaVu Sans"/>
              </a:defRPr>
            </a:pPr>
            <a:r>
              <a:t>ROC-AUC TẠI 700 NHÃN</a:t>
            </a:r>
          </a:p>
        </p:txBody>
      </p:sp>
      <p:sp>
        <p:nvSpPr>
          <p:cNvPr id="13" name="TextBox 12"/>
          <p:cNvSpPr txBox="1"/>
          <p:nvPr/>
        </p:nvSpPr>
        <p:spPr>
          <a:xfrm>
            <a:off x="7808975" y="2862072"/>
            <a:ext cx="3675887" cy="640080"/>
          </a:xfrm>
          <a:prstGeom prst="rect">
            <a:avLst/>
          </a:prstGeom>
          <a:noFill/>
        </p:spPr>
        <p:txBody>
          <a:bodyPr wrap="square" lIns="9144" rIns="9144" tIns="9144" bIns="9144">
            <a:spAutoFit/>
          </a:bodyPr>
          <a:lstStyle/>
          <a:p>
            <a:pPr>
              <a:lnSpc>
                <a:spcPct val="104000"/>
              </a:lnSpc>
              <a:spcAft>
                <a:spcPts val="300"/>
              </a:spcAft>
              <a:defRPr sz="2600" b="1">
                <a:solidFill>
                  <a:srgbClr val="007F7A"/>
                </a:solidFill>
                <a:latin typeface="DejaVu Sans"/>
              </a:defRPr>
            </a:pPr>
            <a:r>
              <a:t>0,9749 ± 0,0040</a:t>
            </a:r>
          </a:p>
        </p:txBody>
      </p:sp>
      <p:sp>
        <p:nvSpPr>
          <p:cNvPr id="14" name="TextBox 13"/>
          <p:cNvSpPr txBox="1"/>
          <p:nvPr/>
        </p:nvSpPr>
        <p:spPr>
          <a:xfrm>
            <a:off x="7808975" y="3493008"/>
            <a:ext cx="3675887" cy="365760"/>
          </a:xfrm>
          <a:prstGeom prst="rect">
            <a:avLst/>
          </a:prstGeom>
          <a:noFill/>
        </p:spPr>
        <p:txBody>
          <a:bodyPr wrap="square" lIns="9144" rIns="9144" tIns="9144" bIns="9144">
            <a:spAutoFit/>
          </a:bodyPr>
          <a:lstStyle/>
          <a:p>
            <a:pPr>
              <a:lnSpc>
                <a:spcPct val="104000"/>
              </a:lnSpc>
              <a:spcAft>
                <a:spcPts val="300"/>
              </a:spcAft>
              <a:defRPr sz="1700" b="1">
                <a:solidFill>
                  <a:srgbClr val="17324D"/>
                </a:solidFill>
                <a:latin typeface="DejaVu Sans"/>
              </a:defRPr>
            </a:pPr>
            <a:r>
              <a:t>XAI đầy đủ</a:t>
            </a:r>
          </a:p>
        </p:txBody>
      </p:sp>
      <p:sp>
        <p:nvSpPr>
          <p:cNvPr id="15" name="TextBox 14"/>
          <p:cNvSpPr txBox="1"/>
          <p:nvPr/>
        </p:nvSpPr>
        <p:spPr>
          <a:xfrm>
            <a:off x="7808975" y="4005072"/>
            <a:ext cx="3675887" cy="621792"/>
          </a:xfrm>
          <a:prstGeom prst="rect">
            <a:avLst/>
          </a:prstGeom>
          <a:noFill/>
        </p:spPr>
        <p:txBody>
          <a:bodyPr wrap="square" lIns="9144" rIns="9144" tIns="9144" bIns="9144">
            <a:spAutoFit/>
          </a:bodyPr>
          <a:lstStyle/>
          <a:p>
            <a:pPr>
              <a:lnSpc>
                <a:spcPct val="104000"/>
              </a:lnSpc>
              <a:spcAft>
                <a:spcPts val="300"/>
              </a:spcAft>
              <a:defRPr sz="2400" b="1">
                <a:solidFill>
                  <a:srgbClr val="17324D"/>
                </a:solidFill>
                <a:latin typeface="DejaVu Sans"/>
              </a:defRPr>
            </a:pPr>
            <a:r>
              <a:t>0,9691 ± 0,0046</a:t>
            </a:r>
          </a:p>
        </p:txBody>
      </p:sp>
      <p:sp>
        <p:nvSpPr>
          <p:cNvPr id="16" name="TextBox 15"/>
          <p:cNvSpPr txBox="1"/>
          <p:nvPr/>
        </p:nvSpPr>
        <p:spPr>
          <a:xfrm>
            <a:off x="7808975" y="4626864"/>
            <a:ext cx="3675887" cy="356616"/>
          </a:xfrm>
          <a:prstGeom prst="rect">
            <a:avLst/>
          </a:prstGeom>
          <a:noFill/>
        </p:spPr>
        <p:txBody>
          <a:bodyPr wrap="square" lIns="9144" rIns="9144" tIns="9144" bIns="9144">
            <a:spAutoFit/>
          </a:bodyPr>
          <a:lstStyle/>
          <a:p>
            <a:pPr>
              <a:lnSpc>
                <a:spcPct val="104000"/>
              </a:lnSpc>
              <a:spcAft>
                <a:spcPts val="300"/>
              </a:spcAft>
              <a:defRPr sz="1700" b="1">
                <a:solidFill>
                  <a:srgbClr val="17324D"/>
                </a:solidFill>
                <a:latin typeface="DejaVu Sans"/>
              </a:defRPr>
            </a:pPr>
            <a:r>
              <a:t>Uncertainty</a:t>
            </a:r>
          </a:p>
        </p:txBody>
      </p:sp>
      <p:sp>
        <p:nvSpPr>
          <p:cNvPr id="17" name="TextBox 16"/>
          <p:cNvSpPr txBox="1"/>
          <p:nvPr/>
        </p:nvSpPr>
        <p:spPr>
          <a:xfrm>
            <a:off x="7808975" y="5157216"/>
            <a:ext cx="3675887" cy="329184"/>
          </a:xfrm>
          <a:prstGeom prst="rect">
            <a:avLst/>
          </a:prstGeom>
          <a:noFill/>
        </p:spPr>
        <p:txBody>
          <a:bodyPr wrap="square" lIns="9144" rIns="9144" tIns="9144" bIns="9144">
            <a:spAutoFit/>
          </a:bodyPr>
          <a:lstStyle/>
          <a:p>
            <a:pPr>
              <a:lnSpc>
                <a:spcPct val="104000"/>
              </a:lnSpc>
              <a:spcAft>
                <a:spcPts val="300"/>
              </a:spcAft>
              <a:defRPr sz="1600" b="1">
                <a:solidFill>
                  <a:srgbClr val="007F7A"/>
                </a:solidFill>
                <a:latin typeface="DejaVu Sans"/>
              </a:defRPr>
            </a:pPr>
            <a:r>
              <a:t>Δ AUC ghép cặp: +0,0058</a:t>
            </a:r>
          </a:p>
        </p:txBody>
      </p:sp>
      <p:sp>
        <p:nvSpPr>
          <p:cNvPr id="18" name="TextBox 17"/>
          <p:cNvSpPr txBox="1"/>
          <p:nvPr/>
        </p:nvSpPr>
        <p:spPr>
          <a:xfrm>
            <a:off x="557784" y="5879592"/>
            <a:ext cx="10972800" cy="338328"/>
          </a:xfrm>
          <a:prstGeom prst="rect">
            <a:avLst/>
          </a:prstGeom>
          <a:noFill/>
        </p:spPr>
        <p:txBody>
          <a:bodyPr wrap="square" lIns="9144" rIns="9144" tIns="9144" bIns="9144">
            <a:spAutoFit/>
          </a:bodyPr>
          <a:lstStyle/>
          <a:p>
            <a:pPr>
              <a:lnSpc>
                <a:spcPct val="104000"/>
              </a:lnSpc>
              <a:spcAft>
                <a:spcPts val="300"/>
              </a:spcAft>
              <a:defRPr sz="1400" b="1">
                <a:solidFill>
                  <a:srgbClr val="17324D"/>
                </a:solidFill>
                <a:latin typeface="DejaVu Sans"/>
              </a:defRPr>
            </a:pPr>
            <a:r>
              <a:t>Kết quả ủng hộ điểm chọn mẫu trong pilot; chưa suy ra tiết kiệm nhãn hay hiệu quả trên ransomware mới.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0789920" cy="274320"/>
          </a:xfrm>
          <a:prstGeom prst="rect">
            <a:avLst/>
          </a:prstGeom>
          <a:noFill/>
        </p:spPr>
        <p:txBody>
          <a:bodyPr wrap="square" lIns="9144" rIns="9144" tIns="9144" bIns="9144">
            <a:spAutoFit/>
          </a:bodyPr>
          <a:lstStyle/>
          <a:p>
            <a:pPr>
              <a:lnSpc>
                <a:spcPct val="104000"/>
              </a:lnSpc>
              <a:spcAft>
                <a:spcPts val="300"/>
              </a:spcAft>
              <a:defRPr sz="1100" b="1">
                <a:solidFill>
                  <a:srgbClr val="007F7A"/>
                </a:solidFill>
                <a:latin typeface="DejaVu Sans"/>
              </a:defRPr>
            </a:pPr>
            <a:r>
              <a:t>07 / CẮT BỎ AL VÀ CHI PHÍ</a:t>
            </a:r>
          </a:p>
        </p:txBody>
      </p:sp>
      <p:sp>
        <p:nvSpPr>
          <p:cNvPr id="4" name="TextBox 3"/>
          <p:cNvSpPr txBox="1"/>
          <p:nvPr/>
        </p:nvSpPr>
        <p:spPr>
          <a:xfrm>
            <a:off x="502920" y="722376"/>
            <a:ext cx="11155680" cy="694944"/>
          </a:xfrm>
          <a:prstGeom prst="rect">
            <a:avLst/>
          </a:prstGeom>
          <a:noFill/>
        </p:spPr>
        <p:txBody>
          <a:bodyPr wrap="square" lIns="9144" rIns="9144" tIns="9144" bIns="9144">
            <a:spAutoFit/>
          </a:bodyPr>
          <a:lstStyle/>
          <a:p>
            <a:pPr>
              <a:lnSpc>
                <a:spcPct val="104000"/>
              </a:lnSpc>
              <a:spcAft>
                <a:spcPts val="300"/>
              </a:spcAft>
              <a:defRPr sz="2400" b="1">
                <a:solidFill>
                  <a:srgbClr val="17324D"/>
                </a:solidFill>
                <a:latin typeface="DejaVu Sans"/>
              </a:defRPr>
            </a:pPr>
            <a:r>
              <a:t>Kết hợp H và V cho AUC trung bình cao nhất; FPR còn biến động</a:t>
            </a:r>
          </a:p>
        </p:txBody>
      </p:sp>
      <p:sp>
        <p:nvSpPr>
          <p:cNvPr id="5" name="TextBox 4"/>
          <p:cNvSpPr txBox="1"/>
          <p:nvPr/>
        </p:nvSpPr>
        <p:spPr>
          <a:xfrm>
            <a:off x="502920" y="1490472"/>
            <a:ext cx="11064240" cy="502920"/>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Ngưỡng của từng mô hình chọn trên validation với TPR ≥ 95%; TPR test được báo riêng.</a:t>
            </a:r>
          </a:p>
        </p:txBody>
      </p:sp>
      <p:cxnSp>
        <p:nvCxnSpPr>
          <p:cNvPr id="6" name="Connector 5"/>
          <p:cNvCxnSpPr/>
          <p:nvPr/>
        </p:nvCxnSpPr>
        <p:spPr>
          <a:xfrm>
            <a:off x="502920" y="6382512"/>
            <a:ext cx="11183112" cy="0"/>
          </a:xfrm>
          <a:prstGeom prst="line">
            <a:avLst/>
          </a:prstGeom>
          <a:ln w="12700">
            <a:solidFill>
              <a:srgbClr val="DCE5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744200" cy="210312"/>
          </a:xfrm>
          <a:prstGeom prst="rect">
            <a:avLst/>
          </a:prstGeom>
          <a:noFill/>
        </p:spPr>
        <p:txBody>
          <a:bodyPr wrap="square" lIns="9144" rIns="9144" tIns="9144" bIns="9144">
            <a:spAutoFit/>
          </a:bodyPr>
          <a:lstStyle/>
          <a:p>
            <a:pPr>
              <a:lnSpc>
                <a:spcPct val="104000"/>
              </a:lnSpc>
              <a:spcAft>
                <a:spcPts val="300"/>
              </a:spcAft>
              <a:defRPr sz="900" b="0">
                <a:solidFill>
                  <a:srgbClr val="526779"/>
                </a:solidFill>
                <a:latin typeface="DejaVu Sans"/>
              </a:defRPr>
            </a:pPr>
            <a:r>
              <a:t>Nguồn: pilot_al/metrics.csv và summary.json; số là trung bình 5 seed tại 700 nhãn, cùng test 400 mẫu.</a:t>
            </a:r>
          </a:p>
        </p:txBody>
      </p:sp>
      <p:sp>
        <p:nvSpPr>
          <p:cNvPr id="8" name="TextBox 7"/>
          <p:cNvSpPr txBox="1"/>
          <p:nvPr/>
        </p:nvSpPr>
        <p:spPr>
          <a:xfrm>
            <a:off x="11000232" y="6455664"/>
            <a:ext cx="685800" cy="228600"/>
          </a:xfrm>
          <a:prstGeom prst="rect">
            <a:avLst/>
          </a:prstGeom>
          <a:noFill/>
        </p:spPr>
        <p:txBody>
          <a:bodyPr wrap="square" lIns="9144" rIns="9144" tIns="9144" bIns="9144">
            <a:spAutoFit/>
          </a:bodyPr>
          <a:lstStyle/>
          <a:p>
            <a:pPr>
              <a:lnSpc>
                <a:spcPct val="104000"/>
              </a:lnSpc>
              <a:spcAft>
                <a:spcPts val="300"/>
              </a:spcAft>
              <a:defRPr sz="1000" b="1">
                <a:solidFill>
                  <a:srgbClr val="007F7A"/>
                </a:solidFill>
                <a:latin typeface="DejaVu Sans"/>
              </a:defRPr>
            </a:pPr>
            <a:r>
              <a:t>08 / 17</a:t>
            </a:r>
          </a:p>
        </p:txBody>
      </p:sp>
      <p:sp>
        <p:nvSpPr>
          <p:cNvPr id="9" name="Rectangle 8"/>
          <p:cNvSpPr/>
          <p:nvPr/>
        </p:nvSpPr>
        <p:spPr>
          <a:xfrm>
            <a:off x="502920" y="2121408"/>
            <a:ext cx="7635240" cy="420624"/>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221991"/>
            <a:ext cx="1298448" cy="283464"/>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CHIẾN LƯỢC</a:t>
            </a:r>
          </a:p>
        </p:txBody>
      </p:sp>
      <p:sp>
        <p:nvSpPr>
          <p:cNvPr id="11" name="TextBox 10"/>
          <p:cNvSpPr txBox="1"/>
          <p:nvPr/>
        </p:nvSpPr>
        <p:spPr>
          <a:xfrm>
            <a:off x="2130552" y="2221991"/>
            <a:ext cx="2843784" cy="283464"/>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AUC ± SD</a:t>
            </a:r>
          </a:p>
        </p:txBody>
      </p:sp>
      <p:sp>
        <p:nvSpPr>
          <p:cNvPr id="12" name="TextBox 11"/>
          <p:cNvSpPr txBox="1"/>
          <p:nvPr/>
        </p:nvSpPr>
        <p:spPr>
          <a:xfrm>
            <a:off x="5193792" y="2221991"/>
            <a:ext cx="1307592" cy="283464"/>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FPR</a:t>
            </a:r>
          </a:p>
        </p:txBody>
      </p:sp>
      <p:sp>
        <p:nvSpPr>
          <p:cNvPr id="13" name="TextBox 12"/>
          <p:cNvSpPr txBox="1"/>
          <p:nvPr/>
        </p:nvSpPr>
        <p:spPr>
          <a:xfrm>
            <a:off x="6720840" y="2221991"/>
            <a:ext cx="1307592" cy="283464"/>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TPR</a:t>
            </a:r>
          </a:p>
        </p:txBody>
      </p:sp>
      <p:sp>
        <p:nvSpPr>
          <p:cNvPr id="14" name="Rectangle 13"/>
          <p:cNvSpPr/>
          <p:nvPr/>
        </p:nvSpPr>
        <p:spPr>
          <a:xfrm>
            <a:off x="502920" y="2542032"/>
            <a:ext cx="763524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2670048"/>
            <a:ext cx="1298448" cy="347471"/>
          </a:xfrm>
          <a:prstGeom prst="rect">
            <a:avLst/>
          </a:prstGeom>
          <a:noFill/>
        </p:spPr>
        <p:txBody>
          <a:bodyPr wrap="square" lIns="9144" rIns="9144" tIns="9144" bIns="9144">
            <a:spAutoFit/>
          </a:bodyPr>
          <a:lstStyle/>
          <a:p>
            <a:pPr>
              <a:lnSpc>
                <a:spcPct val="104000"/>
              </a:lnSpc>
              <a:spcAft>
                <a:spcPts val="300"/>
              </a:spcAft>
              <a:defRPr sz="1600" b="1">
                <a:solidFill>
                  <a:srgbClr val="17324D"/>
                </a:solidFill>
                <a:latin typeface="DejaVu Sans"/>
              </a:defRPr>
            </a:pPr>
            <a:r>
              <a:t>Random</a:t>
            </a:r>
          </a:p>
        </p:txBody>
      </p:sp>
      <p:sp>
        <p:nvSpPr>
          <p:cNvPr id="16" name="TextBox 15"/>
          <p:cNvSpPr txBox="1"/>
          <p:nvPr/>
        </p:nvSpPr>
        <p:spPr>
          <a:xfrm>
            <a:off x="2130552" y="2670048"/>
            <a:ext cx="2843784" cy="347471"/>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0,9634 ± 0,0063</a:t>
            </a:r>
          </a:p>
        </p:txBody>
      </p:sp>
      <p:sp>
        <p:nvSpPr>
          <p:cNvPr id="17" name="TextBox 16"/>
          <p:cNvSpPr txBox="1"/>
          <p:nvPr/>
        </p:nvSpPr>
        <p:spPr>
          <a:xfrm>
            <a:off x="5193792" y="2670048"/>
            <a:ext cx="1307592" cy="347471"/>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21,73%</a:t>
            </a:r>
          </a:p>
        </p:txBody>
      </p:sp>
      <p:sp>
        <p:nvSpPr>
          <p:cNvPr id="18" name="TextBox 17"/>
          <p:cNvSpPr txBox="1"/>
          <p:nvPr/>
        </p:nvSpPr>
        <p:spPr>
          <a:xfrm>
            <a:off x="6720840" y="2670048"/>
            <a:ext cx="1307592" cy="347471"/>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93,80%</a:t>
            </a:r>
          </a:p>
        </p:txBody>
      </p:sp>
      <p:sp>
        <p:nvSpPr>
          <p:cNvPr id="19" name="Rectangle 18"/>
          <p:cNvSpPr/>
          <p:nvPr/>
        </p:nvSpPr>
        <p:spPr>
          <a:xfrm>
            <a:off x="502920" y="3072384"/>
            <a:ext cx="7635240" cy="530352"/>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 y="3200400"/>
            <a:ext cx="1298448" cy="347471"/>
          </a:xfrm>
          <a:prstGeom prst="rect">
            <a:avLst/>
          </a:prstGeom>
          <a:noFill/>
        </p:spPr>
        <p:txBody>
          <a:bodyPr wrap="square" lIns="9144" rIns="9144" tIns="9144" bIns="9144">
            <a:spAutoFit/>
          </a:bodyPr>
          <a:lstStyle/>
          <a:p>
            <a:pPr>
              <a:lnSpc>
                <a:spcPct val="104000"/>
              </a:lnSpc>
              <a:spcAft>
                <a:spcPts val="300"/>
              </a:spcAft>
              <a:defRPr sz="1600" b="1">
                <a:solidFill>
                  <a:srgbClr val="17324D"/>
                </a:solidFill>
                <a:latin typeface="DejaVu Sans"/>
              </a:defRPr>
            </a:pPr>
            <a:r>
              <a:t>U</a:t>
            </a:r>
          </a:p>
        </p:txBody>
      </p:sp>
      <p:sp>
        <p:nvSpPr>
          <p:cNvPr id="21" name="TextBox 20"/>
          <p:cNvSpPr txBox="1"/>
          <p:nvPr/>
        </p:nvSpPr>
        <p:spPr>
          <a:xfrm>
            <a:off x="2130552" y="3200400"/>
            <a:ext cx="2843784" cy="347471"/>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0,9691 ± 0,0046</a:t>
            </a:r>
          </a:p>
        </p:txBody>
      </p:sp>
      <p:sp>
        <p:nvSpPr>
          <p:cNvPr id="22" name="TextBox 21"/>
          <p:cNvSpPr txBox="1"/>
          <p:nvPr/>
        </p:nvSpPr>
        <p:spPr>
          <a:xfrm>
            <a:off x="5193792" y="3200400"/>
            <a:ext cx="1307592" cy="347471"/>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19,87%</a:t>
            </a:r>
          </a:p>
        </p:txBody>
      </p:sp>
      <p:sp>
        <p:nvSpPr>
          <p:cNvPr id="23" name="TextBox 22"/>
          <p:cNvSpPr txBox="1"/>
          <p:nvPr/>
        </p:nvSpPr>
        <p:spPr>
          <a:xfrm>
            <a:off x="6720840" y="3200400"/>
            <a:ext cx="1307592" cy="347471"/>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95,60%</a:t>
            </a:r>
          </a:p>
        </p:txBody>
      </p:sp>
      <p:sp>
        <p:nvSpPr>
          <p:cNvPr id="24" name="Rectangle 23"/>
          <p:cNvSpPr/>
          <p:nvPr/>
        </p:nvSpPr>
        <p:spPr>
          <a:xfrm>
            <a:off x="502920" y="3602736"/>
            <a:ext cx="763524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 y="3730752"/>
            <a:ext cx="1298448" cy="347471"/>
          </a:xfrm>
          <a:prstGeom prst="rect">
            <a:avLst/>
          </a:prstGeom>
          <a:noFill/>
        </p:spPr>
        <p:txBody>
          <a:bodyPr wrap="square" lIns="9144" rIns="9144" tIns="9144" bIns="9144">
            <a:spAutoFit/>
          </a:bodyPr>
          <a:lstStyle/>
          <a:p>
            <a:pPr>
              <a:lnSpc>
                <a:spcPct val="104000"/>
              </a:lnSpc>
              <a:spcAft>
                <a:spcPts val="300"/>
              </a:spcAft>
              <a:defRPr sz="1600" b="1">
                <a:solidFill>
                  <a:srgbClr val="17324D"/>
                </a:solidFill>
                <a:latin typeface="DejaVu Sans"/>
              </a:defRPr>
            </a:pPr>
            <a:r>
              <a:t>U + H</a:t>
            </a:r>
          </a:p>
        </p:txBody>
      </p:sp>
      <p:sp>
        <p:nvSpPr>
          <p:cNvPr id="26" name="TextBox 25"/>
          <p:cNvSpPr txBox="1"/>
          <p:nvPr/>
        </p:nvSpPr>
        <p:spPr>
          <a:xfrm>
            <a:off x="2130552" y="3730752"/>
            <a:ext cx="2843784" cy="347471"/>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0,9676 ± 0,0031</a:t>
            </a:r>
          </a:p>
        </p:txBody>
      </p:sp>
      <p:sp>
        <p:nvSpPr>
          <p:cNvPr id="27" name="TextBox 26"/>
          <p:cNvSpPr txBox="1"/>
          <p:nvPr/>
        </p:nvSpPr>
        <p:spPr>
          <a:xfrm>
            <a:off x="5193792" y="3730752"/>
            <a:ext cx="1307592" cy="347471"/>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17,20%</a:t>
            </a:r>
          </a:p>
        </p:txBody>
      </p:sp>
      <p:sp>
        <p:nvSpPr>
          <p:cNvPr id="28" name="TextBox 27"/>
          <p:cNvSpPr txBox="1"/>
          <p:nvPr/>
        </p:nvSpPr>
        <p:spPr>
          <a:xfrm>
            <a:off x="6720840" y="3730752"/>
            <a:ext cx="1307592" cy="347471"/>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93,00%</a:t>
            </a:r>
          </a:p>
        </p:txBody>
      </p:sp>
      <p:sp>
        <p:nvSpPr>
          <p:cNvPr id="29" name="Rectangle 28"/>
          <p:cNvSpPr/>
          <p:nvPr/>
        </p:nvSpPr>
        <p:spPr>
          <a:xfrm>
            <a:off x="502920" y="4133087"/>
            <a:ext cx="7635240" cy="530352"/>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648" y="4261103"/>
            <a:ext cx="1298448" cy="347471"/>
          </a:xfrm>
          <a:prstGeom prst="rect">
            <a:avLst/>
          </a:prstGeom>
          <a:noFill/>
        </p:spPr>
        <p:txBody>
          <a:bodyPr wrap="square" lIns="9144" rIns="9144" tIns="9144" bIns="9144">
            <a:spAutoFit/>
          </a:bodyPr>
          <a:lstStyle/>
          <a:p>
            <a:pPr>
              <a:lnSpc>
                <a:spcPct val="104000"/>
              </a:lnSpc>
              <a:spcAft>
                <a:spcPts val="300"/>
              </a:spcAft>
              <a:defRPr sz="1600" b="1">
                <a:solidFill>
                  <a:srgbClr val="17324D"/>
                </a:solidFill>
                <a:latin typeface="DejaVu Sans"/>
              </a:defRPr>
            </a:pPr>
            <a:r>
              <a:t>U + V</a:t>
            </a:r>
          </a:p>
        </p:txBody>
      </p:sp>
      <p:sp>
        <p:nvSpPr>
          <p:cNvPr id="31" name="TextBox 30"/>
          <p:cNvSpPr txBox="1"/>
          <p:nvPr/>
        </p:nvSpPr>
        <p:spPr>
          <a:xfrm>
            <a:off x="2130552" y="4261103"/>
            <a:ext cx="2843784" cy="347471"/>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0,9692 ± 0,0062</a:t>
            </a:r>
          </a:p>
        </p:txBody>
      </p:sp>
      <p:sp>
        <p:nvSpPr>
          <p:cNvPr id="32" name="TextBox 31"/>
          <p:cNvSpPr txBox="1"/>
          <p:nvPr/>
        </p:nvSpPr>
        <p:spPr>
          <a:xfrm>
            <a:off x="5193792" y="4261103"/>
            <a:ext cx="1307592" cy="347471"/>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28,33%</a:t>
            </a:r>
          </a:p>
        </p:txBody>
      </p:sp>
      <p:sp>
        <p:nvSpPr>
          <p:cNvPr id="33" name="TextBox 32"/>
          <p:cNvSpPr txBox="1"/>
          <p:nvPr/>
        </p:nvSpPr>
        <p:spPr>
          <a:xfrm>
            <a:off x="6720840" y="4261103"/>
            <a:ext cx="1307592" cy="347471"/>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96,40%</a:t>
            </a:r>
          </a:p>
        </p:txBody>
      </p:sp>
      <p:sp>
        <p:nvSpPr>
          <p:cNvPr id="34" name="Rectangle 33"/>
          <p:cNvSpPr/>
          <p:nvPr/>
        </p:nvSpPr>
        <p:spPr>
          <a:xfrm>
            <a:off x="502920" y="4663440"/>
            <a:ext cx="763524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2648" y="4791455"/>
            <a:ext cx="1298448" cy="347471"/>
          </a:xfrm>
          <a:prstGeom prst="rect">
            <a:avLst/>
          </a:prstGeom>
          <a:noFill/>
        </p:spPr>
        <p:txBody>
          <a:bodyPr wrap="square" lIns="9144" rIns="9144" tIns="9144" bIns="9144">
            <a:spAutoFit/>
          </a:bodyPr>
          <a:lstStyle/>
          <a:p>
            <a:pPr>
              <a:lnSpc>
                <a:spcPct val="104000"/>
              </a:lnSpc>
              <a:spcAft>
                <a:spcPts val="300"/>
              </a:spcAft>
              <a:defRPr sz="1600" b="1">
                <a:solidFill>
                  <a:srgbClr val="17324D"/>
                </a:solidFill>
                <a:latin typeface="DejaVu Sans"/>
              </a:defRPr>
            </a:pPr>
            <a:r>
              <a:t>U + H + V</a:t>
            </a:r>
          </a:p>
        </p:txBody>
      </p:sp>
      <p:sp>
        <p:nvSpPr>
          <p:cNvPr id="36" name="TextBox 35"/>
          <p:cNvSpPr txBox="1"/>
          <p:nvPr/>
        </p:nvSpPr>
        <p:spPr>
          <a:xfrm>
            <a:off x="2130552" y="4791455"/>
            <a:ext cx="2843784" cy="347471"/>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0,9749 ± 0,0040</a:t>
            </a:r>
          </a:p>
        </p:txBody>
      </p:sp>
      <p:sp>
        <p:nvSpPr>
          <p:cNvPr id="37" name="TextBox 36"/>
          <p:cNvSpPr txBox="1"/>
          <p:nvPr/>
        </p:nvSpPr>
        <p:spPr>
          <a:xfrm>
            <a:off x="5193792" y="4791455"/>
            <a:ext cx="1307592" cy="347471"/>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17,53%</a:t>
            </a:r>
          </a:p>
        </p:txBody>
      </p:sp>
      <p:sp>
        <p:nvSpPr>
          <p:cNvPr id="38" name="TextBox 37"/>
          <p:cNvSpPr txBox="1"/>
          <p:nvPr/>
        </p:nvSpPr>
        <p:spPr>
          <a:xfrm>
            <a:off x="6720840" y="4791455"/>
            <a:ext cx="1307592" cy="347471"/>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95,40%</a:t>
            </a:r>
          </a:p>
        </p:txBody>
      </p:sp>
      <p:sp>
        <p:nvSpPr>
          <p:cNvPr id="39" name="Rounded Rectangle 38"/>
          <p:cNvSpPr/>
          <p:nvPr/>
        </p:nvSpPr>
        <p:spPr>
          <a:xfrm>
            <a:off x="8339327" y="2121408"/>
            <a:ext cx="3346704" cy="3081528"/>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40496" y="2350008"/>
            <a:ext cx="2926080" cy="374904"/>
          </a:xfrm>
          <a:prstGeom prst="rect">
            <a:avLst/>
          </a:prstGeom>
          <a:noFill/>
        </p:spPr>
        <p:txBody>
          <a:bodyPr wrap="square" lIns="9144" rIns="9144" tIns="9144" bIns="9144">
            <a:spAutoFit/>
          </a:bodyPr>
          <a:lstStyle/>
          <a:p>
            <a:pPr>
              <a:lnSpc>
                <a:spcPct val="104000"/>
              </a:lnSpc>
              <a:spcAft>
                <a:spcPts val="300"/>
              </a:spcAft>
              <a:defRPr sz="2000" b="1">
                <a:solidFill>
                  <a:srgbClr val="007F7A"/>
                </a:solidFill>
                <a:latin typeface="DejaVu Sans"/>
              </a:defRPr>
            </a:pPr>
            <a:r>
              <a:t>Chi phí tính điểm</a:t>
            </a:r>
          </a:p>
        </p:txBody>
      </p:sp>
      <p:sp>
        <p:nvSpPr>
          <p:cNvPr id="41" name="TextBox 40"/>
          <p:cNvSpPr txBox="1"/>
          <p:nvPr/>
        </p:nvSpPr>
        <p:spPr>
          <a:xfrm>
            <a:off x="8540496" y="2944368"/>
            <a:ext cx="2907792" cy="896112"/>
          </a:xfrm>
          <a:prstGeom prst="rect">
            <a:avLst/>
          </a:prstGeom>
          <a:noFill/>
        </p:spPr>
        <p:txBody>
          <a:bodyPr wrap="square" lIns="9144" rIns="9144" tIns="9144" bIns="9144">
            <a:spAutoFit/>
          </a:bodyPr>
          <a:lstStyle/>
          <a:p>
            <a:pPr>
              <a:lnSpc>
                <a:spcPct val="104000"/>
              </a:lnSpc>
              <a:spcAft>
                <a:spcPts val="300"/>
              </a:spcAft>
              <a:defRPr sz="2200" b="1">
                <a:solidFill>
                  <a:srgbClr val="17324D"/>
                </a:solidFill>
                <a:latin typeface="DejaVu Sans"/>
              </a:defRPr>
            </a:pPr>
            <a:r>
              <a:t>XAI: 31,7 ms/vòng</a:t>
            </a:r>
          </a:p>
          <a:p>
            <a:pPr>
              <a:lnSpc>
                <a:spcPct val="104000"/>
              </a:lnSpc>
              <a:spcAft>
                <a:spcPts val="300"/>
              </a:spcAft>
              <a:defRPr sz="2200" b="1">
                <a:solidFill>
                  <a:srgbClr val="17324D"/>
                </a:solidFill>
                <a:latin typeface="DejaVu Sans"/>
              </a:defRPr>
            </a:pPr>
            <a:r>
              <a:t>U: 2,7 ms/vòng</a:t>
            </a:r>
          </a:p>
        </p:txBody>
      </p:sp>
      <p:sp>
        <p:nvSpPr>
          <p:cNvPr id="42" name="TextBox 41"/>
          <p:cNvSpPr txBox="1"/>
          <p:nvPr/>
        </p:nvSpPr>
        <p:spPr>
          <a:xfrm>
            <a:off x="8540496" y="4105656"/>
            <a:ext cx="2907792" cy="859536"/>
          </a:xfrm>
          <a:prstGeom prst="rect">
            <a:avLst/>
          </a:prstGeom>
          <a:noFill/>
        </p:spPr>
        <p:txBody>
          <a:bodyPr wrap="square" lIns="9144" rIns="9144" tIns="9144" bIns="9144">
            <a:spAutoFit/>
          </a:bodyPr>
          <a:lstStyle/>
          <a:p>
            <a:pPr>
              <a:lnSpc>
                <a:spcPct val="104000"/>
              </a:lnSpc>
              <a:spcAft>
                <a:spcPts val="300"/>
              </a:spcAft>
              <a:defRPr sz="1500" b="0">
                <a:solidFill>
                  <a:srgbClr val="526779"/>
                </a:solidFill>
                <a:latin typeface="DejaVu Sans"/>
              </a:defRPr>
            </a:pPr>
            <a:r>
              <a:t>Pool 600–1.000 mẫu</a:t>
            </a:r>
          </a:p>
          <a:p>
            <a:pPr>
              <a:lnSpc>
                <a:spcPct val="104000"/>
              </a:lnSpc>
              <a:spcAft>
                <a:spcPts val="300"/>
              </a:spcAft>
              <a:defRPr sz="1500" b="0">
                <a:solidFill>
                  <a:srgbClr val="526779"/>
                </a:solidFill>
                <a:latin typeface="DejaVu Sans"/>
              </a:defRPr>
            </a:pPr>
            <a:r>
              <a:t>2 CPU threads</a:t>
            </a:r>
          </a:p>
          <a:p>
            <a:pPr>
              <a:lnSpc>
                <a:spcPct val="104000"/>
              </a:lnSpc>
              <a:spcAft>
                <a:spcPts val="300"/>
              </a:spcAft>
              <a:defRPr sz="1500" b="0">
                <a:solidFill>
                  <a:srgbClr val="526779"/>
                </a:solidFill>
                <a:latin typeface="DejaVu Sans"/>
              </a:defRPr>
            </a:pPr>
            <a:r>
              <a:t>Chưa gồm gán nhãn / học lại</a:t>
            </a:r>
          </a:p>
        </p:txBody>
      </p:sp>
      <p:sp>
        <p:nvSpPr>
          <p:cNvPr id="43" name="Rounded Rectangle 42"/>
          <p:cNvSpPr/>
          <p:nvPr/>
        </p:nvSpPr>
        <p:spPr>
          <a:xfrm>
            <a:off x="502920" y="5596128"/>
            <a:ext cx="11183112" cy="539496"/>
          </a:xfrm>
          <a:prstGeom prst="roundRect">
            <a:avLst>
              <a:gd name="adj" fmla="val 10000"/>
            </a:avLst>
          </a:prstGeom>
          <a:solidFill>
            <a:srgbClr val="FFF1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7512" y="5696712"/>
            <a:ext cx="10844784" cy="384048"/>
          </a:xfrm>
          <a:prstGeom prst="rect">
            <a:avLst/>
          </a:prstGeom>
          <a:noFill/>
        </p:spPr>
        <p:txBody>
          <a:bodyPr wrap="square" lIns="9144" rIns="9144" tIns="9144" bIns="9144">
            <a:spAutoFit/>
          </a:bodyPr>
          <a:lstStyle/>
          <a:p>
            <a:pPr>
              <a:lnSpc>
                <a:spcPct val="104000"/>
              </a:lnSpc>
              <a:spcAft>
                <a:spcPts val="300"/>
              </a:spcAft>
              <a:defRPr sz="1700" b="1">
                <a:solidFill>
                  <a:srgbClr val="A66B16"/>
                </a:solidFill>
                <a:latin typeface="DejaVu Sans"/>
              </a:defRPr>
            </a:pPr>
            <a:r>
              <a:t>FPR của XAI chỉ thấp hơn U ở 2/5 seed: chưa kết luận giảm cảnh báo nhầm ổn định.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0789920" cy="274320"/>
          </a:xfrm>
          <a:prstGeom prst="rect">
            <a:avLst/>
          </a:prstGeom>
          <a:noFill/>
        </p:spPr>
        <p:txBody>
          <a:bodyPr wrap="square" lIns="9144" rIns="9144" tIns="9144" bIns="9144">
            <a:spAutoFit/>
          </a:bodyPr>
          <a:lstStyle/>
          <a:p>
            <a:pPr>
              <a:lnSpc>
                <a:spcPct val="104000"/>
              </a:lnSpc>
              <a:spcAft>
                <a:spcPts val="300"/>
              </a:spcAft>
              <a:defRPr sz="1100" b="1">
                <a:solidFill>
                  <a:srgbClr val="007F7A"/>
                </a:solidFill>
                <a:latin typeface="DejaVu Sans"/>
              </a:defRPr>
            </a:pPr>
            <a:r>
              <a:t>08 / ĐÓNG GÓP 3 — KIỂM TRA GIẢI THÍCH</a:t>
            </a:r>
          </a:p>
        </p:txBody>
      </p:sp>
      <p:sp>
        <p:nvSpPr>
          <p:cNvPr id="4" name="TextBox 3"/>
          <p:cNvSpPr txBox="1"/>
          <p:nvPr/>
        </p:nvSpPr>
        <p:spPr>
          <a:xfrm>
            <a:off x="502920" y="722376"/>
            <a:ext cx="11155680" cy="694944"/>
          </a:xfrm>
          <a:prstGeom prst="rect">
            <a:avLst/>
          </a:prstGeom>
          <a:noFill/>
        </p:spPr>
        <p:txBody>
          <a:bodyPr wrap="square" lIns="9144" rIns="9144" tIns="9144" bIns="9144">
            <a:spAutoFit/>
          </a:bodyPr>
          <a:lstStyle/>
          <a:p>
            <a:pPr>
              <a:lnSpc>
                <a:spcPct val="104000"/>
              </a:lnSpc>
              <a:spcAft>
                <a:spcPts val="300"/>
              </a:spcAft>
              <a:defRPr sz="2550" b="1">
                <a:solidFill>
                  <a:srgbClr val="17324D"/>
                </a:solidFill>
                <a:latin typeface="DejaVu Sans"/>
              </a:defRPr>
            </a:pPr>
            <a:r>
              <a:t>Chuyển nguyên tắc XAI sang PE phải kiểm tra phép biến đổi</a:t>
            </a:r>
          </a:p>
        </p:txBody>
      </p:sp>
      <p:sp>
        <p:nvSpPr>
          <p:cNvPr id="5" name="TextBox 4"/>
          <p:cNvSpPr txBox="1"/>
          <p:nvPr/>
        </p:nvSpPr>
        <p:spPr>
          <a:xfrm>
            <a:off x="502920" y="1490472"/>
            <a:ext cx="11064240" cy="502920"/>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Pilot hiện kiểm tra vector đặc trưng; phần ràng buộc cấu trúc PE cần đánh giá tiếp.</a:t>
            </a:r>
          </a:p>
        </p:txBody>
      </p:sp>
      <p:cxnSp>
        <p:nvCxnSpPr>
          <p:cNvPr id="6" name="Connector 5"/>
          <p:cNvCxnSpPr/>
          <p:nvPr/>
        </p:nvCxnSpPr>
        <p:spPr>
          <a:xfrm>
            <a:off x="502920" y="6382512"/>
            <a:ext cx="11183112" cy="0"/>
          </a:xfrm>
          <a:prstGeom prst="line">
            <a:avLst/>
          </a:prstGeom>
          <a:ln w="12700">
            <a:solidFill>
              <a:srgbClr val="DCE5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744200" cy="210312"/>
          </a:xfrm>
          <a:prstGeom prst="rect">
            <a:avLst/>
          </a:prstGeom>
          <a:noFill/>
        </p:spPr>
        <p:txBody>
          <a:bodyPr wrap="square" lIns="9144" rIns="9144" tIns="9144" bIns="9144">
            <a:spAutoFit/>
          </a:bodyPr>
          <a:lstStyle/>
          <a:p>
            <a:pPr>
              <a:lnSpc>
                <a:spcPct val="104000"/>
              </a:lnSpc>
              <a:spcAft>
                <a:spcPts val="300"/>
              </a:spcAft>
              <a:defRPr sz="900" b="0">
                <a:solidFill>
                  <a:srgbClr val="526779"/>
                </a:solidFill>
                <a:latin typeface="DejaVu Sans"/>
              </a:defRPr>
            </a:pPr>
            <a:r>
              <a:t>Nguồn: luuvan.pdf §3.4, A.4; Yeh và cs. (2019); pilot_fidelity/run_pilot.py.</a:t>
            </a:r>
          </a:p>
        </p:txBody>
      </p:sp>
      <p:sp>
        <p:nvSpPr>
          <p:cNvPr id="8" name="TextBox 7"/>
          <p:cNvSpPr txBox="1"/>
          <p:nvPr/>
        </p:nvSpPr>
        <p:spPr>
          <a:xfrm>
            <a:off x="11000232" y="6455664"/>
            <a:ext cx="685800" cy="228600"/>
          </a:xfrm>
          <a:prstGeom prst="rect">
            <a:avLst/>
          </a:prstGeom>
          <a:noFill/>
        </p:spPr>
        <p:txBody>
          <a:bodyPr wrap="square" lIns="9144" rIns="9144" tIns="9144" bIns="9144">
            <a:spAutoFit/>
          </a:bodyPr>
          <a:lstStyle/>
          <a:p>
            <a:pPr>
              <a:lnSpc>
                <a:spcPct val="104000"/>
              </a:lnSpc>
              <a:spcAft>
                <a:spcPts val="300"/>
              </a:spcAft>
              <a:defRPr sz="1000" b="1">
                <a:solidFill>
                  <a:srgbClr val="007F7A"/>
                </a:solidFill>
                <a:latin typeface="DejaVu Sans"/>
              </a:defRPr>
            </a:pPr>
            <a:r>
              <a:t>09 / 17</a:t>
            </a:r>
          </a:p>
        </p:txBody>
      </p:sp>
      <p:sp>
        <p:nvSpPr>
          <p:cNvPr id="9" name="Rectangle 8"/>
          <p:cNvSpPr/>
          <p:nvPr/>
        </p:nvSpPr>
        <p:spPr>
          <a:xfrm>
            <a:off x="502920" y="2139696"/>
            <a:ext cx="11183112" cy="43891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240279"/>
            <a:ext cx="2212848" cy="301751"/>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PHÉP KIỂM TRA</a:t>
            </a:r>
          </a:p>
        </p:txBody>
      </p:sp>
      <p:sp>
        <p:nvSpPr>
          <p:cNvPr id="11" name="TextBox 10"/>
          <p:cNvSpPr txBox="1"/>
          <p:nvPr/>
        </p:nvSpPr>
        <p:spPr>
          <a:xfrm>
            <a:off x="3044952" y="2240279"/>
            <a:ext cx="5468112" cy="301751"/>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ĐIỀU CHỈNH / CẤU HÌNH ĐÃ CHẠY</a:t>
            </a:r>
          </a:p>
        </p:txBody>
      </p:sp>
      <p:sp>
        <p:nvSpPr>
          <p:cNvPr id="12" name="TextBox 11"/>
          <p:cNvSpPr txBox="1"/>
          <p:nvPr/>
        </p:nvSpPr>
        <p:spPr>
          <a:xfrm>
            <a:off x="8732519" y="2240279"/>
            <a:ext cx="2843784" cy="301751"/>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KẾT LUẬN CHO PHÉP</a:t>
            </a:r>
          </a:p>
        </p:txBody>
      </p:sp>
      <p:sp>
        <p:nvSpPr>
          <p:cNvPr id="13" name="Rectangle 12"/>
          <p:cNvSpPr/>
          <p:nvPr/>
        </p:nvSpPr>
        <p:spPr>
          <a:xfrm>
            <a:off x="502920" y="2578608"/>
            <a:ext cx="11183112" cy="9784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706624"/>
            <a:ext cx="2212848" cy="795528"/>
          </a:xfrm>
          <a:prstGeom prst="rect">
            <a:avLst/>
          </a:prstGeom>
          <a:noFill/>
        </p:spPr>
        <p:txBody>
          <a:bodyPr wrap="square" lIns="9144" rIns="9144" tIns="9144" bIns="9144">
            <a:spAutoFit/>
          </a:bodyPr>
          <a:lstStyle/>
          <a:p>
            <a:pPr>
              <a:lnSpc>
                <a:spcPct val="104000"/>
              </a:lnSpc>
              <a:spcAft>
                <a:spcPts val="300"/>
              </a:spcAft>
              <a:defRPr sz="1700" b="1">
                <a:solidFill>
                  <a:srgbClr val="17324D"/>
                </a:solidFill>
                <a:latin typeface="DejaVu Sans"/>
              </a:defRPr>
            </a:pPr>
            <a:r>
              <a:t>Tác động đặc trưng</a:t>
            </a:r>
          </a:p>
        </p:txBody>
      </p:sp>
      <p:sp>
        <p:nvSpPr>
          <p:cNvPr id="15" name="TextBox 14"/>
          <p:cNvSpPr txBox="1"/>
          <p:nvPr/>
        </p:nvSpPr>
        <p:spPr>
          <a:xfrm>
            <a:off x="3044952" y="2706624"/>
            <a:ext cx="5468112" cy="795528"/>
          </a:xfrm>
          <a:prstGeom prst="rect">
            <a:avLst/>
          </a:prstGeom>
          <a:noFill/>
        </p:spPr>
        <p:txBody>
          <a:bodyPr wrap="square" lIns="9144" rIns="9144" tIns="9144" bIns="9144">
            <a:spAutoFit/>
          </a:bodyPr>
          <a:lstStyle/>
          <a:p>
            <a:pPr>
              <a:lnSpc>
                <a:spcPct val="104000"/>
              </a:lnSpc>
              <a:spcAft>
                <a:spcPts val="300"/>
              </a:spcAft>
              <a:defRPr sz="1700" b="0">
                <a:solidFill>
                  <a:srgbClr val="17324D"/>
                </a:solidFill>
                <a:latin typeface="DejaVu Sans"/>
              </a:defRPr>
            </a:pPr>
            <a:r>
              <a:t>Che top-|SHAP| so với che ngẫu nhiên</a:t>
            </a:r>
          </a:p>
          <a:p>
            <a:pPr>
              <a:lnSpc>
                <a:spcPct val="104000"/>
              </a:lnSpc>
              <a:spcAft>
                <a:spcPts val="300"/>
              </a:spcAft>
              <a:defRPr sz="1700" b="0">
                <a:solidFill>
                  <a:srgbClr val="17324D"/>
                </a:solidFill>
                <a:latin typeface="DejaVu Sans"/>
              </a:defRPr>
            </a:pPr>
            <a:r>
              <a:t>cùng k; baseline lấy từ train.</a:t>
            </a:r>
          </a:p>
        </p:txBody>
      </p:sp>
      <p:sp>
        <p:nvSpPr>
          <p:cNvPr id="16" name="TextBox 15"/>
          <p:cNvSpPr txBox="1"/>
          <p:nvPr/>
        </p:nvSpPr>
        <p:spPr>
          <a:xfrm>
            <a:off x="8732519" y="2706624"/>
            <a:ext cx="2843784" cy="795528"/>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Thứ hạng SHAP liên quan</a:t>
            </a:r>
          </a:p>
          <a:p>
            <a:pPr>
              <a:lnSpc>
                <a:spcPct val="104000"/>
              </a:lnSpc>
              <a:spcAft>
                <a:spcPts val="300"/>
              </a:spcAft>
              <a:defRPr sz="1600" b="0">
                <a:solidFill>
                  <a:srgbClr val="526779"/>
                </a:solidFill>
                <a:latin typeface="DejaVu Sans"/>
              </a:defRPr>
            </a:pPr>
            <a:r>
              <a:t>đặc trưng mô hình sử dụng.</a:t>
            </a:r>
          </a:p>
        </p:txBody>
      </p:sp>
      <p:sp>
        <p:nvSpPr>
          <p:cNvPr id="17" name="Rectangle 16"/>
          <p:cNvSpPr/>
          <p:nvPr/>
        </p:nvSpPr>
        <p:spPr>
          <a:xfrm>
            <a:off x="502920" y="3557015"/>
            <a:ext cx="11183112" cy="978408"/>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685031"/>
            <a:ext cx="2212848" cy="795528"/>
          </a:xfrm>
          <a:prstGeom prst="rect">
            <a:avLst/>
          </a:prstGeom>
          <a:noFill/>
        </p:spPr>
        <p:txBody>
          <a:bodyPr wrap="square" lIns="9144" rIns="9144" tIns="9144" bIns="9144">
            <a:spAutoFit/>
          </a:bodyPr>
          <a:lstStyle/>
          <a:p>
            <a:pPr>
              <a:lnSpc>
                <a:spcPct val="104000"/>
              </a:lnSpc>
              <a:spcAft>
                <a:spcPts val="300"/>
              </a:spcAft>
              <a:defRPr sz="1700" b="1">
                <a:solidFill>
                  <a:srgbClr val="17324D"/>
                </a:solidFill>
                <a:latin typeface="DejaVu Sans"/>
              </a:defRPr>
            </a:pPr>
            <a:r>
              <a:t>Tương đồng — EC</a:t>
            </a:r>
          </a:p>
        </p:txBody>
      </p:sp>
      <p:sp>
        <p:nvSpPr>
          <p:cNvPr id="19" name="TextBox 18"/>
          <p:cNvSpPr txBox="1"/>
          <p:nvPr/>
        </p:nvSpPr>
        <p:spPr>
          <a:xfrm>
            <a:off x="3044952" y="3685031"/>
            <a:ext cx="5468112" cy="795528"/>
          </a:xfrm>
          <a:prstGeom prst="rect">
            <a:avLst/>
          </a:prstGeom>
          <a:noFill/>
        </p:spPr>
        <p:txBody>
          <a:bodyPr wrap="square" lIns="9144" rIns="9144" tIns="9144" bIns="9144">
            <a:spAutoFit/>
          </a:bodyPr>
          <a:lstStyle/>
          <a:p>
            <a:pPr>
              <a:lnSpc>
                <a:spcPct val="104000"/>
              </a:lnSpc>
              <a:spcAft>
                <a:spcPts val="300"/>
              </a:spcAft>
              <a:defRPr sz="1700" b="0">
                <a:solidFill>
                  <a:srgbClr val="17324D"/>
                </a:solidFill>
                <a:latin typeface="DejaVu Sans"/>
              </a:defRPr>
            </a:pPr>
            <a:r>
              <a:t>Tương quan cấu trúc tương đồng PE</a:t>
            </a:r>
          </a:p>
          <a:p>
            <a:pPr>
              <a:lnSpc>
                <a:spcPct val="104000"/>
              </a:lnSpc>
              <a:spcAft>
                <a:spcPts val="300"/>
              </a:spcAft>
              <a:defRPr sz="1700" b="0">
                <a:solidFill>
                  <a:srgbClr val="17324D"/>
                </a:solidFill>
                <a:latin typeface="DejaVu Sans"/>
              </a:defRPr>
            </a:pPr>
            <a:r>
              <a:t>và SHAP; chuẩn hóa chỉ fit trên train.</a:t>
            </a:r>
          </a:p>
        </p:txBody>
      </p:sp>
      <p:sp>
        <p:nvSpPr>
          <p:cNvPr id="20" name="TextBox 19"/>
          <p:cNvSpPr txBox="1"/>
          <p:nvPr/>
        </p:nvSpPr>
        <p:spPr>
          <a:xfrm>
            <a:off x="8732519" y="3685031"/>
            <a:ext cx="2843784" cy="795528"/>
          </a:xfrm>
          <a:prstGeom prst="rect">
            <a:avLst/>
          </a:prstGeom>
          <a:noFill/>
        </p:spPr>
        <p:txBody>
          <a:bodyPr wrap="square" lIns="9144" rIns="9144" tIns="9144" bIns="9144">
            <a:spAutoFit/>
          </a:bodyPr>
          <a:lstStyle/>
          <a:p>
            <a:pPr>
              <a:lnSpc>
                <a:spcPct val="104000"/>
              </a:lnSpc>
              <a:spcAft>
                <a:spcPts val="300"/>
              </a:spcAft>
              <a:defRPr sz="1500" b="0">
                <a:solidFill>
                  <a:srgbClr val="526779"/>
                </a:solidFill>
                <a:latin typeface="DejaVu Sans"/>
              </a:defRPr>
            </a:pPr>
            <a:r>
              <a:t>Mức nhất quán với một</a:t>
            </a:r>
          </a:p>
          <a:p>
            <a:pPr>
              <a:lnSpc>
                <a:spcPct val="104000"/>
              </a:lnSpc>
              <a:spcAft>
                <a:spcPts val="300"/>
              </a:spcAft>
              <a:defRPr sz="1500" b="0">
                <a:solidFill>
                  <a:srgbClr val="526779"/>
                </a:solidFill>
                <a:latin typeface="DejaVu Sans"/>
              </a:defRPr>
            </a:pPr>
            <a:r>
              <a:t>định nghĩa khoảng cách cụ thể.</a:t>
            </a:r>
          </a:p>
        </p:txBody>
      </p:sp>
      <p:sp>
        <p:nvSpPr>
          <p:cNvPr id="21" name="Rectangle 20"/>
          <p:cNvSpPr/>
          <p:nvPr/>
        </p:nvSpPr>
        <p:spPr>
          <a:xfrm>
            <a:off x="502920" y="4535424"/>
            <a:ext cx="11183112" cy="9784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 y="4663440"/>
            <a:ext cx="2212848" cy="795528"/>
          </a:xfrm>
          <a:prstGeom prst="rect">
            <a:avLst/>
          </a:prstGeom>
          <a:noFill/>
        </p:spPr>
        <p:txBody>
          <a:bodyPr wrap="square" lIns="9144" rIns="9144" tIns="9144" bIns="9144">
            <a:spAutoFit/>
          </a:bodyPr>
          <a:lstStyle/>
          <a:p>
            <a:pPr>
              <a:lnSpc>
                <a:spcPct val="104000"/>
              </a:lnSpc>
              <a:spcAft>
                <a:spcPts val="300"/>
              </a:spcAft>
              <a:defRPr sz="1700" b="1">
                <a:solidFill>
                  <a:srgbClr val="17324D"/>
                </a:solidFill>
                <a:latin typeface="DejaVu Sans"/>
              </a:defRPr>
            </a:pPr>
            <a:r>
              <a:t>Phân tách — CF</a:t>
            </a:r>
          </a:p>
        </p:txBody>
      </p:sp>
      <p:sp>
        <p:nvSpPr>
          <p:cNvPr id="23" name="TextBox 22"/>
          <p:cNvSpPr txBox="1"/>
          <p:nvPr/>
        </p:nvSpPr>
        <p:spPr>
          <a:xfrm>
            <a:off x="3044952" y="4663440"/>
            <a:ext cx="5468112" cy="795528"/>
          </a:xfrm>
          <a:prstGeom prst="rect">
            <a:avLst/>
          </a:prstGeom>
          <a:noFill/>
        </p:spPr>
        <p:txBody>
          <a:bodyPr wrap="square" lIns="9144" rIns="9144" tIns="9144" bIns="9144">
            <a:spAutoFit/>
          </a:bodyPr>
          <a:lstStyle/>
          <a:p>
            <a:pPr>
              <a:lnSpc>
                <a:spcPct val="104000"/>
              </a:lnSpc>
              <a:spcAft>
                <a:spcPts val="300"/>
              </a:spcAft>
              <a:defRPr sz="1700" b="0">
                <a:solidFill>
                  <a:srgbClr val="17324D"/>
                </a:solidFill>
                <a:latin typeface="DejaVu Sans"/>
              </a:defRPr>
            </a:pPr>
            <a:r>
              <a:t>Khoảng cách hai tâm SHAP, chuẩn hóa</a:t>
            </a:r>
          </a:p>
          <a:p>
            <a:pPr>
              <a:lnSpc>
                <a:spcPct val="104000"/>
              </a:lnSpc>
              <a:spcAft>
                <a:spcPts val="300"/>
              </a:spcAft>
              <a:defRPr sz="1700" b="0">
                <a:solidFill>
                  <a:srgbClr val="17324D"/>
                </a:solidFill>
                <a:latin typeface="DejaVu Sans"/>
              </a:defRPr>
            </a:pPr>
            <a:r>
              <a:t>bằng chuẩn SHAP lớn nhất trong test.</a:t>
            </a:r>
          </a:p>
        </p:txBody>
      </p:sp>
      <p:sp>
        <p:nvSpPr>
          <p:cNvPr id="24" name="TextBox 23"/>
          <p:cNvSpPr txBox="1"/>
          <p:nvPr/>
        </p:nvSpPr>
        <p:spPr>
          <a:xfrm>
            <a:off x="8732519" y="4663440"/>
            <a:ext cx="2843784" cy="795528"/>
          </a:xfrm>
          <a:prstGeom prst="rect">
            <a:avLst/>
          </a:prstGeom>
          <a:noFill/>
        </p:spPr>
        <p:txBody>
          <a:bodyPr wrap="square" lIns="9144" rIns="9144" tIns="9144" bIns="9144">
            <a:spAutoFit/>
          </a:bodyPr>
          <a:lstStyle/>
          <a:p>
            <a:pPr>
              <a:lnSpc>
                <a:spcPct val="104000"/>
              </a:lnSpc>
              <a:spcAft>
                <a:spcPts val="300"/>
              </a:spcAft>
              <a:defRPr sz="1650" b="0">
                <a:solidFill>
                  <a:srgbClr val="526779"/>
                </a:solidFill>
                <a:latin typeface="DejaVu Sans"/>
              </a:defRPr>
            </a:pPr>
            <a:r>
              <a:t>Độ phân tách hai nhãn;</a:t>
            </a:r>
          </a:p>
          <a:p>
            <a:pPr>
              <a:lnSpc>
                <a:spcPct val="104000"/>
              </a:lnSpc>
              <a:spcAft>
                <a:spcPts val="300"/>
              </a:spcAft>
              <a:defRPr sz="1650" b="0">
                <a:solidFill>
                  <a:srgbClr val="526779"/>
                </a:solidFill>
                <a:latin typeface="DejaVu Sans"/>
              </a:defRPr>
            </a:pPr>
            <a:r>
              <a:t>không phải tính nhân quả.</a:t>
            </a:r>
          </a:p>
        </p:txBody>
      </p:sp>
      <p:sp>
        <p:nvSpPr>
          <p:cNvPr id="25" name="Rounded Rectangle 24"/>
          <p:cNvSpPr/>
          <p:nvPr/>
        </p:nvSpPr>
        <p:spPr>
          <a:xfrm>
            <a:off x="502920" y="5596128"/>
            <a:ext cx="11183112" cy="539496"/>
          </a:xfrm>
          <a:prstGeom prst="roundRect">
            <a:avLst>
              <a:gd name="adj" fmla="val 10000"/>
            </a:avLst>
          </a:prstGeom>
          <a:solidFill>
            <a:srgbClr val="FFF1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5696712"/>
            <a:ext cx="10844784" cy="384048"/>
          </a:xfrm>
          <a:prstGeom prst="rect">
            <a:avLst/>
          </a:prstGeom>
          <a:noFill/>
        </p:spPr>
        <p:txBody>
          <a:bodyPr wrap="square" lIns="9144" rIns="9144" tIns="9144" bIns="9144">
            <a:spAutoFit/>
          </a:bodyPr>
          <a:lstStyle/>
          <a:p>
            <a:pPr>
              <a:lnSpc>
                <a:spcPct val="104000"/>
              </a:lnSpc>
              <a:spcAft>
                <a:spcPts val="300"/>
              </a:spcAft>
              <a:defRPr sz="1500" b="1">
                <a:solidFill>
                  <a:srgbClr val="A66B16"/>
                </a:solidFill>
                <a:latin typeface="DejaVu Sans"/>
              </a:defRPr>
            </a:pPr>
            <a:r>
              <a:t>Mean masking có thể phá quan hệ giữa trường PE; pilot chưa chứng minh “PE-aware” hoàn chỉnh.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0789920" cy="274320"/>
          </a:xfrm>
          <a:prstGeom prst="rect">
            <a:avLst/>
          </a:prstGeom>
          <a:noFill/>
        </p:spPr>
        <p:txBody>
          <a:bodyPr wrap="square" lIns="9144" rIns="9144" tIns="9144" bIns="9144">
            <a:spAutoFit/>
          </a:bodyPr>
          <a:lstStyle/>
          <a:p>
            <a:pPr>
              <a:lnSpc>
                <a:spcPct val="104000"/>
              </a:lnSpc>
              <a:spcAft>
                <a:spcPts val="300"/>
              </a:spcAft>
              <a:defRPr sz="1100" b="1">
                <a:solidFill>
                  <a:srgbClr val="007F7A"/>
                </a:solidFill>
                <a:latin typeface="DejaVu Sans"/>
              </a:defRPr>
            </a:pPr>
            <a:r>
              <a:t>09 / KẾT QUẢ FIDELITY — ĐÃ CHẠY</a:t>
            </a:r>
          </a:p>
        </p:txBody>
      </p:sp>
      <p:sp>
        <p:nvSpPr>
          <p:cNvPr id="4" name="TextBox 3"/>
          <p:cNvSpPr txBox="1"/>
          <p:nvPr/>
        </p:nvSpPr>
        <p:spPr>
          <a:xfrm>
            <a:off x="502920" y="722376"/>
            <a:ext cx="11155680" cy="694944"/>
          </a:xfrm>
          <a:prstGeom prst="rect">
            <a:avLst/>
          </a:prstGeom>
          <a:noFill/>
        </p:spPr>
        <p:txBody>
          <a:bodyPr wrap="square" lIns="9144" rIns="9144" tIns="9144" bIns="9144">
            <a:spAutoFit/>
          </a:bodyPr>
          <a:lstStyle/>
          <a:p>
            <a:pPr>
              <a:lnSpc>
                <a:spcPct val="104000"/>
              </a:lnSpc>
              <a:spcAft>
                <a:spcPts val="300"/>
              </a:spcAft>
              <a:defRPr sz="2500" b="1">
                <a:solidFill>
                  <a:srgbClr val="17324D"/>
                </a:solidFill>
                <a:latin typeface="DejaVu Sans"/>
              </a:defRPr>
            </a:pPr>
            <a:r>
              <a:t>Che đặc trưng SHAP quan trọng gây suy giảm lớn hơn random</a:t>
            </a:r>
          </a:p>
        </p:txBody>
      </p:sp>
      <p:sp>
        <p:nvSpPr>
          <p:cNvPr id="5" name="TextBox 4"/>
          <p:cNvSpPr txBox="1"/>
          <p:nvPr/>
        </p:nvSpPr>
        <p:spPr>
          <a:xfrm>
            <a:off x="502920" y="1490472"/>
            <a:ext cx="11064240" cy="502920"/>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Mô hình mới: 1.200 mẫu train, test 400 mẫu; baseline trước che AUC = 0,9802.</a:t>
            </a:r>
          </a:p>
        </p:txBody>
      </p:sp>
      <p:cxnSp>
        <p:nvCxnSpPr>
          <p:cNvPr id="6" name="Connector 5"/>
          <p:cNvCxnSpPr/>
          <p:nvPr/>
        </p:nvCxnSpPr>
        <p:spPr>
          <a:xfrm>
            <a:off x="502920" y="6382512"/>
            <a:ext cx="11183112" cy="0"/>
          </a:xfrm>
          <a:prstGeom prst="line">
            <a:avLst/>
          </a:prstGeom>
          <a:ln w="12700">
            <a:solidFill>
              <a:srgbClr val="DCE5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744200" cy="210312"/>
          </a:xfrm>
          <a:prstGeom prst="rect">
            <a:avLst/>
          </a:prstGeom>
          <a:noFill/>
        </p:spPr>
        <p:txBody>
          <a:bodyPr wrap="square" lIns="9144" rIns="9144" tIns="9144" bIns="9144">
            <a:spAutoFit/>
          </a:bodyPr>
          <a:lstStyle/>
          <a:p>
            <a:pPr>
              <a:lnSpc>
                <a:spcPct val="104000"/>
              </a:lnSpc>
              <a:spcAft>
                <a:spcPts val="300"/>
              </a:spcAft>
              <a:defRPr sz="900" b="0">
                <a:solidFill>
                  <a:srgbClr val="526779"/>
                </a:solidFill>
                <a:latin typeface="DejaVu Sans"/>
              </a:defRPr>
            </a:pPr>
            <a:r>
              <a:t>Nguồn: pilot_fidelity/run_seed42/summary.json, mask_predictions.csv; random lặp 20 lần cho mỗi k.</a:t>
            </a:r>
          </a:p>
        </p:txBody>
      </p:sp>
      <p:sp>
        <p:nvSpPr>
          <p:cNvPr id="8" name="TextBox 7"/>
          <p:cNvSpPr txBox="1"/>
          <p:nvPr/>
        </p:nvSpPr>
        <p:spPr>
          <a:xfrm>
            <a:off x="11000232" y="6455664"/>
            <a:ext cx="685800" cy="228600"/>
          </a:xfrm>
          <a:prstGeom prst="rect">
            <a:avLst/>
          </a:prstGeom>
          <a:noFill/>
        </p:spPr>
        <p:txBody>
          <a:bodyPr wrap="square" lIns="9144" rIns="9144" tIns="9144" bIns="9144">
            <a:spAutoFit/>
          </a:bodyPr>
          <a:lstStyle/>
          <a:p>
            <a:pPr>
              <a:lnSpc>
                <a:spcPct val="104000"/>
              </a:lnSpc>
              <a:spcAft>
                <a:spcPts val="300"/>
              </a:spcAft>
              <a:defRPr sz="1000" b="1">
                <a:solidFill>
                  <a:srgbClr val="007F7A"/>
                </a:solidFill>
                <a:latin typeface="DejaVu Sans"/>
              </a:defRPr>
            </a:pPr>
            <a:r>
              <a:t>10 / 17</a:t>
            </a:r>
          </a:p>
        </p:txBody>
      </p:sp>
      <p:sp>
        <p:nvSpPr>
          <p:cNvPr id="9" name="Rounded Rectangle 8"/>
          <p:cNvSpPr/>
          <p:nvPr/>
        </p:nvSpPr>
        <p:spPr>
          <a:xfrm>
            <a:off x="502920" y="2130552"/>
            <a:ext cx="6995160" cy="3493008"/>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delity_curve.png"/>
          <p:cNvPicPr>
            <a:picLocks noChangeAspect="1"/>
          </p:cNvPicPr>
          <p:nvPr/>
        </p:nvPicPr>
        <p:blipFill>
          <a:blip r:embed="rId2"/>
          <a:stretch>
            <a:fillRect/>
          </a:stretch>
        </p:blipFill>
        <p:spPr>
          <a:xfrm>
            <a:off x="640080" y="2304288"/>
            <a:ext cx="6693408" cy="3117478"/>
          </a:xfrm>
          <a:prstGeom prst="rect">
            <a:avLst/>
          </a:prstGeom>
        </p:spPr>
      </p:pic>
      <p:sp>
        <p:nvSpPr>
          <p:cNvPr id="11" name="Rounded Rectangle 10"/>
          <p:cNvSpPr/>
          <p:nvPr/>
        </p:nvSpPr>
        <p:spPr>
          <a:xfrm>
            <a:off x="7708392" y="2130552"/>
            <a:ext cx="3977639" cy="3493008"/>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9560" y="2359152"/>
            <a:ext cx="3566160" cy="384048"/>
          </a:xfrm>
          <a:prstGeom prst="rect">
            <a:avLst/>
          </a:prstGeom>
          <a:noFill/>
        </p:spPr>
        <p:txBody>
          <a:bodyPr wrap="square" lIns="9144" rIns="9144" tIns="9144" bIns="9144">
            <a:spAutoFit/>
          </a:bodyPr>
          <a:lstStyle/>
          <a:p>
            <a:pPr>
              <a:lnSpc>
                <a:spcPct val="104000"/>
              </a:lnSpc>
              <a:spcAft>
                <a:spcPts val="300"/>
              </a:spcAft>
              <a:defRPr sz="2200" b="1">
                <a:solidFill>
                  <a:srgbClr val="007F7A"/>
                </a:solidFill>
                <a:latin typeface="DejaVu Sans"/>
              </a:defRPr>
            </a:pPr>
            <a:r>
              <a:t>Tại k = 25</a:t>
            </a:r>
          </a:p>
        </p:txBody>
      </p:sp>
      <p:sp>
        <p:nvSpPr>
          <p:cNvPr id="13" name="TextBox 12"/>
          <p:cNvSpPr txBox="1"/>
          <p:nvPr/>
        </p:nvSpPr>
        <p:spPr>
          <a:xfrm>
            <a:off x="7909560" y="2944368"/>
            <a:ext cx="3566160" cy="1097280"/>
          </a:xfrm>
          <a:prstGeom prst="rect">
            <a:avLst/>
          </a:prstGeom>
          <a:noFill/>
        </p:spPr>
        <p:txBody>
          <a:bodyPr wrap="square" lIns="9144" rIns="9144" tIns="9144" bIns="9144">
            <a:spAutoFit/>
          </a:bodyPr>
          <a:lstStyle/>
          <a:p>
            <a:pPr>
              <a:lnSpc>
                <a:spcPct val="104000"/>
              </a:lnSpc>
              <a:spcAft>
                <a:spcPts val="300"/>
              </a:spcAft>
              <a:defRPr sz="2400" b="1">
                <a:solidFill>
                  <a:srgbClr val="17324D"/>
                </a:solidFill>
                <a:latin typeface="DejaVu Sans"/>
              </a:defRPr>
            </a:pPr>
            <a:r>
              <a:t>Top-SHAP: 0,8185</a:t>
            </a:r>
          </a:p>
          <a:p>
            <a:pPr>
              <a:lnSpc>
                <a:spcPct val="104000"/>
              </a:lnSpc>
              <a:spcAft>
                <a:spcPts val="300"/>
              </a:spcAft>
              <a:defRPr sz="2400" b="1">
                <a:solidFill>
                  <a:srgbClr val="17324D"/>
                </a:solidFill>
                <a:latin typeface="DejaVu Sans"/>
              </a:defRPr>
            </a:pPr>
            <a:r>
              <a:t>Random: 0,9799</a:t>
            </a:r>
          </a:p>
        </p:txBody>
      </p:sp>
      <p:sp>
        <p:nvSpPr>
          <p:cNvPr id="14" name="TextBox 13"/>
          <p:cNvSpPr txBox="1"/>
          <p:nvPr/>
        </p:nvSpPr>
        <p:spPr>
          <a:xfrm>
            <a:off x="7909560" y="4361688"/>
            <a:ext cx="3566160" cy="594360"/>
          </a:xfrm>
          <a:prstGeom prst="rect">
            <a:avLst/>
          </a:prstGeom>
          <a:noFill/>
        </p:spPr>
        <p:txBody>
          <a:bodyPr wrap="square" lIns="9144" rIns="9144" tIns="9144" bIns="9144">
            <a:spAutoFit/>
          </a:bodyPr>
          <a:lstStyle/>
          <a:p>
            <a:pPr>
              <a:lnSpc>
                <a:spcPct val="104000"/>
              </a:lnSpc>
              <a:spcAft>
                <a:spcPts val="300"/>
              </a:spcAft>
              <a:defRPr sz="1650" b="1">
                <a:solidFill>
                  <a:srgbClr val="17324D"/>
                </a:solidFill>
                <a:latin typeface="DejaVu Sans"/>
              </a:defRPr>
            </a:pPr>
            <a:r>
              <a:t>EC = 0,3044</a:t>
            </a:r>
          </a:p>
          <a:p>
            <a:pPr>
              <a:lnSpc>
                <a:spcPct val="104000"/>
              </a:lnSpc>
              <a:spcAft>
                <a:spcPts val="300"/>
              </a:spcAft>
              <a:defRPr sz="1650" b="1">
                <a:solidFill>
                  <a:srgbClr val="17324D"/>
                </a:solidFill>
                <a:latin typeface="DejaVu Sans"/>
              </a:defRPr>
            </a:pPr>
            <a:r>
              <a:t>CF = 0,5874</a:t>
            </a:r>
          </a:p>
        </p:txBody>
      </p:sp>
      <p:sp>
        <p:nvSpPr>
          <p:cNvPr id="15" name="TextBox 14"/>
          <p:cNvSpPr txBox="1"/>
          <p:nvPr/>
        </p:nvSpPr>
        <p:spPr>
          <a:xfrm>
            <a:off x="7909560" y="5093208"/>
            <a:ext cx="3566160" cy="320040"/>
          </a:xfrm>
          <a:prstGeom prst="rect">
            <a:avLst/>
          </a:prstGeom>
          <a:noFill/>
        </p:spPr>
        <p:txBody>
          <a:bodyPr wrap="square" lIns="9144" rIns="9144" tIns="9144" bIns="9144">
            <a:spAutoFit/>
          </a:bodyPr>
          <a:lstStyle/>
          <a:p>
            <a:pPr>
              <a:lnSpc>
                <a:spcPct val="104000"/>
              </a:lnSpc>
              <a:spcAft>
                <a:spcPts val="300"/>
              </a:spcAft>
              <a:defRPr sz="1500" b="0">
                <a:solidFill>
                  <a:srgbClr val="526779"/>
                </a:solidFill>
                <a:latin typeface="DejaVu Sans"/>
              </a:defRPr>
            </a:pPr>
            <a:r>
              <a:t>Không tổng hợp OFS</a:t>
            </a:r>
          </a:p>
        </p:txBody>
      </p:sp>
      <p:sp>
        <p:nvSpPr>
          <p:cNvPr id="16" name="Rounded Rectangle 15"/>
          <p:cNvSpPr/>
          <p:nvPr/>
        </p:nvSpPr>
        <p:spPr>
          <a:xfrm>
            <a:off x="502920" y="5596128"/>
            <a:ext cx="11183112" cy="539496"/>
          </a:xfrm>
          <a:prstGeom prst="roundRect">
            <a:avLst>
              <a:gd name="adj" fmla="val 10000"/>
            </a:avLst>
          </a:prstGeom>
          <a:solidFill>
            <a:srgbClr val="E4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5696712"/>
            <a:ext cx="10844784" cy="384048"/>
          </a:xfrm>
          <a:prstGeom prst="rect">
            <a:avLst/>
          </a:prstGeom>
          <a:noFill/>
        </p:spPr>
        <p:txBody>
          <a:bodyPr wrap="square" lIns="9144" rIns="9144" tIns="9144" bIns="9144">
            <a:spAutoFit/>
          </a:bodyPr>
          <a:lstStyle/>
          <a:p>
            <a:pPr>
              <a:lnSpc>
                <a:spcPct val="104000"/>
              </a:lnSpc>
              <a:spcAft>
                <a:spcPts val="300"/>
              </a:spcAft>
              <a:defRPr sz="1600" b="1">
                <a:solidFill>
                  <a:srgbClr val="007F7A"/>
                </a:solidFill>
                <a:latin typeface="DejaVu Sans"/>
              </a:defRPr>
            </a:pPr>
            <a:r>
              <a:t>Kết quả hỗ trợ thứ hạng SHAP dưới phép che đã chọn; chưa chứng minh giải thích nhân quả.</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0789920" cy="274320"/>
          </a:xfrm>
          <a:prstGeom prst="rect">
            <a:avLst/>
          </a:prstGeom>
          <a:noFill/>
        </p:spPr>
        <p:txBody>
          <a:bodyPr wrap="square" lIns="9144" rIns="9144" tIns="9144" bIns="9144">
            <a:spAutoFit/>
          </a:bodyPr>
          <a:lstStyle/>
          <a:p>
            <a:pPr>
              <a:lnSpc>
                <a:spcPct val="104000"/>
              </a:lnSpc>
              <a:spcAft>
                <a:spcPts val="300"/>
              </a:spcAft>
              <a:defRPr sz="1100" b="1">
                <a:solidFill>
                  <a:srgbClr val="007F7A"/>
                </a:solidFill>
                <a:latin typeface="DejaVu Sans"/>
              </a:defRPr>
            </a:pPr>
            <a:r>
              <a:t>10 / TIẾP THU GÓP Ý SEMINAR</a:t>
            </a:r>
          </a:p>
        </p:txBody>
      </p:sp>
      <p:sp>
        <p:nvSpPr>
          <p:cNvPr id="4" name="TextBox 3"/>
          <p:cNvSpPr txBox="1"/>
          <p:nvPr/>
        </p:nvSpPr>
        <p:spPr>
          <a:xfrm>
            <a:off x="502920" y="722376"/>
            <a:ext cx="11155680" cy="694944"/>
          </a:xfrm>
          <a:prstGeom prst="rect">
            <a:avLst/>
          </a:prstGeom>
          <a:noFill/>
        </p:spPr>
        <p:txBody>
          <a:bodyPr wrap="square" lIns="9144" rIns="9144" tIns="9144" bIns="9144">
            <a:spAutoFit/>
          </a:bodyPr>
          <a:lstStyle/>
          <a:p>
            <a:pPr>
              <a:lnSpc>
                <a:spcPct val="104000"/>
              </a:lnSpc>
              <a:spcAft>
                <a:spcPts val="300"/>
              </a:spcAft>
              <a:defRPr sz="2650" b="1">
                <a:solidFill>
                  <a:srgbClr val="17324D"/>
                </a:solidFill>
                <a:latin typeface="DejaVu Sans"/>
              </a:defRPr>
            </a:pPr>
            <a:r>
              <a:t>Mỗi nhận xét được gắn với nội dung và bằng chứng cụ thể</a:t>
            </a:r>
          </a:p>
        </p:txBody>
      </p:sp>
      <p:sp>
        <p:nvSpPr>
          <p:cNvPr id="5" name="TextBox 4"/>
          <p:cNvSpPr txBox="1"/>
          <p:nvPr/>
        </p:nvSpPr>
        <p:spPr>
          <a:xfrm>
            <a:off x="502920" y="1490472"/>
            <a:ext cx="11064240" cy="502920"/>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“Đã mô tả” và “đã đo trong pilot” là hai mức hoàn thiện khác nhau.</a:t>
            </a:r>
          </a:p>
        </p:txBody>
      </p:sp>
      <p:cxnSp>
        <p:nvCxnSpPr>
          <p:cNvPr id="6" name="Connector 5"/>
          <p:cNvCxnSpPr/>
          <p:nvPr/>
        </p:nvCxnSpPr>
        <p:spPr>
          <a:xfrm>
            <a:off x="502920" y="6382512"/>
            <a:ext cx="11183112" cy="0"/>
          </a:xfrm>
          <a:prstGeom prst="line">
            <a:avLst/>
          </a:prstGeom>
          <a:ln w="12700">
            <a:solidFill>
              <a:srgbClr val="DCE5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744200" cy="210312"/>
          </a:xfrm>
          <a:prstGeom prst="rect">
            <a:avLst/>
          </a:prstGeom>
          <a:noFill/>
        </p:spPr>
        <p:txBody>
          <a:bodyPr wrap="square" lIns="9144" rIns="9144" tIns="9144" bIns="9144">
            <a:spAutoFit/>
          </a:bodyPr>
          <a:lstStyle/>
          <a:p>
            <a:pPr>
              <a:lnSpc>
                <a:spcPct val="104000"/>
              </a:lnSpc>
              <a:spcAft>
                <a:spcPts val="300"/>
              </a:spcAft>
              <a:defRPr sz="900" b="0">
                <a:solidFill>
                  <a:srgbClr val="526779"/>
                </a:solidFill>
                <a:latin typeface="DejaVu Sans"/>
              </a:defRPr>
            </a:pPr>
            <a:r>
              <a:t>Nguồn: góp ý.txt; luuvan.pdf (trang in); hai pilot thực nghiệm bổ sung kèm ZIP.</a:t>
            </a:r>
          </a:p>
        </p:txBody>
      </p:sp>
      <p:sp>
        <p:nvSpPr>
          <p:cNvPr id="8" name="TextBox 7"/>
          <p:cNvSpPr txBox="1"/>
          <p:nvPr/>
        </p:nvSpPr>
        <p:spPr>
          <a:xfrm>
            <a:off x="11000232" y="6455664"/>
            <a:ext cx="685800" cy="228600"/>
          </a:xfrm>
          <a:prstGeom prst="rect">
            <a:avLst/>
          </a:prstGeom>
          <a:noFill/>
        </p:spPr>
        <p:txBody>
          <a:bodyPr wrap="square" lIns="9144" rIns="9144" tIns="9144" bIns="9144">
            <a:spAutoFit/>
          </a:bodyPr>
          <a:lstStyle/>
          <a:p>
            <a:pPr>
              <a:lnSpc>
                <a:spcPct val="104000"/>
              </a:lnSpc>
              <a:spcAft>
                <a:spcPts val="300"/>
              </a:spcAft>
              <a:defRPr sz="1000" b="1">
                <a:solidFill>
                  <a:srgbClr val="007F7A"/>
                </a:solidFill>
                <a:latin typeface="DejaVu Sans"/>
              </a:defRPr>
            </a:pPr>
            <a:r>
              <a:t>11 / 17</a:t>
            </a:r>
          </a:p>
        </p:txBody>
      </p:sp>
      <p:sp>
        <p:nvSpPr>
          <p:cNvPr id="9" name="Rectangle 8"/>
          <p:cNvSpPr/>
          <p:nvPr/>
        </p:nvSpPr>
        <p:spPr>
          <a:xfrm>
            <a:off x="502920" y="2075688"/>
            <a:ext cx="11183112" cy="420624"/>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176272"/>
            <a:ext cx="2606039" cy="283464"/>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HỘI ĐỒNG YÊU CẦU</a:t>
            </a:r>
          </a:p>
        </p:txBody>
      </p:sp>
      <p:sp>
        <p:nvSpPr>
          <p:cNvPr id="11" name="TextBox 10"/>
          <p:cNvSpPr txBox="1"/>
          <p:nvPr/>
        </p:nvSpPr>
        <p:spPr>
          <a:xfrm>
            <a:off x="3438144" y="2176272"/>
            <a:ext cx="3931920" cy="283464"/>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ĐÃ LÀM / VỊ TRÍ</a:t>
            </a:r>
          </a:p>
        </p:txBody>
      </p:sp>
      <p:sp>
        <p:nvSpPr>
          <p:cNvPr id="12" name="TextBox 11"/>
          <p:cNvSpPr txBox="1"/>
          <p:nvPr/>
        </p:nvSpPr>
        <p:spPr>
          <a:xfrm>
            <a:off x="7589519" y="2176272"/>
            <a:ext cx="3986783" cy="283464"/>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MỨC BẰNG CHỨNG HIỆN TẠI</a:t>
            </a:r>
          </a:p>
        </p:txBody>
      </p:sp>
      <p:sp>
        <p:nvSpPr>
          <p:cNvPr id="13" name="Rectangle 12"/>
          <p:cNvSpPr/>
          <p:nvPr/>
        </p:nvSpPr>
        <p:spPr>
          <a:xfrm>
            <a:off x="502920" y="2496312"/>
            <a:ext cx="11183112" cy="7223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624328"/>
            <a:ext cx="2606039" cy="539496"/>
          </a:xfrm>
          <a:prstGeom prst="rect">
            <a:avLst/>
          </a:prstGeom>
          <a:noFill/>
        </p:spPr>
        <p:txBody>
          <a:bodyPr wrap="square" lIns="9144" rIns="9144" tIns="9144" bIns="9144">
            <a:spAutoFit/>
          </a:bodyPr>
          <a:lstStyle/>
          <a:p>
            <a:pPr>
              <a:lnSpc>
                <a:spcPct val="104000"/>
              </a:lnSpc>
              <a:spcAft>
                <a:spcPts val="300"/>
              </a:spcAft>
              <a:defRPr sz="1500" b="1">
                <a:solidFill>
                  <a:srgbClr val="17324D"/>
                </a:solidFill>
                <a:latin typeface="DejaVu Sans"/>
              </a:defRPr>
            </a:pPr>
            <a:r>
              <a:t>Vì sao cần PID; có/không PID?</a:t>
            </a:r>
          </a:p>
        </p:txBody>
      </p:sp>
      <p:sp>
        <p:nvSpPr>
          <p:cNvPr id="15" name="TextBox 14"/>
          <p:cNvSpPr txBox="1"/>
          <p:nvPr/>
        </p:nvSpPr>
        <p:spPr>
          <a:xfrm>
            <a:off x="3438144" y="2624328"/>
            <a:ext cx="3931920" cy="539496"/>
          </a:xfrm>
          <a:prstGeom prst="rect">
            <a:avLst/>
          </a:prstGeom>
          <a:noFill/>
        </p:spPr>
        <p:txBody>
          <a:bodyPr wrap="square" lIns="9144" rIns="9144" tIns="9144" bIns="9144">
            <a:spAutoFit/>
          </a:bodyPr>
          <a:lstStyle/>
          <a:p>
            <a:pPr>
              <a:lnSpc>
                <a:spcPct val="104000"/>
              </a:lnSpc>
              <a:spcAft>
                <a:spcPts val="300"/>
              </a:spcAft>
              <a:defRPr sz="1450" b="0">
                <a:solidFill>
                  <a:srgbClr val="17324D"/>
                </a:solidFill>
                <a:latin typeface="DejaVu Sans"/>
              </a:defRPr>
            </a:pPr>
            <a:r>
              <a:t>Giải thích vai trò, công thức, giới hạn</a:t>
            </a:r>
          </a:p>
          <a:p>
            <a:pPr>
              <a:lnSpc>
                <a:spcPct val="104000"/>
              </a:lnSpc>
              <a:spcAft>
                <a:spcPts val="300"/>
              </a:spcAft>
              <a:defRPr sz="1450" b="0">
                <a:solidFill>
                  <a:srgbClr val="17324D"/>
                </a:solidFill>
                <a:latin typeface="DejaVu Sans"/>
              </a:defRPr>
            </a:pPr>
            <a:r>
              <a:t>§3.2, tr.36–39; slide 4.</a:t>
            </a:r>
          </a:p>
        </p:txBody>
      </p:sp>
      <p:sp>
        <p:nvSpPr>
          <p:cNvPr id="16" name="TextBox 15"/>
          <p:cNvSpPr txBox="1"/>
          <p:nvPr/>
        </p:nvSpPr>
        <p:spPr>
          <a:xfrm>
            <a:off x="7589519" y="2624328"/>
            <a:ext cx="3986783" cy="539496"/>
          </a:xfrm>
          <a:prstGeom prst="rect">
            <a:avLst/>
          </a:prstGeom>
          <a:noFill/>
        </p:spPr>
        <p:txBody>
          <a:bodyPr wrap="square" lIns="9144" rIns="9144" tIns="9144" bIns="9144">
            <a:spAutoFit/>
          </a:bodyPr>
          <a:lstStyle/>
          <a:p>
            <a:pPr>
              <a:lnSpc>
                <a:spcPct val="104000"/>
              </a:lnSpc>
              <a:spcAft>
                <a:spcPts val="300"/>
              </a:spcAft>
              <a:defRPr sz="1450" b="0">
                <a:solidFill>
                  <a:srgbClr val="526779"/>
                </a:solidFill>
                <a:latin typeface="DejaVu Sans"/>
              </a:defRPr>
            </a:pPr>
            <a:r>
              <a:t>Đã mô tả; còn thiếu điểm động thật</a:t>
            </a:r>
          </a:p>
          <a:p>
            <a:pPr>
              <a:lnSpc>
                <a:spcPct val="104000"/>
              </a:lnSpc>
              <a:spcAft>
                <a:spcPts val="300"/>
              </a:spcAft>
              <a:defRPr sz="1450" b="0">
                <a:solidFill>
                  <a:srgbClr val="526779"/>
                </a:solidFill>
                <a:latin typeface="DejaVu Sans"/>
              </a:defRPr>
            </a:pPr>
            <a:r>
              <a:t>và so Fixed / P / PI / PID.</a:t>
            </a:r>
          </a:p>
        </p:txBody>
      </p:sp>
      <p:sp>
        <p:nvSpPr>
          <p:cNvPr id="17" name="Rectangle 16"/>
          <p:cNvSpPr/>
          <p:nvPr/>
        </p:nvSpPr>
        <p:spPr>
          <a:xfrm>
            <a:off x="502920" y="3218688"/>
            <a:ext cx="11183112" cy="722376"/>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346704"/>
            <a:ext cx="2606039" cy="539496"/>
          </a:xfrm>
          <a:prstGeom prst="rect">
            <a:avLst/>
          </a:prstGeom>
          <a:noFill/>
        </p:spPr>
        <p:txBody>
          <a:bodyPr wrap="square" lIns="9144" rIns="9144" tIns="9144" bIns="9144">
            <a:spAutoFit/>
          </a:bodyPr>
          <a:lstStyle/>
          <a:p>
            <a:pPr>
              <a:lnSpc>
                <a:spcPct val="104000"/>
              </a:lnSpc>
              <a:spcAft>
                <a:spcPts val="300"/>
              </a:spcAft>
              <a:defRPr sz="1500" b="1">
                <a:solidFill>
                  <a:srgbClr val="17324D"/>
                </a:solidFill>
                <a:latin typeface="DejaVu Sans"/>
              </a:defRPr>
            </a:pPr>
            <a:r>
              <a:t>XAI-AL tạo khác biệt gì?</a:t>
            </a:r>
          </a:p>
        </p:txBody>
      </p:sp>
      <p:sp>
        <p:nvSpPr>
          <p:cNvPr id="19" name="TextBox 18"/>
          <p:cNvSpPr txBox="1"/>
          <p:nvPr/>
        </p:nvSpPr>
        <p:spPr>
          <a:xfrm>
            <a:off x="3438144" y="3346704"/>
            <a:ext cx="3931920" cy="539496"/>
          </a:xfrm>
          <a:prstGeom prst="rect">
            <a:avLst/>
          </a:prstGeom>
          <a:noFill/>
        </p:spPr>
        <p:txBody>
          <a:bodyPr wrap="square" lIns="9144" rIns="9144" tIns="9144" bIns="9144">
            <a:spAutoFit/>
          </a:bodyPr>
          <a:lstStyle/>
          <a:p>
            <a:pPr>
              <a:lnSpc>
                <a:spcPct val="104000"/>
              </a:lnSpc>
              <a:spcAft>
                <a:spcPts val="300"/>
              </a:spcAft>
              <a:defRPr sz="1450" b="0">
                <a:solidFill>
                  <a:srgbClr val="17324D"/>
                </a:solidFill>
                <a:latin typeface="DejaVu Sans"/>
              </a:defRPr>
            </a:pPr>
            <a:r>
              <a:t>Chạy 5 chiến lược × 5 seed</a:t>
            </a:r>
          </a:p>
          <a:p>
            <a:pPr>
              <a:lnSpc>
                <a:spcPct val="104000"/>
              </a:lnSpc>
              <a:spcAft>
                <a:spcPts val="300"/>
              </a:spcAft>
              <a:defRPr sz="1450" b="0">
                <a:solidFill>
                  <a:srgbClr val="17324D"/>
                </a:solidFill>
                <a:latin typeface="DejaVu Sans"/>
              </a:defRPr>
            </a:pPr>
            <a:r>
              <a:t>Slide 6–8; pilot_al/.</a:t>
            </a:r>
          </a:p>
        </p:txBody>
      </p:sp>
      <p:sp>
        <p:nvSpPr>
          <p:cNvPr id="20" name="TextBox 19"/>
          <p:cNvSpPr txBox="1"/>
          <p:nvPr/>
        </p:nvSpPr>
        <p:spPr>
          <a:xfrm>
            <a:off x="7589519" y="3346704"/>
            <a:ext cx="3986783" cy="539496"/>
          </a:xfrm>
          <a:prstGeom prst="rect">
            <a:avLst/>
          </a:prstGeom>
          <a:noFill/>
        </p:spPr>
        <p:txBody>
          <a:bodyPr wrap="square" lIns="9144" rIns="9144" tIns="9144" bIns="9144">
            <a:spAutoFit/>
          </a:bodyPr>
          <a:lstStyle/>
          <a:p>
            <a:pPr>
              <a:lnSpc>
                <a:spcPct val="104000"/>
              </a:lnSpc>
              <a:spcAft>
                <a:spcPts val="300"/>
              </a:spcAft>
              <a:defRPr sz="1450" b="0">
                <a:solidFill>
                  <a:srgbClr val="526779"/>
                </a:solidFill>
                <a:latin typeface="DejaVu Sans"/>
              </a:defRPr>
            </a:pPr>
            <a:r>
              <a:t>Đã đo: AUC tăng ở cùng 700 nhãn;</a:t>
            </a:r>
          </a:p>
          <a:p>
            <a:pPr>
              <a:lnSpc>
                <a:spcPct val="104000"/>
              </a:lnSpc>
              <a:spcAft>
                <a:spcPts val="300"/>
              </a:spcAft>
              <a:defRPr sz="1450" b="0">
                <a:solidFill>
                  <a:srgbClr val="526779"/>
                </a:solidFill>
                <a:latin typeface="DejaVu Sans"/>
              </a:defRPr>
            </a:pPr>
            <a:r>
              <a:t>chưa chứng minh tiết kiệm nhãn.</a:t>
            </a:r>
          </a:p>
        </p:txBody>
      </p:sp>
      <p:sp>
        <p:nvSpPr>
          <p:cNvPr id="21" name="Rectangle 20"/>
          <p:cNvSpPr/>
          <p:nvPr/>
        </p:nvSpPr>
        <p:spPr>
          <a:xfrm>
            <a:off x="502920" y="3941064"/>
            <a:ext cx="11183112" cy="7223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 y="4069080"/>
            <a:ext cx="2606039" cy="539496"/>
          </a:xfrm>
          <a:prstGeom prst="rect">
            <a:avLst/>
          </a:prstGeom>
          <a:noFill/>
        </p:spPr>
        <p:txBody>
          <a:bodyPr wrap="square" lIns="9144" rIns="9144" tIns="9144" bIns="9144">
            <a:spAutoFit/>
          </a:bodyPr>
          <a:lstStyle/>
          <a:p>
            <a:pPr>
              <a:lnSpc>
                <a:spcPct val="104000"/>
              </a:lnSpc>
              <a:spcAft>
                <a:spcPts val="300"/>
              </a:spcAft>
              <a:defRPr sz="1500" b="1">
                <a:solidFill>
                  <a:srgbClr val="17324D"/>
                </a:solidFill>
                <a:latin typeface="DejaVu Sans"/>
              </a:defRPr>
            </a:pPr>
            <a:r>
              <a:t>Độ đo có phù hợp với PE?</a:t>
            </a:r>
          </a:p>
        </p:txBody>
      </p:sp>
      <p:sp>
        <p:nvSpPr>
          <p:cNvPr id="23" name="TextBox 22"/>
          <p:cNvSpPr txBox="1"/>
          <p:nvPr/>
        </p:nvSpPr>
        <p:spPr>
          <a:xfrm>
            <a:off x="3438144" y="4069080"/>
            <a:ext cx="3931920" cy="539496"/>
          </a:xfrm>
          <a:prstGeom prst="rect">
            <a:avLst/>
          </a:prstGeom>
          <a:noFill/>
        </p:spPr>
        <p:txBody>
          <a:bodyPr wrap="square" lIns="9144" rIns="9144" tIns="9144" bIns="9144">
            <a:spAutoFit/>
          </a:bodyPr>
          <a:lstStyle/>
          <a:p>
            <a:pPr>
              <a:lnSpc>
                <a:spcPct val="104000"/>
              </a:lnSpc>
              <a:spcAft>
                <a:spcPts val="300"/>
              </a:spcAft>
              <a:defRPr sz="1450" b="0">
                <a:solidFill>
                  <a:srgbClr val="17324D"/>
                </a:solidFill>
                <a:latin typeface="DejaVu Sans"/>
              </a:defRPr>
            </a:pPr>
            <a:r>
              <a:t>Baseline train; đối chứng random</a:t>
            </a:r>
          </a:p>
          <a:p>
            <a:pPr>
              <a:lnSpc>
                <a:spcPct val="104000"/>
              </a:lnSpc>
              <a:spcAft>
                <a:spcPts val="300"/>
              </a:spcAft>
              <a:defRPr sz="1450" b="0">
                <a:solidFill>
                  <a:srgbClr val="17324D"/>
                </a:solidFill>
                <a:latin typeface="DejaVu Sans"/>
              </a:defRPr>
            </a:pPr>
            <a:r>
              <a:t>§3.4; slide 9–10; pilot_fidelity/.</a:t>
            </a:r>
          </a:p>
        </p:txBody>
      </p:sp>
      <p:sp>
        <p:nvSpPr>
          <p:cNvPr id="24" name="TextBox 23"/>
          <p:cNvSpPr txBox="1"/>
          <p:nvPr/>
        </p:nvSpPr>
        <p:spPr>
          <a:xfrm>
            <a:off x="7589519" y="4069080"/>
            <a:ext cx="3986783" cy="539496"/>
          </a:xfrm>
          <a:prstGeom prst="rect">
            <a:avLst/>
          </a:prstGeom>
          <a:noFill/>
        </p:spPr>
        <p:txBody>
          <a:bodyPr wrap="square" lIns="9144" rIns="9144" tIns="9144" bIns="9144">
            <a:spAutoFit/>
          </a:bodyPr>
          <a:lstStyle/>
          <a:p>
            <a:pPr>
              <a:lnSpc>
                <a:spcPct val="104000"/>
              </a:lnSpc>
              <a:spcAft>
                <a:spcPts val="300"/>
              </a:spcAft>
              <a:defRPr sz="1450" b="0">
                <a:solidFill>
                  <a:srgbClr val="526779"/>
                </a:solidFill>
                <a:latin typeface="DejaVu Sans"/>
              </a:defRPr>
            </a:pPr>
            <a:r>
              <a:t>Đã đo masking vector; còn thiếu</a:t>
            </a:r>
          </a:p>
          <a:p>
            <a:pPr>
              <a:lnSpc>
                <a:spcPct val="104000"/>
              </a:lnSpc>
              <a:spcAft>
                <a:spcPts val="300"/>
              </a:spcAft>
              <a:defRPr sz="1450" b="0">
                <a:solidFill>
                  <a:srgbClr val="526779"/>
                </a:solidFill>
                <a:latin typeface="DejaVu Sans"/>
              </a:defRPr>
            </a:pPr>
            <a:r>
              <a:t>kiểm tra ràng buộc nhóm PE.</a:t>
            </a:r>
          </a:p>
        </p:txBody>
      </p:sp>
      <p:sp>
        <p:nvSpPr>
          <p:cNvPr id="25" name="Rectangle 24"/>
          <p:cNvSpPr/>
          <p:nvPr/>
        </p:nvSpPr>
        <p:spPr>
          <a:xfrm>
            <a:off x="502920" y="4663440"/>
            <a:ext cx="11183112" cy="722376"/>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648" y="4791456"/>
            <a:ext cx="2606039" cy="539496"/>
          </a:xfrm>
          <a:prstGeom prst="rect">
            <a:avLst/>
          </a:prstGeom>
          <a:noFill/>
        </p:spPr>
        <p:txBody>
          <a:bodyPr wrap="square" lIns="9144" rIns="9144" tIns="9144" bIns="9144">
            <a:spAutoFit/>
          </a:bodyPr>
          <a:lstStyle/>
          <a:p>
            <a:pPr>
              <a:lnSpc>
                <a:spcPct val="104000"/>
              </a:lnSpc>
              <a:spcAft>
                <a:spcPts val="300"/>
              </a:spcAft>
              <a:defRPr sz="1500" b="1">
                <a:solidFill>
                  <a:srgbClr val="17324D"/>
                </a:solidFill>
                <a:latin typeface="DejaVu Sans"/>
              </a:defRPr>
            </a:pPr>
            <a:r>
              <a:t>AUC tăng ít; chi phí thực tế?</a:t>
            </a:r>
          </a:p>
        </p:txBody>
      </p:sp>
      <p:sp>
        <p:nvSpPr>
          <p:cNvPr id="27" name="TextBox 26"/>
          <p:cNvSpPr txBox="1"/>
          <p:nvPr/>
        </p:nvSpPr>
        <p:spPr>
          <a:xfrm>
            <a:off x="3438144" y="4791456"/>
            <a:ext cx="3931920" cy="539496"/>
          </a:xfrm>
          <a:prstGeom prst="rect">
            <a:avLst/>
          </a:prstGeom>
          <a:noFill/>
        </p:spPr>
        <p:txBody>
          <a:bodyPr wrap="square" lIns="9144" rIns="9144" tIns="9144" bIns="9144">
            <a:spAutoFit/>
          </a:bodyPr>
          <a:lstStyle/>
          <a:p>
            <a:pPr>
              <a:lnSpc>
                <a:spcPct val="104000"/>
              </a:lnSpc>
              <a:spcAft>
                <a:spcPts val="300"/>
              </a:spcAft>
              <a:defRPr sz="1450" b="0">
                <a:solidFill>
                  <a:srgbClr val="17324D"/>
                </a:solidFill>
                <a:latin typeface="DejaVu Sans"/>
              </a:defRPr>
            </a:pPr>
            <a:r>
              <a:t>Báo SD, AP, FPR/TPR và timing</a:t>
            </a:r>
          </a:p>
          <a:p>
            <a:pPr>
              <a:lnSpc>
                <a:spcPct val="104000"/>
              </a:lnSpc>
              <a:spcAft>
                <a:spcPts val="300"/>
              </a:spcAft>
              <a:defRPr sz="1450" b="0">
                <a:solidFill>
                  <a:srgbClr val="17324D"/>
                </a:solidFill>
                <a:latin typeface="DejaVu Sans"/>
              </a:defRPr>
            </a:pPr>
            <a:r>
              <a:t>Slide 7–8; metrics.csv.</a:t>
            </a:r>
          </a:p>
        </p:txBody>
      </p:sp>
      <p:sp>
        <p:nvSpPr>
          <p:cNvPr id="28" name="TextBox 27"/>
          <p:cNvSpPr txBox="1"/>
          <p:nvPr/>
        </p:nvSpPr>
        <p:spPr>
          <a:xfrm>
            <a:off x="7589519" y="4791456"/>
            <a:ext cx="3986783" cy="539496"/>
          </a:xfrm>
          <a:prstGeom prst="rect">
            <a:avLst/>
          </a:prstGeom>
          <a:noFill/>
        </p:spPr>
        <p:txBody>
          <a:bodyPr wrap="square" lIns="9144" rIns="9144" tIns="9144" bIns="9144">
            <a:spAutoFit/>
          </a:bodyPr>
          <a:lstStyle/>
          <a:p>
            <a:pPr>
              <a:lnSpc>
                <a:spcPct val="104000"/>
              </a:lnSpc>
              <a:spcAft>
                <a:spcPts val="300"/>
              </a:spcAft>
              <a:defRPr sz="1450" b="0">
                <a:solidFill>
                  <a:srgbClr val="526779"/>
                </a:solidFill>
                <a:latin typeface="DejaVu Sans"/>
              </a:defRPr>
            </a:pPr>
            <a:r>
              <a:t>Có số đo pilot; chưa có latency</a:t>
            </a:r>
          </a:p>
          <a:p>
            <a:pPr>
              <a:lnSpc>
                <a:spcPct val="104000"/>
              </a:lnSpc>
              <a:spcAft>
                <a:spcPts val="300"/>
              </a:spcAft>
              <a:defRPr sz="1450" b="0">
                <a:solidFill>
                  <a:srgbClr val="526779"/>
                </a:solidFill>
                <a:latin typeface="DejaVu Sans"/>
              </a:defRPr>
            </a:pPr>
            <a:r>
              <a:t>end-to-end và chi phí chuyên gia.</a:t>
            </a:r>
          </a:p>
        </p:txBody>
      </p:sp>
      <p:sp>
        <p:nvSpPr>
          <p:cNvPr id="29" name="Rectangle 28"/>
          <p:cNvSpPr/>
          <p:nvPr/>
        </p:nvSpPr>
        <p:spPr>
          <a:xfrm>
            <a:off x="502920" y="5385816"/>
            <a:ext cx="11183112" cy="7223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648" y="5513832"/>
            <a:ext cx="2606039" cy="539496"/>
          </a:xfrm>
          <a:prstGeom prst="rect">
            <a:avLst/>
          </a:prstGeom>
          <a:noFill/>
        </p:spPr>
        <p:txBody>
          <a:bodyPr wrap="square" lIns="9144" rIns="9144" tIns="9144" bIns="9144">
            <a:spAutoFit/>
          </a:bodyPr>
          <a:lstStyle/>
          <a:p>
            <a:pPr>
              <a:lnSpc>
                <a:spcPct val="104000"/>
              </a:lnSpc>
              <a:spcAft>
                <a:spcPts val="300"/>
              </a:spcAft>
              <a:defRPr sz="1500" b="1">
                <a:solidFill>
                  <a:srgbClr val="17324D"/>
                </a:solidFill>
                <a:latin typeface="DejaVu Sans"/>
              </a:defRPr>
            </a:pPr>
            <a:r>
              <a:t>Kết hợp cả hệ thống được gì?</a:t>
            </a:r>
          </a:p>
        </p:txBody>
      </p:sp>
      <p:sp>
        <p:nvSpPr>
          <p:cNvPr id="31" name="TextBox 30"/>
          <p:cNvSpPr txBox="1"/>
          <p:nvPr/>
        </p:nvSpPr>
        <p:spPr>
          <a:xfrm>
            <a:off x="3438144" y="5513832"/>
            <a:ext cx="3931920" cy="539496"/>
          </a:xfrm>
          <a:prstGeom prst="rect">
            <a:avLst/>
          </a:prstGeom>
          <a:noFill/>
        </p:spPr>
        <p:txBody>
          <a:bodyPr wrap="square" lIns="9144" rIns="9144" tIns="9144" bIns="9144">
            <a:spAutoFit/>
          </a:bodyPr>
          <a:lstStyle/>
          <a:p>
            <a:pPr>
              <a:lnSpc>
                <a:spcPct val="104000"/>
              </a:lnSpc>
              <a:spcAft>
                <a:spcPts val="300"/>
              </a:spcAft>
              <a:defRPr sz="1450" b="0">
                <a:solidFill>
                  <a:srgbClr val="17324D"/>
                </a:solidFill>
                <a:latin typeface="DejaVu Sans"/>
              </a:defRPr>
            </a:pPr>
            <a:r>
              <a:t>Thiết kế ablation PID × AL</a:t>
            </a:r>
          </a:p>
          <a:p>
            <a:pPr>
              <a:lnSpc>
                <a:spcPct val="104000"/>
              </a:lnSpc>
              <a:spcAft>
                <a:spcPts val="300"/>
              </a:spcAft>
              <a:defRPr sz="1450" b="0">
                <a:solidFill>
                  <a:srgbClr val="17324D"/>
                </a:solidFill>
                <a:latin typeface="DejaVu Sans"/>
              </a:defRPr>
            </a:pPr>
            <a:r>
              <a:t>Phụ lục C — slide 15.</a:t>
            </a:r>
          </a:p>
        </p:txBody>
      </p:sp>
      <p:sp>
        <p:nvSpPr>
          <p:cNvPr id="32" name="TextBox 31"/>
          <p:cNvSpPr txBox="1"/>
          <p:nvPr/>
        </p:nvSpPr>
        <p:spPr>
          <a:xfrm>
            <a:off x="7589519" y="5513832"/>
            <a:ext cx="3986783" cy="539496"/>
          </a:xfrm>
          <a:prstGeom prst="rect">
            <a:avLst/>
          </a:prstGeom>
          <a:noFill/>
        </p:spPr>
        <p:txBody>
          <a:bodyPr wrap="square" lIns="9144" rIns="9144" tIns="9144" bIns="9144">
            <a:spAutoFit/>
          </a:bodyPr>
          <a:lstStyle/>
          <a:p>
            <a:pPr>
              <a:lnSpc>
                <a:spcPct val="104000"/>
              </a:lnSpc>
              <a:spcAft>
                <a:spcPts val="300"/>
              </a:spcAft>
              <a:defRPr sz="1450" b="0">
                <a:solidFill>
                  <a:srgbClr val="526779"/>
                </a:solidFill>
                <a:latin typeface="DejaVu Sans"/>
              </a:defRPr>
            </a:pPr>
            <a:r>
              <a:t>Chưa đủ dữ liệu để đo tác động</a:t>
            </a:r>
          </a:p>
          <a:p>
            <a:pPr>
              <a:lnSpc>
                <a:spcPct val="104000"/>
              </a:lnSpc>
              <a:spcAft>
                <a:spcPts val="300"/>
              </a:spcAft>
              <a:defRPr sz="1450" b="0">
                <a:solidFill>
                  <a:srgbClr val="526779"/>
                </a:solidFill>
                <a:latin typeface="DejaVu Sans"/>
              </a:defRPr>
            </a:pPr>
            <a:r>
              <a:t>kết hợp; không dùng số giả lập.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0789920" cy="274320"/>
          </a:xfrm>
          <a:prstGeom prst="rect">
            <a:avLst/>
          </a:prstGeom>
          <a:noFill/>
        </p:spPr>
        <p:txBody>
          <a:bodyPr wrap="square" lIns="9144" rIns="9144" tIns="9144" bIns="9144">
            <a:spAutoFit/>
          </a:bodyPr>
          <a:lstStyle/>
          <a:p>
            <a:pPr>
              <a:lnSpc>
                <a:spcPct val="104000"/>
              </a:lnSpc>
              <a:spcAft>
                <a:spcPts val="300"/>
              </a:spcAft>
              <a:defRPr sz="1100" b="1">
                <a:solidFill>
                  <a:srgbClr val="007F7A"/>
                </a:solidFill>
                <a:latin typeface="DejaVu Sans"/>
              </a:defRPr>
            </a:pPr>
            <a:r>
              <a:t>11 / KẾT LUẬN BÁO CÁO</a:t>
            </a:r>
          </a:p>
        </p:txBody>
      </p:sp>
      <p:sp>
        <p:nvSpPr>
          <p:cNvPr id="4" name="TextBox 3"/>
          <p:cNvSpPr txBox="1"/>
          <p:nvPr/>
        </p:nvSpPr>
        <p:spPr>
          <a:xfrm>
            <a:off x="502920" y="722376"/>
            <a:ext cx="11155680" cy="694944"/>
          </a:xfrm>
          <a:prstGeom prst="rect">
            <a:avLst/>
          </a:prstGeom>
          <a:noFill/>
        </p:spPr>
        <p:txBody>
          <a:bodyPr wrap="square" lIns="9144" rIns="9144" tIns="9144" bIns="9144">
            <a:spAutoFit/>
          </a:bodyPr>
          <a:lstStyle/>
          <a:p>
            <a:pPr>
              <a:lnSpc>
                <a:spcPct val="104000"/>
              </a:lnSpc>
              <a:spcAft>
                <a:spcPts val="300"/>
              </a:spcAft>
              <a:defRPr sz="2900" b="1">
                <a:solidFill>
                  <a:srgbClr val="17324D"/>
                </a:solidFill>
                <a:latin typeface="DejaVu Sans"/>
              </a:defRPr>
            </a:pPr>
            <a:r>
              <a:t>Đã có bằng chứng mới cho AL và kiểm tra SHAP</a:t>
            </a:r>
          </a:p>
        </p:txBody>
      </p:sp>
      <p:sp>
        <p:nvSpPr>
          <p:cNvPr id="5" name="TextBox 4"/>
          <p:cNvSpPr txBox="1"/>
          <p:nvPr/>
        </p:nvSpPr>
        <p:spPr>
          <a:xfrm>
            <a:off x="502920" y="1490472"/>
            <a:ext cx="11064240" cy="502920"/>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Mức kết luận bám theo thí nghiệm đã chạy; phần PID cần một gói đo bổ sung tập trung.</a:t>
            </a:r>
          </a:p>
        </p:txBody>
      </p:sp>
      <p:cxnSp>
        <p:nvCxnSpPr>
          <p:cNvPr id="6" name="Connector 5"/>
          <p:cNvCxnSpPr/>
          <p:nvPr/>
        </p:nvCxnSpPr>
        <p:spPr>
          <a:xfrm>
            <a:off x="502920" y="6382512"/>
            <a:ext cx="11183112" cy="0"/>
          </a:xfrm>
          <a:prstGeom prst="line">
            <a:avLst/>
          </a:prstGeom>
          <a:ln w="12700">
            <a:solidFill>
              <a:srgbClr val="DCE5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744200" cy="210312"/>
          </a:xfrm>
          <a:prstGeom prst="rect">
            <a:avLst/>
          </a:prstGeom>
          <a:noFill/>
        </p:spPr>
        <p:txBody>
          <a:bodyPr wrap="square" lIns="9144" rIns="9144" tIns="9144" bIns="9144">
            <a:spAutoFit/>
          </a:bodyPr>
          <a:lstStyle/>
          <a:p>
            <a:pPr>
              <a:lnSpc>
                <a:spcPct val="104000"/>
              </a:lnSpc>
              <a:spcAft>
                <a:spcPts val="300"/>
              </a:spcAft>
              <a:defRPr sz="900" b="0">
                <a:solidFill>
                  <a:srgbClr val="526779"/>
                </a:solidFill>
                <a:latin typeface="DejaVu Sans"/>
              </a:defRPr>
            </a:pPr>
            <a:r>
              <a:t>Nguồn: kết quả đã truy vết; kế hoạch đo bổ sung nằm ở Phụ lục C và báo cáo đánh giá bằng chứng.</a:t>
            </a:r>
          </a:p>
        </p:txBody>
      </p:sp>
      <p:sp>
        <p:nvSpPr>
          <p:cNvPr id="8" name="TextBox 7"/>
          <p:cNvSpPr txBox="1"/>
          <p:nvPr/>
        </p:nvSpPr>
        <p:spPr>
          <a:xfrm>
            <a:off x="11000232" y="6455664"/>
            <a:ext cx="685800" cy="228600"/>
          </a:xfrm>
          <a:prstGeom prst="rect">
            <a:avLst/>
          </a:prstGeom>
          <a:noFill/>
        </p:spPr>
        <p:txBody>
          <a:bodyPr wrap="square" lIns="9144" rIns="9144" tIns="9144" bIns="9144">
            <a:spAutoFit/>
          </a:bodyPr>
          <a:lstStyle/>
          <a:p>
            <a:pPr>
              <a:lnSpc>
                <a:spcPct val="104000"/>
              </a:lnSpc>
              <a:spcAft>
                <a:spcPts val="300"/>
              </a:spcAft>
              <a:defRPr sz="1000" b="1">
                <a:solidFill>
                  <a:srgbClr val="007F7A"/>
                </a:solidFill>
                <a:latin typeface="DejaVu Sans"/>
              </a:defRPr>
            </a:pPr>
            <a:r>
              <a:t>12 / 17</a:t>
            </a:r>
          </a:p>
        </p:txBody>
      </p:sp>
      <p:sp>
        <p:nvSpPr>
          <p:cNvPr id="9" name="Rounded Rectangle 8"/>
          <p:cNvSpPr/>
          <p:nvPr/>
        </p:nvSpPr>
        <p:spPr>
          <a:xfrm>
            <a:off x="502920" y="2176272"/>
            <a:ext cx="3621024" cy="3474720"/>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404872"/>
            <a:ext cx="3236976" cy="411480"/>
          </a:xfrm>
          <a:prstGeom prst="rect">
            <a:avLst/>
          </a:prstGeom>
          <a:noFill/>
        </p:spPr>
        <p:txBody>
          <a:bodyPr wrap="square" lIns="9144" rIns="9144" tIns="9144" bIns="9144">
            <a:spAutoFit/>
          </a:bodyPr>
          <a:lstStyle/>
          <a:p>
            <a:pPr>
              <a:lnSpc>
                <a:spcPct val="104000"/>
              </a:lnSpc>
              <a:spcAft>
                <a:spcPts val="300"/>
              </a:spcAft>
              <a:defRPr sz="2200" b="1">
                <a:solidFill>
                  <a:srgbClr val="007F7A"/>
                </a:solidFill>
                <a:latin typeface="DejaVu Sans"/>
              </a:defRPr>
            </a:pPr>
            <a:r>
              <a:t>① PID Fusion</a:t>
            </a:r>
          </a:p>
        </p:txBody>
      </p:sp>
      <p:sp>
        <p:nvSpPr>
          <p:cNvPr id="11" name="TextBox 10"/>
          <p:cNvSpPr txBox="1"/>
          <p:nvPr/>
        </p:nvSpPr>
        <p:spPr>
          <a:xfrm>
            <a:off x="685800" y="2990088"/>
            <a:ext cx="3236976" cy="548640"/>
          </a:xfrm>
          <a:prstGeom prst="rect">
            <a:avLst/>
          </a:prstGeom>
          <a:noFill/>
        </p:spPr>
        <p:txBody>
          <a:bodyPr wrap="square" lIns="9144" rIns="9144" tIns="9144" bIns="9144">
            <a:spAutoFit/>
          </a:bodyPr>
          <a:lstStyle/>
          <a:p>
            <a:pPr>
              <a:lnSpc>
                <a:spcPct val="104000"/>
              </a:lnSpc>
              <a:spcAft>
                <a:spcPts val="300"/>
              </a:spcAft>
              <a:defRPr sz="2250" b="1">
                <a:solidFill>
                  <a:srgbClr val="17324D"/>
                </a:solidFill>
                <a:latin typeface="DejaVu Sans"/>
              </a:defRPr>
            </a:pPr>
            <a:r>
              <a:t>Nguyên mẫu có sẵn</a:t>
            </a:r>
          </a:p>
        </p:txBody>
      </p:sp>
      <p:sp>
        <p:nvSpPr>
          <p:cNvPr id="12" name="TextBox 11"/>
          <p:cNvSpPr txBox="1"/>
          <p:nvPr/>
        </p:nvSpPr>
        <p:spPr>
          <a:xfrm>
            <a:off x="685800" y="3712463"/>
            <a:ext cx="3236976" cy="749808"/>
          </a:xfrm>
          <a:prstGeom prst="rect">
            <a:avLst/>
          </a:prstGeom>
          <a:noFill/>
        </p:spPr>
        <p:txBody>
          <a:bodyPr wrap="square" lIns="9144" rIns="9144" tIns="9144" bIns="9144">
            <a:spAutoFit/>
          </a:bodyPr>
          <a:lstStyle/>
          <a:p>
            <a:pPr>
              <a:lnSpc>
                <a:spcPct val="104000"/>
              </a:lnSpc>
              <a:spcAft>
                <a:spcPts val="300"/>
              </a:spcAft>
              <a:defRPr sz="1800" b="0">
                <a:solidFill>
                  <a:srgbClr val="17324D"/>
                </a:solidFill>
                <a:latin typeface="DejaVu Sans"/>
              </a:defRPr>
            </a:pPr>
            <a:r>
              <a:t>Trọng số hợp lệ và</a:t>
            </a:r>
          </a:p>
          <a:p>
            <a:pPr>
              <a:lnSpc>
                <a:spcPct val="104000"/>
              </a:lnSpc>
              <a:spcAft>
                <a:spcPts val="300"/>
              </a:spcAft>
              <a:defRPr sz="1800" b="0">
                <a:solidFill>
                  <a:srgbClr val="17324D"/>
                </a:solidFill>
                <a:latin typeface="DejaVu Sans"/>
              </a:defRPr>
            </a:pPr>
            <a:r>
              <a:t>cơ chế có trạng thái.</a:t>
            </a:r>
          </a:p>
        </p:txBody>
      </p:sp>
      <p:cxnSp>
        <p:nvCxnSpPr>
          <p:cNvPr id="13" name="Connector 12"/>
          <p:cNvCxnSpPr/>
          <p:nvPr/>
        </p:nvCxnSpPr>
        <p:spPr>
          <a:xfrm>
            <a:off x="685800" y="4617720"/>
            <a:ext cx="3246120" cy="0"/>
          </a:xfrm>
          <a:prstGeom prst="line">
            <a:avLst/>
          </a:prstGeom>
          <a:ln w="12700">
            <a:solidFill>
              <a:srgbClr val="DCE5E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4846320"/>
            <a:ext cx="3236976" cy="640080"/>
          </a:xfrm>
          <a:prstGeom prst="rect">
            <a:avLst/>
          </a:prstGeom>
          <a:noFill/>
        </p:spPr>
        <p:txBody>
          <a:bodyPr wrap="square" lIns="9144" rIns="9144" tIns="9144" bIns="9144">
            <a:spAutoFit/>
          </a:bodyPr>
          <a:lstStyle/>
          <a:p>
            <a:pPr>
              <a:lnSpc>
                <a:spcPct val="104000"/>
              </a:lnSpc>
              <a:spcAft>
                <a:spcPts val="300"/>
              </a:spcAft>
              <a:defRPr sz="1600" b="1">
                <a:solidFill>
                  <a:srgbClr val="526779"/>
                </a:solidFill>
                <a:latin typeface="DejaVu Sans"/>
              </a:defRPr>
            </a:pPr>
            <a:r>
              <a:t>Cần điểm động thật +</a:t>
            </a:r>
          </a:p>
          <a:p>
            <a:pPr>
              <a:lnSpc>
                <a:spcPct val="104000"/>
              </a:lnSpc>
              <a:spcAft>
                <a:spcPts val="300"/>
              </a:spcAft>
              <a:defRPr sz="1600" b="1">
                <a:solidFill>
                  <a:srgbClr val="526779"/>
                </a:solidFill>
                <a:latin typeface="DejaVu Sans"/>
              </a:defRPr>
            </a:pPr>
            <a:r>
              <a:t>đối chứng cùng đầu vào.</a:t>
            </a:r>
          </a:p>
        </p:txBody>
      </p:sp>
      <p:sp>
        <p:nvSpPr>
          <p:cNvPr id="15" name="Rounded Rectangle 14"/>
          <p:cNvSpPr/>
          <p:nvPr/>
        </p:nvSpPr>
        <p:spPr>
          <a:xfrm>
            <a:off x="4279392" y="2176272"/>
            <a:ext cx="3621024" cy="3474720"/>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2404872"/>
            <a:ext cx="3236976" cy="411480"/>
          </a:xfrm>
          <a:prstGeom prst="rect">
            <a:avLst/>
          </a:prstGeom>
          <a:noFill/>
        </p:spPr>
        <p:txBody>
          <a:bodyPr wrap="square" lIns="9144" rIns="9144" tIns="9144" bIns="9144">
            <a:spAutoFit/>
          </a:bodyPr>
          <a:lstStyle/>
          <a:p>
            <a:pPr>
              <a:lnSpc>
                <a:spcPct val="104000"/>
              </a:lnSpc>
              <a:spcAft>
                <a:spcPts val="300"/>
              </a:spcAft>
              <a:defRPr sz="2200" b="1">
                <a:solidFill>
                  <a:srgbClr val="007F7A"/>
                </a:solidFill>
                <a:latin typeface="DejaVu Sans"/>
              </a:defRPr>
            </a:pPr>
            <a:r>
              <a:t>② XAI-Guided AL</a:t>
            </a:r>
          </a:p>
        </p:txBody>
      </p:sp>
      <p:sp>
        <p:nvSpPr>
          <p:cNvPr id="17" name="TextBox 16"/>
          <p:cNvSpPr txBox="1"/>
          <p:nvPr/>
        </p:nvSpPr>
        <p:spPr>
          <a:xfrm>
            <a:off x="4462272" y="2990088"/>
            <a:ext cx="3236976" cy="548640"/>
          </a:xfrm>
          <a:prstGeom prst="rect">
            <a:avLst/>
          </a:prstGeom>
          <a:noFill/>
        </p:spPr>
        <p:txBody>
          <a:bodyPr wrap="square" lIns="9144" rIns="9144" tIns="9144" bIns="9144">
            <a:spAutoFit/>
          </a:bodyPr>
          <a:lstStyle/>
          <a:p>
            <a:pPr>
              <a:lnSpc>
                <a:spcPct val="104000"/>
              </a:lnSpc>
              <a:spcAft>
                <a:spcPts val="300"/>
              </a:spcAft>
              <a:defRPr sz="2300" b="1">
                <a:solidFill>
                  <a:srgbClr val="17324D"/>
                </a:solidFill>
                <a:latin typeface="DejaVu Sans"/>
              </a:defRPr>
            </a:pPr>
            <a:r>
              <a:t>ΔAUC +0,0058</a:t>
            </a:r>
          </a:p>
        </p:txBody>
      </p:sp>
      <p:sp>
        <p:nvSpPr>
          <p:cNvPr id="18" name="TextBox 17"/>
          <p:cNvSpPr txBox="1"/>
          <p:nvPr/>
        </p:nvSpPr>
        <p:spPr>
          <a:xfrm>
            <a:off x="4462272" y="3712463"/>
            <a:ext cx="3236976" cy="749808"/>
          </a:xfrm>
          <a:prstGeom prst="rect">
            <a:avLst/>
          </a:prstGeom>
          <a:noFill/>
        </p:spPr>
        <p:txBody>
          <a:bodyPr wrap="square" lIns="9144" rIns="9144" tIns="9144" bIns="9144">
            <a:spAutoFit/>
          </a:bodyPr>
          <a:lstStyle/>
          <a:p>
            <a:pPr>
              <a:lnSpc>
                <a:spcPct val="104000"/>
              </a:lnSpc>
              <a:spcAft>
                <a:spcPts val="300"/>
              </a:spcAft>
              <a:defRPr sz="1800" b="0">
                <a:solidFill>
                  <a:srgbClr val="17324D"/>
                </a:solidFill>
                <a:latin typeface="DejaVu Sans"/>
              </a:defRPr>
            </a:pPr>
            <a:r>
              <a:t>Cải thiện so với U</a:t>
            </a:r>
          </a:p>
          <a:p>
            <a:pPr>
              <a:lnSpc>
                <a:spcPct val="104000"/>
              </a:lnSpc>
              <a:spcAft>
                <a:spcPts val="300"/>
              </a:spcAft>
              <a:defRPr sz="1800" b="0">
                <a:solidFill>
                  <a:srgbClr val="17324D"/>
                </a:solidFill>
                <a:latin typeface="DejaVu Sans"/>
              </a:defRPr>
            </a:pPr>
            <a:r>
              <a:t>ở cả 5 seed của pilot.</a:t>
            </a:r>
          </a:p>
        </p:txBody>
      </p:sp>
      <p:cxnSp>
        <p:nvCxnSpPr>
          <p:cNvPr id="19" name="Connector 18"/>
          <p:cNvCxnSpPr/>
          <p:nvPr/>
        </p:nvCxnSpPr>
        <p:spPr>
          <a:xfrm>
            <a:off x="4462272" y="4617720"/>
            <a:ext cx="3246120" cy="0"/>
          </a:xfrm>
          <a:prstGeom prst="line">
            <a:avLst/>
          </a:prstGeom>
          <a:ln w="12700">
            <a:solidFill>
              <a:srgbClr val="DCE5EC"/>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462272" y="4846320"/>
            <a:ext cx="3236976" cy="640080"/>
          </a:xfrm>
          <a:prstGeom prst="rect">
            <a:avLst/>
          </a:prstGeom>
          <a:noFill/>
        </p:spPr>
        <p:txBody>
          <a:bodyPr wrap="square" lIns="9144" rIns="9144" tIns="9144" bIns="9144">
            <a:spAutoFit/>
          </a:bodyPr>
          <a:lstStyle/>
          <a:p>
            <a:pPr>
              <a:lnSpc>
                <a:spcPct val="104000"/>
              </a:lnSpc>
              <a:spcAft>
                <a:spcPts val="300"/>
              </a:spcAft>
              <a:defRPr sz="1600" b="1">
                <a:solidFill>
                  <a:srgbClr val="526779"/>
                </a:solidFill>
                <a:latin typeface="DejaVu Sans"/>
              </a:defRPr>
            </a:pPr>
            <a:r>
              <a:t>Chưa chứng minh giảm FPR</a:t>
            </a:r>
          </a:p>
          <a:p>
            <a:pPr>
              <a:lnSpc>
                <a:spcPct val="104000"/>
              </a:lnSpc>
              <a:spcAft>
                <a:spcPts val="300"/>
              </a:spcAft>
              <a:defRPr sz="1600" b="1">
                <a:solidFill>
                  <a:srgbClr val="526779"/>
                </a:solidFill>
                <a:latin typeface="DejaVu Sans"/>
              </a:defRPr>
            </a:pPr>
            <a:r>
              <a:t>ổn định / tiết kiệm nhãn.</a:t>
            </a:r>
          </a:p>
        </p:txBody>
      </p:sp>
      <p:sp>
        <p:nvSpPr>
          <p:cNvPr id="21" name="Rounded Rectangle 20"/>
          <p:cNvSpPr/>
          <p:nvPr/>
        </p:nvSpPr>
        <p:spPr>
          <a:xfrm>
            <a:off x="8055864" y="2176272"/>
            <a:ext cx="3621024" cy="3474720"/>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2404872"/>
            <a:ext cx="3236976" cy="411480"/>
          </a:xfrm>
          <a:prstGeom prst="rect">
            <a:avLst/>
          </a:prstGeom>
          <a:noFill/>
        </p:spPr>
        <p:txBody>
          <a:bodyPr wrap="square" lIns="9144" rIns="9144" tIns="9144" bIns="9144">
            <a:spAutoFit/>
          </a:bodyPr>
          <a:lstStyle/>
          <a:p>
            <a:pPr>
              <a:lnSpc>
                <a:spcPct val="104000"/>
              </a:lnSpc>
              <a:spcAft>
                <a:spcPts val="300"/>
              </a:spcAft>
              <a:defRPr sz="2200" b="1">
                <a:solidFill>
                  <a:srgbClr val="007F7A"/>
                </a:solidFill>
                <a:latin typeface="DejaVu Sans"/>
              </a:defRPr>
            </a:pPr>
            <a:r>
              <a:t>③ Fidelity</a:t>
            </a:r>
          </a:p>
        </p:txBody>
      </p:sp>
      <p:sp>
        <p:nvSpPr>
          <p:cNvPr id="23" name="TextBox 22"/>
          <p:cNvSpPr txBox="1"/>
          <p:nvPr/>
        </p:nvSpPr>
        <p:spPr>
          <a:xfrm>
            <a:off x="8238744" y="2990088"/>
            <a:ext cx="3236976" cy="548640"/>
          </a:xfrm>
          <a:prstGeom prst="rect">
            <a:avLst/>
          </a:prstGeom>
          <a:noFill/>
        </p:spPr>
        <p:txBody>
          <a:bodyPr wrap="square" lIns="9144" rIns="9144" tIns="9144" bIns="9144">
            <a:spAutoFit/>
          </a:bodyPr>
          <a:lstStyle/>
          <a:p>
            <a:pPr>
              <a:lnSpc>
                <a:spcPct val="104000"/>
              </a:lnSpc>
              <a:spcAft>
                <a:spcPts val="300"/>
              </a:spcAft>
              <a:defRPr sz="2300" b="1">
                <a:solidFill>
                  <a:srgbClr val="17324D"/>
                </a:solidFill>
                <a:latin typeface="DejaVu Sans"/>
              </a:defRPr>
            </a:pPr>
            <a:r>
              <a:t>AUC drop 0,1616</a:t>
            </a:r>
          </a:p>
        </p:txBody>
      </p:sp>
      <p:sp>
        <p:nvSpPr>
          <p:cNvPr id="24" name="TextBox 23"/>
          <p:cNvSpPr txBox="1"/>
          <p:nvPr/>
        </p:nvSpPr>
        <p:spPr>
          <a:xfrm>
            <a:off x="8238744" y="3712463"/>
            <a:ext cx="3236976" cy="749808"/>
          </a:xfrm>
          <a:prstGeom prst="rect">
            <a:avLst/>
          </a:prstGeom>
          <a:noFill/>
        </p:spPr>
        <p:txBody>
          <a:bodyPr wrap="square" lIns="9144" rIns="9144" tIns="9144" bIns="9144">
            <a:spAutoFit/>
          </a:bodyPr>
          <a:lstStyle/>
          <a:p>
            <a:pPr>
              <a:lnSpc>
                <a:spcPct val="104000"/>
              </a:lnSpc>
              <a:spcAft>
                <a:spcPts val="300"/>
              </a:spcAft>
              <a:defRPr sz="1800" b="0">
                <a:solidFill>
                  <a:srgbClr val="17324D"/>
                </a:solidFill>
                <a:latin typeface="DejaVu Sans"/>
              </a:defRPr>
            </a:pPr>
            <a:r>
              <a:t>Top-SHAP k = 25 tác động</a:t>
            </a:r>
          </a:p>
          <a:p>
            <a:pPr>
              <a:lnSpc>
                <a:spcPct val="104000"/>
              </a:lnSpc>
              <a:spcAft>
                <a:spcPts val="300"/>
              </a:spcAft>
              <a:defRPr sz="1800" b="0">
                <a:solidFill>
                  <a:srgbClr val="17324D"/>
                </a:solidFill>
                <a:latin typeface="DejaVu Sans"/>
              </a:defRPr>
            </a:pPr>
            <a:r>
              <a:t>mạnh hơn random.</a:t>
            </a:r>
          </a:p>
        </p:txBody>
      </p:sp>
      <p:cxnSp>
        <p:nvCxnSpPr>
          <p:cNvPr id="25" name="Connector 24"/>
          <p:cNvCxnSpPr/>
          <p:nvPr/>
        </p:nvCxnSpPr>
        <p:spPr>
          <a:xfrm>
            <a:off x="8238744" y="4617720"/>
            <a:ext cx="3246120" cy="0"/>
          </a:xfrm>
          <a:prstGeom prst="line">
            <a:avLst/>
          </a:prstGeom>
          <a:ln w="12700">
            <a:solidFill>
              <a:srgbClr val="DCE5E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238744" y="4846320"/>
            <a:ext cx="3236976" cy="640080"/>
          </a:xfrm>
          <a:prstGeom prst="rect">
            <a:avLst/>
          </a:prstGeom>
          <a:noFill/>
        </p:spPr>
        <p:txBody>
          <a:bodyPr wrap="square" lIns="9144" rIns="9144" tIns="9144" bIns="9144">
            <a:spAutoFit/>
          </a:bodyPr>
          <a:lstStyle/>
          <a:p>
            <a:pPr>
              <a:lnSpc>
                <a:spcPct val="104000"/>
              </a:lnSpc>
              <a:spcAft>
                <a:spcPts val="300"/>
              </a:spcAft>
              <a:defRPr sz="1600" b="1">
                <a:solidFill>
                  <a:srgbClr val="526779"/>
                </a:solidFill>
                <a:latin typeface="DejaVu Sans"/>
              </a:defRPr>
            </a:pPr>
            <a:r>
              <a:t>Cần ràng buộc nhóm PE</a:t>
            </a:r>
          </a:p>
          <a:p>
            <a:pPr>
              <a:lnSpc>
                <a:spcPct val="104000"/>
              </a:lnSpc>
              <a:spcAft>
                <a:spcPts val="300"/>
              </a:spcAft>
              <a:defRPr sz="1600" b="1">
                <a:solidFill>
                  <a:srgbClr val="526779"/>
                </a:solidFill>
                <a:latin typeface="DejaVu Sans"/>
              </a:defRPr>
            </a:pPr>
            <a:r>
              <a:t>và thống nhất công thức.</a:t>
            </a:r>
          </a:p>
        </p:txBody>
      </p:sp>
      <p:sp>
        <p:nvSpPr>
          <p:cNvPr id="27" name="Rounded Rectangle 26"/>
          <p:cNvSpPr/>
          <p:nvPr/>
        </p:nvSpPr>
        <p:spPr>
          <a:xfrm>
            <a:off x="502920" y="5596128"/>
            <a:ext cx="11183112" cy="539496"/>
          </a:xfrm>
          <a:prstGeom prst="roundRect">
            <a:avLst>
              <a:gd name="adj" fmla="val 10000"/>
            </a:avLst>
          </a:prstGeom>
          <a:solidFill>
            <a:srgbClr val="E4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 y="5696712"/>
            <a:ext cx="10844784" cy="384048"/>
          </a:xfrm>
          <a:prstGeom prst="rect">
            <a:avLst/>
          </a:prstGeom>
          <a:noFill/>
        </p:spPr>
        <p:txBody>
          <a:bodyPr wrap="square" lIns="9144" rIns="9144" tIns="9144" bIns="9144">
            <a:spAutoFit/>
          </a:bodyPr>
          <a:lstStyle/>
          <a:p>
            <a:pPr>
              <a:lnSpc>
                <a:spcPct val="104000"/>
              </a:lnSpc>
              <a:spcAft>
                <a:spcPts val="300"/>
              </a:spcAft>
              <a:defRPr sz="1550" b="1">
                <a:solidFill>
                  <a:srgbClr val="007F7A"/>
                </a:solidFill>
                <a:latin typeface="DejaVu Sans"/>
              </a:defRPr>
            </a:pPr>
            <a:r>
              <a:t>Phần còn lại: xác minh nguồn dữ liệu → đo PID và bảng 2×2 → đồng bộ số liệu, công thức, code.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0789920" cy="274320"/>
          </a:xfrm>
          <a:prstGeom prst="rect">
            <a:avLst/>
          </a:prstGeom>
          <a:noFill/>
        </p:spPr>
        <p:txBody>
          <a:bodyPr wrap="square" lIns="9144" rIns="9144" tIns="9144" bIns="9144">
            <a:spAutoFit/>
          </a:bodyPr>
          <a:lstStyle/>
          <a:p>
            <a:pPr>
              <a:lnSpc>
                <a:spcPct val="104000"/>
              </a:lnSpc>
              <a:spcAft>
                <a:spcPts val="300"/>
              </a:spcAft>
              <a:defRPr sz="1100" b="1">
                <a:solidFill>
                  <a:srgbClr val="007F7A"/>
                </a:solidFill>
                <a:latin typeface="DejaVu Sans"/>
              </a:defRPr>
            </a:pPr>
            <a:r>
              <a:t>PHỤ LỤC A / ĐỐI SOÁT SỐ TRONG BẢN THẢO</a:t>
            </a:r>
          </a:p>
        </p:txBody>
      </p:sp>
      <p:sp>
        <p:nvSpPr>
          <p:cNvPr id="4" name="TextBox 3"/>
          <p:cNvSpPr txBox="1"/>
          <p:nvPr/>
        </p:nvSpPr>
        <p:spPr>
          <a:xfrm>
            <a:off x="502920" y="722376"/>
            <a:ext cx="11155680" cy="694944"/>
          </a:xfrm>
          <a:prstGeom prst="rect">
            <a:avLst/>
          </a:prstGeom>
          <a:noFill/>
        </p:spPr>
        <p:txBody>
          <a:bodyPr wrap="square" lIns="9144" rIns="9144" tIns="9144" bIns="9144">
            <a:spAutoFit/>
          </a:bodyPr>
          <a:lstStyle/>
          <a:p>
            <a:pPr>
              <a:lnSpc>
                <a:spcPct val="104000"/>
              </a:lnSpc>
              <a:spcAft>
                <a:spcPts val="300"/>
              </a:spcAft>
              <a:defRPr sz="2800" b="1">
                <a:solidFill>
                  <a:srgbClr val="17324D"/>
                </a:solidFill>
                <a:latin typeface="DejaVu Sans"/>
              </a:defRPr>
            </a:pPr>
            <a:r>
              <a:t>Bảng 4.5 chưa đủ căn cứ dùng làm kết quả đã xác nhận</a:t>
            </a:r>
          </a:p>
        </p:txBody>
      </p:sp>
      <p:sp>
        <p:nvSpPr>
          <p:cNvPr id="5" name="TextBox 4"/>
          <p:cNvSpPr txBox="1"/>
          <p:nvPr/>
        </p:nvSpPr>
        <p:spPr>
          <a:xfrm>
            <a:off x="502920" y="1490472"/>
            <a:ext cx="11064240" cy="502920"/>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Các số dưới đây chỉ trích nguyên bản thảo; không phải kết quả tái chạy của đợt rà soát.</a:t>
            </a:r>
          </a:p>
        </p:txBody>
      </p:sp>
      <p:cxnSp>
        <p:nvCxnSpPr>
          <p:cNvPr id="6" name="Connector 5"/>
          <p:cNvCxnSpPr/>
          <p:nvPr/>
        </p:nvCxnSpPr>
        <p:spPr>
          <a:xfrm>
            <a:off x="502920" y="6382512"/>
            <a:ext cx="11183112" cy="0"/>
          </a:xfrm>
          <a:prstGeom prst="line">
            <a:avLst/>
          </a:prstGeom>
          <a:ln w="12700">
            <a:solidFill>
              <a:srgbClr val="DCE5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744200" cy="210312"/>
          </a:xfrm>
          <a:prstGeom prst="rect">
            <a:avLst/>
          </a:prstGeom>
          <a:noFill/>
        </p:spPr>
        <p:txBody>
          <a:bodyPr wrap="square" lIns="9144" rIns="9144" tIns="9144" bIns="9144">
            <a:spAutoFit/>
          </a:bodyPr>
          <a:lstStyle/>
          <a:p>
            <a:pPr>
              <a:lnSpc>
                <a:spcPct val="104000"/>
              </a:lnSpc>
              <a:spcAft>
                <a:spcPts val="300"/>
              </a:spcAft>
              <a:defRPr sz="900" b="0">
                <a:solidFill>
                  <a:srgbClr val="526779"/>
                </a:solidFill>
                <a:latin typeface="DejaVu Sans"/>
              </a:defRPr>
            </a:pPr>
            <a:r>
              <a:t>Nguồn: luuvan.pdf Bảng 4.5, tr.53; scripts/run_experiments.py; scripts/live_defense_demo.py.</a:t>
            </a:r>
          </a:p>
        </p:txBody>
      </p:sp>
      <p:sp>
        <p:nvSpPr>
          <p:cNvPr id="8" name="TextBox 7"/>
          <p:cNvSpPr txBox="1"/>
          <p:nvPr/>
        </p:nvSpPr>
        <p:spPr>
          <a:xfrm>
            <a:off x="11000232" y="6455664"/>
            <a:ext cx="685800" cy="228600"/>
          </a:xfrm>
          <a:prstGeom prst="rect">
            <a:avLst/>
          </a:prstGeom>
          <a:noFill/>
        </p:spPr>
        <p:txBody>
          <a:bodyPr wrap="square" lIns="9144" rIns="9144" tIns="9144" bIns="9144">
            <a:spAutoFit/>
          </a:bodyPr>
          <a:lstStyle/>
          <a:p>
            <a:pPr>
              <a:lnSpc>
                <a:spcPct val="104000"/>
              </a:lnSpc>
              <a:spcAft>
                <a:spcPts val="300"/>
              </a:spcAft>
              <a:defRPr sz="1000" b="1">
                <a:solidFill>
                  <a:srgbClr val="007F7A"/>
                </a:solidFill>
                <a:latin typeface="DejaVu Sans"/>
              </a:defRPr>
            </a:pPr>
            <a:r>
              <a:t>13 / 17</a:t>
            </a:r>
          </a:p>
        </p:txBody>
      </p:sp>
      <p:sp>
        <p:nvSpPr>
          <p:cNvPr id="9" name="Rectangle 8"/>
          <p:cNvSpPr/>
          <p:nvPr/>
        </p:nvSpPr>
        <p:spPr>
          <a:xfrm>
            <a:off x="502920" y="2121408"/>
            <a:ext cx="6903720" cy="43891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221991"/>
            <a:ext cx="1746504" cy="301751"/>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CẤU HÌNH</a:t>
            </a:r>
          </a:p>
        </p:txBody>
      </p:sp>
      <p:sp>
        <p:nvSpPr>
          <p:cNvPr id="11" name="TextBox 10"/>
          <p:cNvSpPr txBox="1"/>
          <p:nvPr/>
        </p:nvSpPr>
        <p:spPr>
          <a:xfrm>
            <a:off x="2578608" y="2221991"/>
            <a:ext cx="941832" cy="301751"/>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AUC</a:t>
            </a:r>
          </a:p>
        </p:txBody>
      </p:sp>
      <p:sp>
        <p:nvSpPr>
          <p:cNvPr id="12" name="TextBox 11"/>
          <p:cNvSpPr txBox="1"/>
          <p:nvPr/>
        </p:nvSpPr>
        <p:spPr>
          <a:xfrm>
            <a:off x="3739896" y="2221991"/>
            <a:ext cx="777240" cy="301751"/>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FPR</a:t>
            </a:r>
          </a:p>
        </p:txBody>
      </p:sp>
      <p:sp>
        <p:nvSpPr>
          <p:cNvPr id="13" name="TextBox 12"/>
          <p:cNvSpPr txBox="1"/>
          <p:nvPr/>
        </p:nvSpPr>
        <p:spPr>
          <a:xfrm>
            <a:off x="4736592" y="2221991"/>
            <a:ext cx="2560320" cy="301751"/>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ĐỘ TRỄ GHI TRONG BẢNG</a:t>
            </a:r>
          </a:p>
        </p:txBody>
      </p:sp>
      <p:sp>
        <p:nvSpPr>
          <p:cNvPr id="14" name="Rectangle 13"/>
          <p:cNvSpPr/>
          <p:nvPr/>
        </p:nvSpPr>
        <p:spPr>
          <a:xfrm>
            <a:off x="502920" y="2560320"/>
            <a:ext cx="690372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2688336"/>
            <a:ext cx="1746504" cy="365759"/>
          </a:xfrm>
          <a:prstGeom prst="rect">
            <a:avLst/>
          </a:prstGeom>
          <a:noFill/>
        </p:spPr>
        <p:txBody>
          <a:bodyPr wrap="square" lIns="9144" rIns="9144" tIns="9144" bIns="9144">
            <a:spAutoFit/>
          </a:bodyPr>
          <a:lstStyle/>
          <a:p>
            <a:pPr>
              <a:lnSpc>
                <a:spcPct val="104000"/>
              </a:lnSpc>
              <a:spcAft>
                <a:spcPts val="300"/>
              </a:spcAft>
              <a:defRPr sz="1600" b="1">
                <a:solidFill>
                  <a:srgbClr val="17324D"/>
                </a:solidFill>
                <a:latin typeface="DejaVu Sans"/>
              </a:defRPr>
            </a:pPr>
            <a:r>
              <a:t>Static</a:t>
            </a:r>
          </a:p>
        </p:txBody>
      </p:sp>
      <p:sp>
        <p:nvSpPr>
          <p:cNvPr id="16" name="TextBox 15"/>
          <p:cNvSpPr txBox="1"/>
          <p:nvPr/>
        </p:nvSpPr>
        <p:spPr>
          <a:xfrm>
            <a:off x="2578608" y="2688336"/>
            <a:ext cx="941832" cy="365759"/>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0,9420</a:t>
            </a:r>
          </a:p>
        </p:txBody>
      </p:sp>
      <p:sp>
        <p:nvSpPr>
          <p:cNvPr id="17" name="TextBox 16"/>
          <p:cNvSpPr txBox="1"/>
          <p:nvPr/>
        </p:nvSpPr>
        <p:spPr>
          <a:xfrm>
            <a:off x="3739896" y="2688336"/>
            <a:ext cx="777240" cy="365759"/>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4,5%</a:t>
            </a:r>
          </a:p>
        </p:txBody>
      </p:sp>
      <p:sp>
        <p:nvSpPr>
          <p:cNvPr id="18" name="TextBox 17"/>
          <p:cNvSpPr txBox="1"/>
          <p:nvPr/>
        </p:nvSpPr>
        <p:spPr>
          <a:xfrm>
            <a:off x="4736592" y="2688336"/>
            <a:ext cx="2560320" cy="365759"/>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2,1 ms — tĩnh</a:t>
            </a:r>
          </a:p>
        </p:txBody>
      </p:sp>
      <p:sp>
        <p:nvSpPr>
          <p:cNvPr id="19" name="Rectangle 18"/>
          <p:cNvSpPr/>
          <p:nvPr/>
        </p:nvSpPr>
        <p:spPr>
          <a:xfrm>
            <a:off x="502920" y="3108960"/>
            <a:ext cx="6903720" cy="548640"/>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 y="3236976"/>
            <a:ext cx="1746504" cy="365759"/>
          </a:xfrm>
          <a:prstGeom prst="rect">
            <a:avLst/>
          </a:prstGeom>
          <a:noFill/>
        </p:spPr>
        <p:txBody>
          <a:bodyPr wrap="square" lIns="9144" rIns="9144" tIns="9144" bIns="9144">
            <a:spAutoFit/>
          </a:bodyPr>
          <a:lstStyle/>
          <a:p>
            <a:pPr>
              <a:lnSpc>
                <a:spcPct val="104000"/>
              </a:lnSpc>
              <a:spcAft>
                <a:spcPts val="300"/>
              </a:spcAft>
              <a:defRPr sz="1600" b="1">
                <a:solidFill>
                  <a:srgbClr val="17324D"/>
                </a:solidFill>
                <a:latin typeface="DejaVu Sans"/>
              </a:defRPr>
            </a:pPr>
            <a:r>
              <a:t>Dynamic</a:t>
            </a:r>
          </a:p>
        </p:txBody>
      </p:sp>
      <p:sp>
        <p:nvSpPr>
          <p:cNvPr id="21" name="TextBox 20"/>
          <p:cNvSpPr txBox="1"/>
          <p:nvPr/>
        </p:nvSpPr>
        <p:spPr>
          <a:xfrm>
            <a:off x="2578608" y="3236976"/>
            <a:ext cx="941832" cy="365759"/>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0,9915</a:t>
            </a:r>
          </a:p>
        </p:txBody>
      </p:sp>
      <p:sp>
        <p:nvSpPr>
          <p:cNvPr id="22" name="TextBox 21"/>
          <p:cNvSpPr txBox="1"/>
          <p:nvPr/>
        </p:nvSpPr>
        <p:spPr>
          <a:xfrm>
            <a:off x="3739896" y="3236976"/>
            <a:ext cx="777240" cy="365759"/>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0,2%</a:t>
            </a:r>
          </a:p>
        </p:txBody>
      </p:sp>
      <p:sp>
        <p:nvSpPr>
          <p:cNvPr id="23" name="TextBox 22"/>
          <p:cNvSpPr txBox="1"/>
          <p:nvPr/>
        </p:nvSpPr>
        <p:spPr>
          <a:xfrm>
            <a:off x="4736592" y="3236976"/>
            <a:ext cx="2560320" cy="365759"/>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1.205,4 ms — động</a:t>
            </a:r>
          </a:p>
        </p:txBody>
      </p:sp>
      <p:sp>
        <p:nvSpPr>
          <p:cNvPr id="24" name="Rectangle 23"/>
          <p:cNvSpPr/>
          <p:nvPr/>
        </p:nvSpPr>
        <p:spPr>
          <a:xfrm>
            <a:off x="502920" y="3657600"/>
            <a:ext cx="690372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 y="3785615"/>
            <a:ext cx="1746504" cy="365759"/>
          </a:xfrm>
          <a:prstGeom prst="rect">
            <a:avLst/>
          </a:prstGeom>
          <a:noFill/>
        </p:spPr>
        <p:txBody>
          <a:bodyPr wrap="square" lIns="9144" rIns="9144" tIns="9144" bIns="9144">
            <a:spAutoFit/>
          </a:bodyPr>
          <a:lstStyle/>
          <a:p>
            <a:pPr>
              <a:lnSpc>
                <a:spcPct val="104000"/>
              </a:lnSpc>
              <a:spcAft>
                <a:spcPts val="300"/>
              </a:spcAft>
              <a:defRPr sz="1600" b="1">
                <a:solidFill>
                  <a:srgbClr val="17324D"/>
                </a:solidFill>
                <a:latin typeface="DejaVu Sans"/>
              </a:defRPr>
            </a:pPr>
            <a:r>
              <a:t>Fixed-weight</a:t>
            </a:r>
          </a:p>
        </p:txBody>
      </p:sp>
      <p:sp>
        <p:nvSpPr>
          <p:cNvPr id="26" name="TextBox 25"/>
          <p:cNvSpPr txBox="1"/>
          <p:nvPr/>
        </p:nvSpPr>
        <p:spPr>
          <a:xfrm>
            <a:off x="2578608" y="3785615"/>
            <a:ext cx="941832" cy="365759"/>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0,9720</a:t>
            </a:r>
          </a:p>
        </p:txBody>
      </p:sp>
      <p:sp>
        <p:nvSpPr>
          <p:cNvPr id="27" name="TextBox 26"/>
          <p:cNvSpPr txBox="1"/>
          <p:nvPr/>
        </p:nvSpPr>
        <p:spPr>
          <a:xfrm>
            <a:off x="3739896" y="3785615"/>
            <a:ext cx="777240" cy="365759"/>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1,1%</a:t>
            </a:r>
          </a:p>
        </p:txBody>
      </p:sp>
      <p:sp>
        <p:nvSpPr>
          <p:cNvPr id="28" name="TextBox 27"/>
          <p:cNvSpPr txBox="1"/>
          <p:nvPr/>
        </p:nvSpPr>
        <p:spPr>
          <a:xfrm>
            <a:off x="4736592" y="3785615"/>
            <a:ext cx="2560320" cy="365759"/>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16,4 ms — fusion</a:t>
            </a:r>
          </a:p>
        </p:txBody>
      </p:sp>
      <p:sp>
        <p:nvSpPr>
          <p:cNvPr id="29" name="Rectangle 28"/>
          <p:cNvSpPr/>
          <p:nvPr/>
        </p:nvSpPr>
        <p:spPr>
          <a:xfrm>
            <a:off x="502920" y="4206240"/>
            <a:ext cx="6903720" cy="548640"/>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648" y="4334255"/>
            <a:ext cx="1746504" cy="365759"/>
          </a:xfrm>
          <a:prstGeom prst="rect">
            <a:avLst/>
          </a:prstGeom>
          <a:noFill/>
        </p:spPr>
        <p:txBody>
          <a:bodyPr wrap="square" lIns="9144" rIns="9144" tIns="9144" bIns="9144">
            <a:spAutoFit/>
          </a:bodyPr>
          <a:lstStyle/>
          <a:p>
            <a:pPr>
              <a:lnSpc>
                <a:spcPct val="104000"/>
              </a:lnSpc>
              <a:spcAft>
                <a:spcPts val="300"/>
              </a:spcAft>
              <a:defRPr sz="1600" b="1">
                <a:solidFill>
                  <a:srgbClr val="17324D"/>
                </a:solidFill>
                <a:latin typeface="DejaVu Sans"/>
              </a:defRPr>
            </a:pPr>
            <a:r>
              <a:t>Gated</a:t>
            </a:r>
          </a:p>
        </p:txBody>
      </p:sp>
      <p:sp>
        <p:nvSpPr>
          <p:cNvPr id="31" name="TextBox 30"/>
          <p:cNvSpPr txBox="1"/>
          <p:nvPr/>
        </p:nvSpPr>
        <p:spPr>
          <a:xfrm>
            <a:off x="2578608" y="4334255"/>
            <a:ext cx="941832" cy="365759"/>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0,9760</a:t>
            </a:r>
          </a:p>
        </p:txBody>
      </p:sp>
      <p:sp>
        <p:nvSpPr>
          <p:cNvPr id="32" name="TextBox 31"/>
          <p:cNvSpPr txBox="1"/>
          <p:nvPr/>
        </p:nvSpPr>
        <p:spPr>
          <a:xfrm>
            <a:off x="3739896" y="4334255"/>
            <a:ext cx="777240" cy="365759"/>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1,0%</a:t>
            </a:r>
          </a:p>
        </p:txBody>
      </p:sp>
      <p:sp>
        <p:nvSpPr>
          <p:cNvPr id="33" name="TextBox 32"/>
          <p:cNvSpPr txBox="1"/>
          <p:nvPr/>
        </p:nvSpPr>
        <p:spPr>
          <a:xfrm>
            <a:off x="4736592" y="4334255"/>
            <a:ext cx="2560320" cy="365759"/>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13,8 ms — fusion</a:t>
            </a:r>
          </a:p>
        </p:txBody>
      </p:sp>
      <p:sp>
        <p:nvSpPr>
          <p:cNvPr id="34" name="Rectangle 33"/>
          <p:cNvSpPr/>
          <p:nvPr/>
        </p:nvSpPr>
        <p:spPr>
          <a:xfrm>
            <a:off x="502920" y="4754879"/>
            <a:ext cx="690372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2648" y="4882895"/>
            <a:ext cx="1746504" cy="365759"/>
          </a:xfrm>
          <a:prstGeom prst="rect">
            <a:avLst/>
          </a:prstGeom>
          <a:noFill/>
        </p:spPr>
        <p:txBody>
          <a:bodyPr wrap="square" lIns="9144" rIns="9144" tIns="9144" bIns="9144">
            <a:spAutoFit/>
          </a:bodyPr>
          <a:lstStyle/>
          <a:p>
            <a:pPr>
              <a:lnSpc>
                <a:spcPct val="104000"/>
              </a:lnSpc>
              <a:spcAft>
                <a:spcPts val="300"/>
              </a:spcAft>
              <a:defRPr sz="1600" b="1">
                <a:solidFill>
                  <a:srgbClr val="17324D"/>
                </a:solidFill>
                <a:latin typeface="DejaVu Sans"/>
              </a:defRPr>
            </a:pPr>
            <a:r>
              <a:t>PID</a:t>
            </a:r>
          </a:p>
        </p:txBody>
      </p:sp>
      <p:sp>
        <p:nvSpPr>
          <p:cNvPr id="36" name="TextBox 35"/>
          <p:cNvSpPr txBox="1"/>
          <p:nvPr/>
        </p:nvSpPr>
        <p:spPr>
          <a:xfrm>
            <a:off x="2578608" y="4882895"/>
            <a:ext cx="941832" cy="365759"/>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0,9818</a:t>
            </a:r>
          </a:p>
        </p:txBody>
      </p:sp>
      <p:sp>
        <p:nvSpPr>
          <p:cNvPr id="37" name="TextBox 36"/>
          <p:cNvSpPr txBox="1"/>
          <p:nvPr/>
        </p:nvSpPr>
        <p:spPr>
          <a:xfrm>
            <a:off x="3739896" y="4882895"/>
            <a:ext cx="777240" cy="365759"/>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0,8%</a:t>
            </a:r>
          </a:p>
        </p:txBody>
      </p:sp>
      <p:sp>
        <p:nvSpPr>
          <p:cNvPr id="38" name="TextBox 37"/>
          <p:cNvSpPr txBox="1"/>
          <p:nvPr/>
        </p:nvSpPr>
        <p:spPr>
          <a:xfrm>
            <a:off x="4736592" y="4882895"/>
            <a:ext cx="2560320" cy="365759"/>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15,2 ms — fusion</a:t>
            </a:r>
          </a:p>
        </p:txBody>
      </p:sp>
      <p:sp>
        <p:nvSpPr>
          <p:cNvPr id="39" name="Rounded Rectangle 38"/>
          <p:cNvSpPr/>
          <p:nvPr/>
        </p:nvSpPr>
        <p:spPr>
          <a:xfrm>
            <a:off x="7626096" y="2121408"/>
            <a:ext cx="4059936" cy="3383280"/>
          </a:xfrm>
          <a:prstGeom prst="roundRect">
            <a:avLst>
              <a:gd name="adj" fmla="val 10000"/>
            </a:avLst>
          </a:prstGeom>
          <a:solidFill>
            <a:srgbClr val="FFF1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27264" y="2359152"/>
            <a:ext cx="3639312" cy="713232"/>
          </a:xfrm>
          <a:prstGeom prst="rect">
            <a:avLst/>
          </a:prstGeom>
          <a:noFill/>
        </p:spPr>
        <p:txBody>
          <a:bodyPr wrap="square" lIns="9144" rIns="9144" tIns="9144" bIns="9144">
            <a:spAutoFit/>
          </a:bodyPr>
          <a:lstStyle/>
          <a:p>
            <a:pPr>
              <a:lnSpc>
                <a:spcPct val="104000"/>
              </a:lnSpc>
              <a:spcAft>
                <a:spcPts val="300"/>
              </a:spcAft>
              <a:defRPr sz="2100" b="1">
                <a:solidFill>
                  <a:srgbClr val="A66B16"/>
                </a:solidFill>
                <a:latin typeface="DejaVu Sans"/>
              </a:defRPr>
            </a:pPr>
            <a:r>
              <a:t>Chưa dùng để khẳng định mức cải thiện</a:t>
            </a:r>
          </a:p>
        </p:txBody>
      </p:sp>
      <p:sp>
        <p:nvSpPr>
          <p:cNvPr id="41" name="TextBox 40"/>
          <p:cNvSpPr txBox="1"/>
          <p:nvPr/>
        </p:nvSpPr>
        <p:spPr>
          <a:xfrm>
            <a:off x="7827264" y="3383280"/>
            <a:ext cx="3639312" cy="1810512"/>
          </a:xfrm>
          <a:prstGeom prst="rect">
            <a:avLst/>
          </a:prstGeom>
          <a:noFill/>
        </p:spPr>
        <p:txBody>
          <a:bodyPr wrap="square" lIns="9144" rIns="9144" tIns="9144" bIns="9144">
            <a:spAutoFit/>
          </a:bodyPr>
          <a:lstStyle/>
          <a:p>
            <a:pPr>
              <a:lnSpc>
                <a:spcPct val="104000"/>
              </a:lnSpc>
              <a:spcAft>
                <a:spcPts val="300"/>
              </a:spcAft>
              <a:defRPr sz="1700" b="0">
                <a:solidFill>
                  <a:srgbClr val="17324D"/>
                </a:solidFill>
                <a:latin typeface="DejaVu Sans"/>
              </a:defRPr>
            </a:pPr>
            <a:r>
              <a:t>Script có kết quả gán sẵn.</a:t>
            </a:r>
          </a:p>
          <a:p>
            <a:pPr>
              <a:lnSpc>
                <a:spcPct val="104000"/>
              </a:lnSpc>
              <a:spcAft>
                <a:spcPts val="300"/>
              </a:spcAft>
              <a:defRPr sz="1700" b="0">
                <a:solidFill>
                  <a:srgbClr val="17324D"/>
                </a:solidFill>
                <a:latin typeface="DejaVu Sans"/>
              </a:defRPr>
            </a:pPr>
            <a:r>
              <a:t>Log demo sinh điểm động và độ trễ ngẫu nhiên.</a:t>
            </a:r>
          </a:p>
          <a:p>
            <a:pPr>
              <a:lnSpc>
                <a:spcPct val="104000"/>
              </a:lnSpc>
              <a:spcAft>
                <a:spcPts val="300"/>
              </a:spcAft>
              <a:defRPr sz="1700" b="0">
                <a:solidFill>
                  <a:srgbClr val="17324D"/>
                </a:solidFill>
                <a:latin typeface="DejaVu Sans"/>
              </a:defRPr>
            </a:pPr>
            <a:r>
              <a:t>Thiếu dự đoán từng mẫu và nguồn dữ liệu ghép cặp.</a:t>
            </a:r>
          </a:p>
        </p:txBody>
      </p:sp>
      <p:sp>
        <p:nvSpPr>
          <p:cNvPr id="42" name="Rounded Rectangle 41"/>
          <p:cNvSpPr/>
          <p:nvPr/>
        </p:nvSpPr>
        <p:spPr>
          <a:xfrm>
            <a:off x="502920" y="5596128"/>
            <a:ext cx="11183112" cy="539496"/>
          </a:xfrm>
          <a:prstGeom prst="roundRect">
            <a:avLst>
              <a:gd name="adj" fmla="val 10000"/>
            </a:avLst>
          </a:prstGeom>
          <a:solidFill>
            <a:srgbClr val="FFF1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7512" y="5696712"/>
            <a:ext cx="10844784" cy="384048"/>
          </a:xfrm>
          <a:prstGeom prst="rect">
            <a:avLst/>
          </a:prstGeom>
          <a:noFill/>
        </p:spPr>
        <p:txBody>
          <a:bodyPr wrap="square" lIns="9144" rIns="9144" tIns="9144" bIns="9144">
            <a:spAutoFit/>
          </a:bodyPr>
          <a:lstStyle/>
          <a:p>
            <a:pPr>
              <a:lnSpc>
                <a:spcPct val="104000"/>
              </a:lnSpc>
              <a:spcAft>
                <a:spcPts val="300"/>
              </a:spcAft>
              <a:defRPr sz="1550" b="1">
                <a:solidFill>
                  <a:srgbClr val="A66B16"/>
                </a:solidFill>
                <a:latin typeface="DejaVu Sans"/>
              </a:defRPr>
            </a:pPr>
            <a:r>
              <a:t>15,2 ms fusion không phải latency end-to-end; không so trực tiếp với 1.205,4 ms phân tích động.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0789920" cy="274320"/>
          </a:xfrm>
          <a:prstGeom prst="rect">
            <a:avLst/>
          </a:prstGeom>
          <a:noFill/>
        </p:spPr>
        <p:txBody>
          <a:bodyPr wrap="square" lIns="9144" rIns="9144" tIns="9144" bIns="9144">
            <a:spAutoFit/>
          </a:bodyPr>
          <a:lstStyle/>
          <a:p>
            <a:pPr>
              <a:lnSpc>
                <a:spcPct val="104000"/>
              </a:lnSpc>
              <a:spcAft>
                <a:spcPts val="300"/>
              </a:spcAft>
              <a:defRPr sz="1100" b="1">
                <a:solidFill>
                  <a:srgbClr val="007F7A"/>
                </a:solidFill>
                <a:latin typeface="DejaVu Sans"/>
              </a:defRPr>
            </a:pPr>
            <a:r>
              <a:t>PHỤ LỤC B / ĐỐI SOÁT KẾT LUẬN</a:t>
            </a:r>
          </a:p>
        </p:txBody>
      </p:sp>
      <p:sp>
        <p:nvSpPr>
          <p:cNvPr id="4" name="TextBox 3"/>
          <p:cNvSpPr txBox="1"/>
          <p:nvPr/>
        </p:nvSpPr>
        <p:spPr>
          <a:xfrm>
            <a:off x="502920" y="722376"/>
            <a:ext cx="11155680" cy="694944"/>
          </a:xfrm>
          <a:prstGeom prst="rect">
            <a:avLst/>
          </a:prstGeom>
          <a:noFill/>
        </p:spPr>
        <p:txBody>
          <a:bodyPr wrap="square" lIns="9144" rIns="9144" tIns="9144" bIns="9144">
            <a:spAutoFit/>
          </a:bodyPr>
          <a:lstStyle/>
          <a:p>
            <a:pPr>
              <a:lnSpc>
                <a:spcPct val="104000"/>
              </a:lnSpc>
              <a:spcAft>
                <a:spcPts val="300"/>
              </a:spcAft>
              <a:defRPr sz="2900" b="1">
                <a:solidFill>
                  <a:srgbClr val="17324D"/>
                </a:solidFill>
                <a:latin typeface="DejaVu Sans"/>
              </a:defRPr>
            </a:pPr>
            <a:r>
              <a:t>Các diễn giải cần sửa trước khi dùng lại số cũ</a:t>
            </a:r>
          </a:p>
        </p:txBody>
      </p:sp>
      <p:sp>
        <p:nvSpPr>
          <p:cNvPr id="5" name="TextBox 4"/>
          <p:cNvSpPr txBox="1"/>
          <p:nvPr/>
        </p:nvSpPr>
        <p:spPr>
          <a:xfrm>
            <a:off x="502920" y="1490472"/>
            <a:ext cx="11064240" cy="502920"/>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Không tự thay số chưa truy nguyên bằng AUC cao hơn từ mô hình có sẵn.</a:t>
            </a:r>
          </a:p>
        </p:txBody>
      </p:sp>
      <p:cxnSp>
        <p:nvCxnSpPr>
          <p:cNvPr id="6" name="Connector 5"/>
          <p:cNvCxnSpPr/>
          <p:nvPr/>
        </p:nvCxnSpPr>
        <p:spPr>
          <a:xfrm>
            <a:off x="502920" y="6382512"/>
            <a:ext cx="11183112" cy="0"/>
          </a:xfrm>
          <a:prstGeom prst="line">
            <a:avLst/>
          </a:prstGeom>
          <a:ln w="12700">
            <a:solidFill>
              <a:srgbClr val="DCE5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744200" cy="210312"/>
          </a:xfrm>
          <a:prstGeom prst="rect">
            <a:avLst/>
          </a:prstGeom>
          <a:noFill/>
        </p:spPr>
        <p:txBody>
          <a:bodyPr wrap="square" lIns="9144" rIns="9144" tIns="9144" bIns="9144">
            <a:spAutoFit/>
          </a:bodyPr>
          <a:lstStyle/>
          <a:p>
            <a:pPr>
              <a:lnSpc>
                <a:spcPct val="104000"/>
              </a:lnSpc>
              <a:spcAft>
                <a:spcPts val="300"/>
              </a:spcAft>
              <a:defRPr sz="900" b="0">
                <a:solidFill>
                  <a:srgbClr val="526779"/>
                </a:solidFill>
                <a:latin typeface="DejaVu Sans"/>
              </a:defRPr>
            </a:pPr>
            <a:r>
              <a:t>Nguồn: luuvan.pdf Bảng 4.6–4.9; results/fidelity_results.csv; model_check.json.</a:t>
            </a:r>
          </a:p>
        </p:txBody>
      </p:sp>
      <p:sp>
        <p:nvSpPr>
          <p:cNvPr id="8" name="TextBox 7"/>
          <p:cNvSpPr txBox="1"/>
          <p:nvPr/>
        </p:nvSpPr>
        <p:spPr>
          <a:xfrm>
            <a:off x="11000232" y="6455664"/>
            <a:ext cx="685800" cy="228600"/>
          </a:xfrm>
          <a:prstGeom prst="rect">
            <a:avLst/>
          </a:prstGeom>
          <a:noFill/>
        </p:spPr>
        <p:txBody>
          <a:bodyPr wrap="square" lIns="9144" rIns="9144" tIns="9144" bIns="9144">
            <a:spAutoFit/>
          </a:bodyPr>
          <a:lstStyle/>
          <a:p>
            <a:pPr>
              <a:lnSpc>
                <a:spcPct val="104000"/>
              </a:lnSpc>
              <a:spcAft>
                <a:spcPts val="300"/>
              </a:spcAft>
              <a:defRPr sz="1000" b="1">
                <a:solidFill>
                  <a:srgbClr val="007F7A"/>
                </a:solidFill>
                <a:latin typeface="DejaVu Sans"/>
              </a:defRPr>
            </a:pPr>
            <a:r>
              <a:t>14 / 17</a:t>
            </a:r>
          </a:p>
        </p:txBody>
      </p:sp>
      <p:sp>
        <p:nvSpPr>
          <p:cNvPr id="9" name="Rectangle 8"/>
          <p:cNvSpPr/>
          <p:nvPr/>
        </p:nvSpPr>
        <p:spPr>
          <a:xfrm>
            <a:off x="502920" y="2130552"/>
            <a:ext cx="11183112" cy="43891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231136"/>
            <a:ext cx="1929384" cy="301751"/>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NỘI DUNG</a:t>
            </a:r>
          </a:p>
        </p:txBody>
      </p:sp>
      <p:sp>
        <p:nvSpPr>
          <p:cNvPr id="11" name="TextBox 10"/>
          <p:cNvSpPr txBox="1"/>
          <p:nvPr/>
        </p:nvSpPr>
        <p:spPr>
          <a:xfrm>
            <a:off x="2761488" y="2231136"/>
            <a:ext cx="3941063" cy="301751"/>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SỐ ĐANG CÓ</a:t>
            </a:r>
          </a:p>
        </p:txBody>
      </p:sp>
      <p:sp>
        <p:nvSpPr>
          <p:cNvPr id="12" name="TextBox 11"/>
          <p:cNvSpPr txBox="1"/>
          <p:nvPr/>
        </p:nvSpPr>
        <p:spPr>
          <a:xfrm>
            <a:off x="6922008" y="2231136"/>
            <a:ext cx="4654296" cy="301751"/>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KẾT LUẬN ĐÚNG PHẠM VI</a:t>
            </a:r>
          </a:p>
        </p:txBody>
      </p:sp>
      <p:sp>
        <p:nvSpPr>
          <p:cNvPr id="13" name="Rectangle 12"/>
          <p:cNvSpPr/>
          <p:nvPr/>
        </p:nvSpPr>
        <p:spPr>
          <a:xfrm>
            <a:off x="502920" y="2569464"/>
            <a:ext cx="11183112"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697480"/>
            <a:ext cx="1929384" cy="676656"/>
          </a:xfrm>
          <a:prstGeom prst="rect">
            <a:avLst/>
          </a:prstGeom>
          <a:noFill/>
        </p:spPr>
        <p:txBody>
          <a:bodyPr wrap="square" lIns="9144" rIns="9144" tIns="9144" bIns="9144">
            <a:spAutoFit/>
          </a:bodyPr>
          <a:lstStyle/>
          <a:p>
            <a:pPr>
              <a:lnSpc>
                <a:spcPct val="104000"/>
              </a:lnSpc>
              <a:spcAft>
                <a:spcPts val="300"/>
              </a:spcAft>
              <a:defRPr sz="1600" b="1">
                <a:solidFill>
                  <a:srgbClr val="17324D"/>
                </a:solidFill>
                <a:latin typeface="DejaVu Sans"/>
              </a:defRPr>
            </a:pPr>
            <a:r>
              <a:t>AL và chi phí nhãn</a:t>
            </a:r>
          </a:p>
        </p:txBody>
      </p:sp>
      <p:sp>
        <p:nvSpPr>
          <p:cNvPr id="15" name="TextBox 14"/>
          <p:cNvSpPr txBox="1"/>
          <p:nvPr/>
        </p:nvSpPr>
        <p:spPr>
          <a:xfrm>
            <a:off x="2761488" y="2697480"/>
            <a:ext cx="3941063" cy="676656"/>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AUC 0,9740 → 0,9818</a:t>
            </a:r>
          </a:p>
          <a:p>
            <a:pPr>
              <a:lnSpc>
                <a:spcPct val="104000"/>
              </a:lnSpc>
              <a:spcAft>
                <a:spcPts val="300"/>
              </a:spcAft>
              <a:defRPr sz="1600" b="0">
                <a:solidFill>
                  <a:srgbClr val="17324D"/>
                </a:solidFill>
                <a:latin typeface="DejaVu Sans"/>
              </a:defRPr>
            </a:pPr>
            <a:r>
              <a:t>2.000 → 2.500 nhãn</a:t>
            </a:r>
          </a:p>
        </p:txBody>
      </p:sp>
      <p:sp>
        <p:nvSpPr>
          <p:cNvPr id="16" name="TextBox 15"/>
          <p:cNvSpPr txBox="1"/>
          <p:nvPr/>
        </p:nvSpPr>
        <p:spPr>
          <a:xfrm>
            <a:off x="6922008" y="2697480"/>
            <a:ext cx="4654296" cy="676656"/>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Không đủ suy ra tiết kiệm 90% nhãn.</a:t>
            </a:r>
          </a:p>
          <a:p>
            <a:pPr>
              <a:lnSpc>
                <a:spcPct val="104000"/>
              </a:lnSpc>
              <a:spcAft>
                <a:spcPts val="300"/>
              </a:spcAft>
              <a:defRPr sz="1600" b="0">
                <a:solidFill>
                  <a:srgbClr val="526779"/>
                </a:solidFill>
                <a:latin typeface="DejaVu Sans"/>
              </a:defRPr>
            </a:pPr>
            <a:r>
              <a:t>Cần so đường học đạt cùng mục tiêu.</a:t>
            </a:r>
          </a:p>
        </p:txBody>
      </p:sp>
      <p:sp>
        <p:nvSpPr>
          <p:cNvPr id="17" name="Rectangle 16"/>
          <p:cNvSpPr/>
          <p:nvPr/>
        </p:nvSpPr>
        <p:spPr>
          <a:xfrm>
            <a:off x="502920" y="3429000"/>
            <a:ext cx="11183112" cy="859536"/>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557016"/>
            <a:ext cx="1929384" cy="676656"/>
          </a:xfrm>
          <a:prstGeom prst="rect">
            <a:avLst/>
          </a:prstGeom>
          <a:noFill/>
        </p:spPr>
        <p:txBody>
          <a:bodyPr wrap="square" lIns="9144" rIns="9144" tIns="9144" bIns="9144">
            <a:spAutoFit/>
          </a:bodyPr>
          <a:lstStyle/>
          <a:p>
            <a:pPr>
              <a:lnSpc>
                <a:spcPct val="104000"/>
              </a:lnSpc>
              <a:spcAft>
                <a:spcPts val="300"/>
              </a:spcAft>
              <a:defRPr sz="1600" b="1">
                <a:solidFill>
                  <a:srgbClr val="17324D"/>
                </a:solidFill>
                <a:latin typeface="DejaVu Sans"/>
              </a:defRPr>
            </a:pPr>
            <a:r>
              <a:t>Báo động nhầm</a:t>
            </a:r>
          </a:p>
        </p:txBody>
      </p:sp>
      <p:sp>
        <p:nvSpPr>
          <p:cNvPr id="19" name="TextBox 18"/>
          <p:cNvSpPr txBox="1"/>
          <p:nvPr/>
        </p:nvSpPr>
        <p:spPr>
          <a:xfrm>
            <a:off x="2761488" y="3557016"/>
            <a:ext cx="3941063" cy="676656"/>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FP 135 → 48 trên 3.000 mẫu âm</a:t>
            </a:r>
          </a:p>
          <a:p>
            <a:pPr>
              <a:lnSpc>
                <a:spcPct val="104000"/>
              </a:lnSpc>
              <a:spcAft>
                <a:spcPts val="300"/>
              </a:spcAft>
              <a:defRPr sz="1600" b="0">
                <a:solidFill>
                  <a:srgbClr val="17324D"/>
                </a:solidFill>
                <a:latin typeface="DejaVu Sans"/>
              </a:defRPr>
            </a:pPr>
            <a:r>
              <a:t>⇒ FPR 4,5% → 1,6%</a:t>
            </a:r>
          </a:p>
        </p:txBody>
      </p:sp>
      <p:sp>
        <p:nvSpPr>
          <p:cNvPr id="20" name="TextBox 19"/>
          <p:cNvSpPr txBox="1"/>
          <p:nvPr/>
        </p:nvSpPr>
        <p:spPr>
          <a:xfrm>
            <a:off x="6922008" y="3557016"/>
            <a:ext cx="4654296" cy="676656"/>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Không đồng nhất với FPR 0,8% của fusion</a:t>
            </a:r>
          </a:p>
          <a:p>
            <a:pPr>
              <a:lnSpc>
                <a:spcPct val="104000"/>
              </a:lnSpc>
              <a:spcAft>
                <a:spcPts val="300"/>
              </a:spcAft>
              <a:defRPr sz="1600" b="0">
                <a:solidFill>
                  <a:srgbClr val="526779"/>
                </a:solidFill>
                <a:latin typeface="DejaVu Sans"/>
              </a:defRPr>
            </a:pPr>
            <a:r>
              <a:t>khi chưa xác định đúng thí nghiệm.</a:t>
            </a:r>
          </a:p>
        </p:txBody>
      </p:sp>
      <p:sp>
        <p:nvSpPr>
          <p:cNvPr id="21" name="Rectangle 20"/>
          <p:cNvSpPr/>
          <p:nvPr/>
        </p:nvSpPr>
        <p:spPr>
          <a:xfrm>
            <a:off x="502920" y="4288536"/>
            <a:ext cx="11183112"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 y="4416551"/>
            <a:ext cx="1929384" cy="676656"/>
          </a:xfrm>
          <a:prstGeom prst="rect">
            <a:avLst/>
          </a:prstGeom>
          <a:noFill/>
        </p:spPr>
        <p:txBody>
          <a:bodyPr wrap="square" lIns="9144" rIns="9144" tIns="9144" bIns="9144">
            <a:spAutoFit/>
          </a:bodyPr>
          <a:lstStyle/>
          <a:p>
            <a:pPr>
              <a:lnSpc>
                <a:spcPct val="104000"/>
              </a:lnSpc>
              <a:spcAft>
                <a:spcPts val="300"/>
              </a:spcAft>
              <a:defRPr sz="1600" b="1">
                <a:solidFill>
                  <a:srgbClr val="17324D"/>
                </a:solidFill>
                <a:latin typeface="DejaVu Sans"/>
              </a:defRPr>
            </a:pPr>
            <a:r>
              <a:t>Điểm OFS</a:t>
            </a:r>
          </a:p>
        </p:txBody>
      </p:sp>
      <p:sp>
        <p:nvSpPr>
          <p:cNvPr id="23" name="TextBox 22"/>
          <p:cNvSpPr txBox="1"/>
          <p:nvPr/>
        </p:nvSpPr>
        <p:spPr>
          <a:xfrm>
            <a:off x="2761488" y="4416551"/>
            <a:ext cx="3941063" cy="676656"/>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Bảng: 0,3612; điều hòa từ FF/EC/CF</a:t>
            </a:r>
          </a:p>
          <a:p>
            <a:pPr>
              <a:lnSpc>
                <a:spcPct val="104000"/>
              </a:lnSpc>
              <a:spcAft>
                <a:spcPts val="300"/>
              </a:spcAft>
              <a:defRPr sz="1600" b="0">
                <a:solidFill>
                  <a:srgbClr val="17324D"/>
                </a:solidFill>
                <a:latin typeface="DejaVu Sans"/>
              </a:defRPr>
            </a:pPr>
            <a:r>
              <a:t>được in:≈0,3640</a:t>
            </a:r>
          </a:p>
        </p:txBody>
      </p:sp>
      <p:sp>
        <p:nvSpPr>
          <p:cNvPr id="24" name="TextBox 23"/>
          <p:cNvSpPr txBox="1"/>
          <p:nvPr/>
        </p:nvSpPr>
        <p:spPr>
          <a:xfrm>
            <a:off x="6922008" y="4416551"/>
            <a:ext cx="4654296" cy="676656"/>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Code dùng 0,5FF+0,3EC+0,2CF.</a:t>
            </a:r>
          </a:p>
          <a:p>
            <a:pPr>
              <a:lnSpc>
                <a:spcPct val="104000"/>
              </a:lnSpc>
              <a:spcAft>
                <a:spcPts val="300"/>
              </a:spcAft>
              <a:defRPr sz="1600" b="0">
                <a:solidFill>
                  <a:srgbClr val="526779"/>
                </a:solidFill>
                <a:latin typeface="DejaVu Sans"/>
              </a:defRPr>
            </a:pPr>
            <a:r>
              <a:t>Cần thống nhất cả định nghĩa thành phần.</a:t>
            </a:r>
          </a:p>
        </p:txBody>
      </p:sp>
      <p:sp>
        <p:nvSpPr>
          <p:cNvPr id="25" name="Rectangle 24"/>
          <p:cNvSpPr/>
          <p:nvPr/>
        </p:nvSpPr>
        <p:spPr>
          <a:xfrm>
            <a:off x="502920" y="5148071"/>
            <a:ext cx="11183112" cy="859536"/>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648" y="5276087"/>
            <a:ext cx="1929384" cy="676656"/>
          </a:xfrm>
          <a:prstGeom prst="rect">
            <a:avLst/>
          </a:prstGeom>
          <a:noFill/>
        </p:spPr>
        <p:txBody>
          <a:bodyPr wrap="square" lIns="9144" rIns="9144" tIns="9144" bIns="9144">
            <a:spAutoFit/>
          </a:bodyPr>
          <a:lstStyle/>
          <a:p>
            <a:pPr>
              <a:lnSpc>
                <a:spcPct val="104000"/>
              </a:lnSpc>
              <a:spcAft>
                <a:spcPts val="300"/>
              </a:spcAft>
              <a:defRPr sz="1600" b="1">
                <a:solidFill>
                  <a:srgbClr val="17324D"/>
                </a:solidFill>
                <a:latin typeface="DejaVu Sans"/>
              </a:defRPr>
            </a:pPr>
            <a:r>
              <a:t>Mô hình có sẵn</a:t>
            </a:r>
          </a:p>
        </p:txBody>
      </p:sp>
      <p:sp>
        <p:nvSpPr>
          <p:cNvPr id="27" name="TextBox 26"/>
          <p:cNvSpPr txBox="1"/>
          <p:nvPr/>
        </p:nvSpPr>
        <p:spPr>
          <a:xfrm>
            <a:off x="2761488" y="5276087"/>
            <a:ext cx="3941063" cy="676656"/>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Kiểm tra trên 2.000 mẫu repo:</a:t>
            </a:r>
          </a:p>
          <a:p>
            <a:pPr>
              <a:lnSpc>
                <a:spcPct val="104000"/>
              </a:lnSpc>
              <a:spcAft>
                <a:spcPts val="300"/>
              </a:spcAft>
              <a:defRPr sz="1600" b="0">
                <a:solidFill>
                  <a:srgbClr val="17324D"/>
                </a:solidFill>
                <a:latin typeface="DejaVu Sans"/>
              </a:defRPr>
            </a:pPr>
            <a:r>
              <a:t>AUC ≈0,9979</a:t>
            </a:r>
          </a:p>
        </p:txBody>
      </p:sp>
      <p:sp>
        <p:nvSpPr>
          <p:cNvPr id="28" name="TextBox 27"/>
          <p:cNvSpPr txBox="1"/>
          <p:nvPr/>
        </p:nvSpPr>
        <p:spPr>
          <a:xfrm>
            <a:off x="6922008" y="5276087"/>
            <a:ext cx="4654296" cy="676656"/>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Không biết có trùng dữ liệu đã học.</a:t>
            </a:r>
          </a:p>
          <a:p>
            <a:pPr>
              <a:lnSpc>
                <a:spcPct val="104000"/>
              </a:lnSpc>
              <a:spcAft>
                <a:spcPts val="300"/>
              </a:spcAft>
              <a:defRPr sz="1600" b="0">
                <a:solidFill>
                  <a:srgbClr val="526779"/>
                </a:solidFill>
                <a:latin typeface="DejaVu Sans"/>
              </a:defRPr>
            </a:pPr>
            <a:r>
              <a:t>Không dùng làm số thay thế cho luận văn.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0789920" cy="274320"/>
          </a:xfrm>
          <a:prstGeom prst="rect">
            <a:avLst/>
          </a:prstGeom>
          <a:noFill/>
        </p:spPr>
        <p:txBody>
          <a:bodyPr wrap="square" lIns="9144" rIns="9144" tIns="9144" bIns="9144">
            <a:spAutoFit/>
          </a:bodyPr>
          <a:lstStyle/>
          <a:p>
            <a:pPr>
              <a:lnSpc>
                <a:spcPct val="104000"/>
              </a:lnSpc>
              <a:spcAft>
                <a:spcPts val="300"/>
              </a:spcAft>
              <a:defRPr sz="1100" b="1">
                <a:solidFill>
                  <a:srgbClr val="007F7A"/>
                </a:solidFill>
                <a:latin typeface="DejaVu Sans"/>
              </a:defRPr>
            </a:pPr>
            <a:r>
              <a:t>PHỤ LỤC C / THỰC NGHIỆM BỔ SUNG VỪA ĐỦ</a:t>
            </a:r>
          </a:p>
        </p:txBody>
      </p:sp>
      <p:sp>
        <p:nvSpPr>
          <p:cNvPr id="4" name="TextBox 3"/>
          <p:cNvSpPr txBox="1"/>
          <p:nvPr/>
        </p:nvSpPr>
        <p:spPr>
          <a:xfrm>
            <a:off x="502920" y="722376"/>
            <a:ext cx="11155680" cy="694944"/>
          </a:xfrm>
          <a:prstGeom prst="rect">
            <a:avLst/>
          </a:prstGeom>
          <a:noFill/>
        </p:spPr>
        <p:txBody>
          <a:bodyPr wrap="square" lIns="9144" rIns="9144" tIns="9144" bIns="9144">
            <a:spAutoFit/>
          </a:bodyPr>
          <a:lstStyle/>
          <a:p>
            <a:pPr>
              <a:lnSpc>
                <a:spcPct val="104000"/>
              </a:lnSpc>
              <a:spcAft>
                <a:spcPts val="300"/>
              </a:spcAft>
              <a:defRPr sz="2650" b="1">
                <a:solidFill>
                  <a:srgbClr val="17324D"/>
                </a:solidFill>
                <a:latin typeface="DejaVu Sans"/>
              </a:defRPr>
            </a:pPr>
            <a:r>
              <a:t>Tách tác động PID, AL và hệ thống kết hợp bằng bảng 2×2</a:t>
            </a:r>
          </a:p>
        </p:txBody>
      </p:sp>
      <p:sp>
        <p:nvSpPr>
          <p:cNvPr id="5" name="TextBox 4"/>
          <p:cNvSpPr txBox="1"/>
          <p:nvPr/>
        </p:nvSpPr>
        <p:spPr>
          <a:xfrm>
            <a:off x="502920" y="1490472"/>
            <a:ext cx="11064240" cy="502920"/>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Chỉ chạy sau khi có điểm động thực, đúng ID mẫu; mọi cấu hình dùng cùng ngân sách nhãn.</a:t>
            </a:r>
          </a:p>
        </p:txBody>
      </p:sp>
      <p:cxnSp>
        <p:nvCxnSpPr>
          <p:cNvPr id="6" name="Connector 5"/>
          <p:cNvCxnSpPr/>
          <p:nvPr/>
        </p:nvCxnSpPr>
        <p:spPr>
          <a:xfrm>
            <a:off x="502920" y="6382512"/>
            <a:ext cx="11183112" cy="0"/>
          </a:xfrm>
          <a:prstGeom prst="line">
            <a:avLst/>
          </a:prstGeom>
          <a:ln w="12700">
            <a:solidFill>
              <a:srgbClr val="DCE5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744200" cy="210312"/>
          </a:xfrm>
          <a:prstGeom prst="rect">
            <a:avLst/>
          </a:prstGeom>
          <a:noFill/>
        </p:spPr>
        <p:txBody>
          <a:bodyPr wrap="square" lIns="9144" rIns="9144" tIns="9144" bIns="9144">
            <a:spAutoFit/>
          </a:bodyPr>
          <a:lstStyle/>
          <a:p>
            <a:pPr>
              <a:lnSpc>
                <a:spcPct val="104000"/>
              </a:lnSpc>
              <a:spcAft>
                <a:spcPts val="300"/>
              </a:spcAft>
              <a:defRPr sz="900" b="0">
                <a:solidFill>
                  <a:srgbClr val="526779"/>
                </a:solidFill>
                <a:latin typeface="DejaVu Sans"/>
              </a:defRPr>
            </a:pPr>
            <a:r>
              <a:t>Thiết kế đề xuất, CHƯA CHẠY. Không điền số giả lập; Static-only và Dynamic-only là hai mốc riêng.</a:t>
            </a:r>
          </a:p>
        </p:txBody>
      </p:sp>
      <p:sp>
        <p:nvSpPr>
          <p:cNvPr id="8" name="TextBox 7"/>
          <p:cNvSpPr txBox="1"/>
          <p:nvPr/>
        </p:nvSpPr>
        <p:spPr>
          <a:xfrm>
            <a:off x="11000232" y="6455664"/>
            <a:ext cx="685800" cy="228600"/>
          </a:xfrm>
          <a:prstGeom prst="rect">
            <a:avLst/>
          </a:prstGeom>
          <a:noFill/>
        </p:spPr>
        <p:txBody>
          <a:bodyPr wrap="square" lIns="9144" rIns="9144" tIns="9144" bIns="9144">
            <a:spAutoFit/>
          </a:bodyPr>
          <a:lstStyle/>
          <a:p>
            <a:pPr>
              <a:lnSpc>
                <a:spcPct val="104000"/>
              </a:lnSpc>
              <a:spcAft>
                <a:spcPts val="300"/>
              </a:spcAft>
              <a:defRPr sz="1000" b="1">
                <a:solidFill>
                  <a:srgbClr val="007F7A"/>
                </a:solidFill>
                <a:latin typeface="DejaVu Sans"/>
              </a:defRPr>
            </a:pPr>
            <a:r>
              <a:t>15 / 17</a:t>
            </a:r>
          </a:p>
        </p:txBody>
      </p:sp>
      <p:sp>
        <p:nvSpPr>
          <p:cNvPr id="9" name="Rectangle 8"/>
          <p:cNvSpPr/>
          <p:nvPr/>
        </p:nvSpPr>
        <p:spPr>
          <a:xfrm>
            <a:off x="502920" y="2130552"/>
            <a:ext cx="6995160" cy="43891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231136"/>
            <a:ext cx="1682496" cy="301751"/>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DUNG HỢP</a:t>
            </a:r>
          </a:p>
        </p:txBody>
      </p:sp>
      <p:sp>
        <p:nvSpPr>
          <p:cNvPr id="11" name="TextBox 10"/>
          <p:cNvSpPr txBox="1"/>
          <p:nvPr/>
        </p:nvSpPr>
        <p:spPr>
          <a:xfrm>
            <a:off x="2514600" y="2231136"/>
            <a:ext cx="2322576" cy="301751"/>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RANDOM AL</a:t>
            </a:r>
          </a:p>
        </p:txBody>
      </p:sp>
      <p:sp>
        <p:nvSpPr>
          <p:cNvPr id="12" name="TextBox 11"/>
          <p:cNvSpPr txBox="1"/>
          <p:nvPr/>
        </p:nvSpPr>
        <p:spPr>
          <a:xfrm>
            <a:off x="5056632" y="2231136"/>
            <a:ext cx="2331720" cy="301751"/>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XAI-GUIDED AL</a:t>
            </a:r>
          </a:p>
        </p:txBody>
      </p:sp>
      <p:sp>
        <p:nvSpPr>
          <p:cNvPr id="13" name="Rectangle 12"/>
          <p:cNvSpPr/>
          <p:nvPr/>
        </p:nvSpPr>
        <p:spPr>
          <a:xfrm>
            <a:off x="502920" y="2569464"/>
            <a:ext cx="6995160" cy="9692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697480"/>
            <a:ext cx="1682496" cy="786384"/>
          </a:xfrm>
          <a:prstGeom prst="rect">
            <a:avLst/>
          </a:prstGeom>
          <a:noFill/>
        </p:spPr>
        <p:txBody>
          <a:bodyPr wrap="square" lIns="9144" rIns="9144" tIns="9144" bIns="9144">
            <a:spAutoFit/>
          </a:bodyPr>
          <a:lstStyle/>
          <a:p>
            <a:pPr>
              <a:lnSpc>
                <a:spcPct val="104000"/>
              </a:lnSpc>
              <a:spcAft>
                <a:spcPts val="300"/>
              </a:spcAft>
              <a:defRPr sz="1800" b="1">
                <a:solidFill>
                  <a:srgbClr val="17324D"/>
                </a:solidFill>
                <a:latin typeface="DejaVu Sans"/>
              </a:defRPr>
            </a:pPr>
            <a:r>
              <a:t>Fixed-weight</a:t>
            </a:r>
          </a:p>
        </p:txBody>
      </p:sp>
      <p:sp>
        <p:nvSpPr>
          <p:cNvPr id="15" name="TextBox 14"/>
          <p:cNvSpPr txBox="1"/>
          <p:nvPr/>
        </p:nvSpPr>
        <p:spPr>
          <a:xfrm>
            <a:off x="2514600" y="2697480"/>
            <a:ext cx="2322576" cy="786384"/>
          </a:xfrm>
          <a:prstGeom prst="rect">
            <a:avLst/>
          </a:prstGeom>
          <a:noFill/>
        </p:spPr>
        <p:txBody>
          <a:bodyPr wrap="square" lIns="9144" rIns="9144" tIns="9144" bIns="9144">
            <a:spAutoFit/>
          </a:bodyPr>
          <a:lstStyle/>
          <a:p>
            <a:pPr>
              <a:lnSpc>
                <a:spcPct val="104000"/>
              </a:lnSpc>
              <a:spcAft>
                <a:spcPts val="300"/>
              </a:spcAft>
              <a:defRPr sz="1800" b="0">
                <a:solidFill>
                  <a:srgbClr val="17324D"/>
                </a:solidFill>
                <a:latin typeface="DejaVu Sans"/>
              </a:defRPr>
            </a:pPr>
            <a:r>
              <a:t>F–R: đối chứng nền</a:t>
            </a:r>
          </a:p>
        </p:txBody>
      </p:sp>
      <p:sp>
        <p:nvSpPr>
          <p:cNvPr id="16" name="TextBox 15"/>
          <p:cNvSpPr txBox="1"/>
          <p:nvPr/>
        </p:nvSpPr>
        <p:spPr>
          <a:xfrm>
            <a:off x="5056632" y="2697480"/>
            <a:ext cx="2331720" cy="786384"/>
          </a:xfrm>
          <a:prstGeom prst="rect">
            <a:avLst/>
          </a:prstGeom>
          <a:noFill/>
        </p:spPr>
        <p:txBody>
          <a:bodyPr wrap="square" lIns="9144" rIns="9144" tIns="9144" bIns="9144">
            <a:spAutoFit/>
          </a:bodyPr>
          <a:lstStyle/>
          <a:p>
            <a:pPr>
              <a:lnSpc>
                <a:spcPct val="104000"/>
              </a:lnSpc>
              <a:spcAft>
                <a:spcPts val="300"/>
              </a:spcAft>
              <a:defRPr sz="1800" b="0">
                <a:solidFill>
                  <a:srgbClr val="526779"/>
                </a:solidFill>
                <a:latin typeface="DejaVu Sans"/>
              </a:defRPr>
            </a:pPr>
            <a:r>
              <a:t>F–X: tác động AL</a:t>
            </a:r>
          </a:p>
        </p:txBody>
      </p:sp>
      <p:sp>
        <p:nvSpPr>
          <p:cNvPr id="17" name="Rectangle 16"/>
          <p:cNvSpPr/>
          <p:nvPr/>
        </p:nvSpPr>
        <p:spPr>
          <a:xfrm>
            <a:off x="502920" y="3538728"/>
            <a:ext cx="6995160" cy="969264"/>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666744"/>
            <a:ext cx="1682496" cy="786384"/>
          </a:xfrm>
          <a:prstGeom prst="rect">
            <a:avLst/>
          </a:prstGeom>
          <a:noFill/>
        </p:spPr>
        <p:txBody>
          <a:bodyPr wrap="square" lIns="9144" rIns="9144" tIns="9144" bIns="9144">
            <a:spAutoFit/>
          </a:bodyPr>
          <a:lstStyle/>
          <a:p>
            <a:pPr>
              <a:lnSpc>
                <a:spcPct val="104000"/>
              </a:lnSpc>
              <a:spcAft>
                <a:spcPts val="300"/>
              </a:spcAft>
              <a:defRPr sz="1800" b="1">
                <a:solidFill>
                  <a:srgbClr val="17324D"/>
                </a:solidFill>
                <a:latin typeface="DejaVu Sans"/>
              </a:defRPr>
            </a:pPr>
            <a:r>
              <a:t>PID</a:t>
            </a:r>
          </a:p>
        </p:txBody>
      </p:sp>
      <p:sp>
        <p:nvSpPr>
          <p:cNvPr id="19" name="TextBox 18"/>
          <p:cNvSpPr txBox="1"/>
          <p:nvPr/>
        </p:nvSpPr>
        <p:spPr>
          <a:xfrm>
            <a:off x="2514600" y="3666744"/>
            <a:ext cx="2322576" cy="786384"/>
          </a:xfrm>
          <a:prstGeom prst="rect">
            <a:avLst/>
          </a:prstGeom>
          <a:noFill/>
        </p:spPr>
        <p:txBody>
          <a:bodyPr wrap="square" lIns="9144" rIns="9144" tIns="9144" bIns="9144">
            <a:spAutoFit/>
          </a:bodyPr>
          <a:lstStyle/>
          <a:p>
            <a:pPr>
              <a:lnSpc>
                <a:spcPct val="104000"/>
              </a:lnSpc>
              <a:spcAft>
                <a:spcPts val="300"/>
              </a:spcAft>
              <a:defRPr sz="1800" b="0">
                <a:solidFill>
                  <a:srgbClr val="17324D"/>
                </a:solidFill>
                <a:latin typeface="DejaVu Sans"/>
              </a:defRPr>
            </a:pPr>
            <a:r>
              <a:t>P–R: tác động PID</a:t>
            </a:r>
          </a:p>
        </p:txBody>
      </p:sp>
      <p:sp>
        <p:nvSpPr>
          <p:cNvPr id="20" name="TextBox 19"/>
          <p:cNvSpPr txBox="1"/>
          <p:nvPr/>
        </p:nvSpPr>
        <p:spPr>
          <a:xfrm>
            <a:off x="5056632" y="3666744"/>
            <a:ext cx="2331720" cy="786384"/>
          </a:xfrm>
          <a:prstGeom prst="rect">
            <a:avLst/>
          </a:prstGeom>
          <a:noFill/>
        </p:spPr>
        <p:txBody>
          <a:bodyPr wrap="square" lIns="9144" rIns="9144" tIns="9144" bIns="9144">
            <a:spAutoFit/>
          </a:bodyPr>
          <a:lstStyle/>
          <a:p>
            <a:pPr>
              <a:lnSpc>
                <a:spcPct val="104000"/>
              </a:lnSpc>
              <a:spcAft>
                <a:spcPts val="300"/>
              </a:spcAft>
              <a:defRPr sz="1800" b="0">
                <a:solidFill>
                  <a:srgbClr val="526779"/>
                </a:solidFill>
                <a:latin typeface="DejaVu Sans"/>
              </a:defRPr>
            </a:pPr>
            <a:r>
              <a:t>P–X: kết hợp</a:t>
            </a:r>
          </a:p>
        </p:txBody>
      </p:sp>
      <p:sp>
        <p:nvSpPr>
          <p:cNvPr id="21" name="Rounded Rectangle 20"/>
          <p:cNvSpPr/>
          <p:nvPr/>
        </p:nvSpPr>
        <p:spPr>
          <a:xfrm>
            <a:off x="7717536" y="2130552"/>
            <a:ext cx="3968496" cy="3227832"/>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2359152"/>
            <a:ext cx="3584448" cy="411480"/>
          </a:xfrm>
          <a:prstGeom prst="rect">
            <a:avLst/>
          </a:prstGeom>
          <a:noFill/>
        </p:spPr>
        <p:txBody>
          <a:bodyPr wrap="square" lIns="9144" rIns="9144" tIns="9144" bIns="9144">
            <a:spAutoFit/>
          </a:bodyPr>
          <a:lstStyle/>
          <a:p>
            <a:pPr>
              <a:lnSpc>
                <a:spcPct val="104000"/>
              </a:lnSpc>
              <a:spcAft>
                <a:spcPts val="300"/>
              </a:spcAft>
              <a:defRPr sz="2100" b="1">
                <a:solidFill>
                  <a:srgbClr val="007F7A"/>
                </a:solidFill>
                <a:latin typeface="DejaVu Sans"/>
              </a:defRPr>
            </a:pPr>
            <a:r>
              <a:t>Gói đo tối thiểu</a:t>
            </a:r>
          </a:p>
        </p:txBody>
      </p:sp>
      <p:sp>
        <p:nvSpPr>
          <p:cNvPr id="23" name="TextBox 22"/>
          <p:cNvSpPr txBox="1"/>
          <p:nvPr/>
        </p:nvSpPr>
        <p:spPr>
          <a:xfrm>
            <a:off x="7909560" y="2944368"/>
            <a:ext cx="3584448" cy="2066543"/>
          </a:xfrm>
          <a:prstGeom prst="rect">
            <a:avLst/>
          </a:prstGeom>
          <a:noFill/>
        </p:spPr>
        <p:txBody>
          <a:bodyPr wrap="square" lIns="9144" rIns="9144" tIns="9144" bIns="9144">
            <a:spAutoFit/>
          </a:bodyPr>
          <a:lstStyle/>
          <a:p>
            <a:pPr>
              <a:lnSpc>
                <a:spcPct val="104000"/>
              </a:lnSpc>
              <a:spcAft>
                <a:spcPts val="300"/>
              </a:spcAft>
              <a:defRPr sz="1700" b="0">
                <a:solidFill>
                  <a:srgbClr val="17324D"/>
                </a:solidFill>
                <a:latin typeface="DejaVu Sans"/>
              </a:defRPr>
            </a:pPr>
            <a:r>
              <a:t>1. Cùng cặp pₛ, p_d và nhãn.</a:t>
            </a:r>
          </a:p>
          <a:p>
            <a:pPr>
              <a:lnSpc>
                <a:spcPct val="104000"/>
              </a:lnSpc>
              <a:spcAft>
                <a:spcPts val="300"/>
              </a:spcAft>
              <a:defRPr sz="1700" b="0">
                <a:solidFill>
                  <a:srgbClr val="17324D"/>
                </a:solidFill>
                <a:latin typeface="DejaVu Sans"/>
              </a:defRPr>
            </a:pPr>
            <a:r>
              <a:t>2. Khóa gate, ngưỡng trên Val.</a:t>
            </a:r>
          </a:p>
          <a:p>
            <a:pPr>
              <a:lnSpc>
                <a:spcPct val="104000"/>
              </a:lnSpc>
              <a:spcAft>
                <a:spcPts val="300"/>
              </a:spcAft>
              <a:defRPr sz="1700" b="0">
                <a:solidFill>
                  <a:srgbClr val="17324D"/>
                </a:solidFill>
                <a:latin typeface="DejaVu Sans"/>
              </a:defRPr>
            </a:pPr>
            <a:r>
              <a:t>3. So Fixed / P / PI / PID.</a:t>
            </a:r>
          </a:p>
          <a:p>
            <a:pPr>
              <a:lnSpc>
                <a:spcPct val="104000"/>
              </a:lnSpc>
              <a:spcAft>
                <a:spcPts val="300"/>
              </a:spcAft>
              <a:defRPr sz="1700" b="0">
                <a:solidFill>
                  <a:srgbClr val="17324D"/>
                </a:solidFill>
                <a:latin typeface="DejaVu Sans"/>
              </a:defRPr>
            </a:pPr>
            <a:r>
              <a:t>4. Báo FPR–TPR, FP/FN,</a:t>
            </a:r>
          </a:p>
          <a:p>
            <a:pPr>
              <a:lnSpc>
                <a:spcPct val="104000"/>
              </a:lnSpc>
              <a:spcAft>
                <a:spcPts val="300"/>
              </a:spcAft>
              <a:defRPr sz="1700" b="0">
                <a:solidFill>
                  <a:srgbClr val="17324D"/>
                </a:solidFill>
                <a:latin typeface="DejaVu Sans"/>
              </a:defRPr>
            </a:pPr>
            <a:r>
              <a:t>    AUC và latency p50/p95.</a:t>
            </a:r>
          </a:p>
        </p:txBody>
      </p:sp>
      <p:sp>
        <p:nvSpPr>
          <p:cNvPr id="24" name="TextBox 23"/>
          <p:cNvSpPr txBox="1"/>
          <p:nvPr/>
        </p:nvSpPr>
        <p:spPr>
          <a:xfrm>
            <a:off x="621792" y="4782312"/>
            <a:ext cx="6611112" cy="630936"/>
          </a:xfrm>
          <a:prstGeom prst="rect">
            <a:avLst/>
          </a:prstGeom>
          <a:noFill/>
        </p:spPr>
        <p:txBody>
          <a:bodyPr wrap="square" lIns="9144" rIns="9144" tIns="9144" bIns="9144">
            <a:spAutoFit/>
          </a:bodyPr>
          <a:lstStyle/>
          <a:p>
            <a:pPr>
              <a:lnSpc>
                <a:spcPct val="104000"/>
              </a:lnSpc>
              <a:spcAft>
                <a:spcPts val="300"/>
              </a:spcAft>
              <a:defRPr sz="1750" b="1">
                <a:solidFill>
                  <a:srgbClr val="17324D"/>
                </a:solidFill>
                <a:latin typeface="DejaVu Sans"/>
              </a:defRPr>
            </a:pPr>
            <a:r>
              <a:t>Nếu nói “cộng hưởng”: cần kiểm tra tương tác</a:t>
            </a:r>
          </a:p>
          <a:p>
            <a:pPr>
              <a:lnSpc>
                <a:spcPct val="104000"/>
              </a:lnSpc>
              <a:spcAft>
                <a:spcPts val="300"/>
              </a:spcAft>
              <a:defRPr sz="1750" b="1">
                <a:solidFill>
                  <a:srgbClr val="17324D"/>
                </a:solidFill>
                <a:latin typeface="DejaVu Sans"/>
              </a:defRPr>
            </a:pPr>
            <a:r>
              <a:t>Δ = (M_PX − M_PR) − (M_FX − M_FR).</a:t>
            </a:r>
          </a:p>
        </p:txBody>
      </p:sp>
      <p:sp>
        <p:nvSpPr>
          <p:cNvPr id="25" name="Rounded Rectangle 24"/>
          <p:cNvSpPr/>
          <p:nvPr/>
        </p:nvSpPr>
        <p:spPr>
          <a:xfrm>
            <a:off x="502920" y="5596128"/>
            <a:ext cx="11183112" cy="539496"/>
          </a:xfrm>
          <a:prstGeom prst="roundRect">
            <a:avLst>
              <a:gd name="adj" fmla="val 10000"/>
            </a:avLst>
          </a:prstGeom>
          <a:solidFill>
            <a:srgbClr val="E4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5696712"/>
            <a:ext cx="10844784" cy="384048"/>
          </a:xfrm>
          <a:prstGeom prst="rect">
            <a:avLst/>
          </a:prstGeom>
          <a:noFill/>
        </p:spPr>
        <p:txBody>
          <a:bodyPr wrap="square" lIns="9144" rIns="9144" tIns="9144" bIns="9144">
            <a:spAutoFit/>
          </a:bodyPr>
          <a:lstStyle/>
          <a:p>
            <a:pPr>
              <a:lnSpc>
                <a:spcPct val="104000"/>
              </a:lnSpc>
              <a:spcAft>
                <a:spcPts val="300"/>
              </a:spcAft>
              <a:defRPr sz="1550" b="1">
                <a:solidFill>
                  <a:srgbClr val="007F7A"/>
                </a:solidFill>
                <a:latin typeface="DejaVu Sans"/>
              </a:defRPr>
            </a:pPr>
            <a:r>
              <a:t>Đầu vào cần: sample_id, split, label, p_static, p_dynamic, timestamp/session và thời gian đo thật.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0789920" cy="274320"/>
          </a:xfrm>
          <a:prstGeom prst="rect">
            <a:avLst/>
          </a:prstGeom>
          <a:noFill/>
        </p:spPr>
        <p:txBody>
          <a:bodyPr wrap="square" lIns="9144" rIns="9144" tIns="9144" bIns="9144">
            <a:spAutoFit/>
          </a:bodyPr>
          <a:lstStyle/>
          <a:p>
            <a:pPr>
              <a:lnSpc>
                <a:spcPct val="104000"/>
              </a:lnSpc>
              <a:spcAft>
                <a:spcPts val="300"/>
              </a:spcAft>
              <a:defRPr sz="1100" b="1">
                <a:solidFill>
                  <a:srgbClr val="007F7A"/>
                </a:solidFill>
                <a:latin typeface="DejaVu Sans"/>
              </a:defRPr>
            </a:pPr>
            <a:r>
              <a:t>PHỤ LỤC D / TOÁN HỌC CÁC ĐỘ ĐO</a:t>
            </a:r>
          </a:p>
        </p:txBody>
      </p:sp>
      <p:sp>
        <p:nvSpPr>
          <p:cNvPr id="4" name="TextBox 3"/>
          <p:cNvSpPr txBox="1"/>
          <p:nvPr/>
        </p:nvSpPr>
        <p:spPr>
          <a:xfrm>
            <a:off x="502920" y="722376"/>
            <a:ext cx="11155680" cy="694944"/>
          </a:xfrm>
          <a:prstGeom prst="rect">
            <a:avLst/>
          </a:prstGeom>
          <a:noFill/>
        </p:spPr>
        <p:txBody>
          <a:bodyPr wrap="square" lIns="9144" rIns="9144" tIns="9144" bIns="9144">
            <a:spAutoFit/>
          </a:bodyPr>
          <a:lstStyle/>
          <a:p>
            <a:pPr>
              <a:lnSpc>
                <a:spcPct val="104000"/>
              </a:lnSpc>
              <a:spcAft>
                <a:spcPts val="300"/>
              </a:spcAft>
              <a:defRPr sz="2900" b="1">
                <a:solidFill>
                  <a:srgbClr val="17324D"/>
                </a:solidFill>
                <a:latin typeface="DejaVu Sans"/>
              </a:defRPr>
            </a:pPr>
            <a:r>
              <a:t>OFS cần thống nhất miền giá trị trước khi tổng hợp</a:t>
            </a:r>
          </a:p>
        </p:txBody>
      </p:sp>
      <p:sp>
        <p:nvSpPr>
          <p:cNvPr id="5" name="TextBox 4"/>
          <p:cNvSpPr txBox="1"/>
          <p:nvPr/>
        </p:nvSpPr>
        <p:spPr>
          <a:xfrm>
            <a:off x="502920" y="1490472"/>
            <a:ext cx="11064240" cy="502920"/>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Đề xuất trước mắt: báo các thành phần riêng và đối chứng, chưa dùng OFS để xếp hạng chung.</a:t>
            </a:r>
          </a:p>
        </p:txBody>
      </p:sp>
      <p:cxnSp>
        <p:nvCxnSpPr>
          <p:cNvPr id="6" name="Connector 5"/>
          <p:cNvCxnSpPr/>
          <p:nvPr/>
        </p:nvCxnSpPr>
        <p:spPr>
          <a:xfrm>
            <a:off x="502920" y="6382512"/>
            <a:ext cx="11183112" cy="0"/>
          </a:xfrm>
          <a:prstGeom prst="line">
            <a:avLst/>
          </a:prstGeom>
          <a:ln w="12700">
            <a:solidFill>
              <a:srgbClr val="DCE5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744200" cy="210312"/>
          </a:xfrm>
          <a:prstGeom prst="rect">
            <a:avLst/>
          </a:prstGeom>
          <a:noFill/>
        </p:spPr>
        <p:txBody>
          <a:bodyPr wrap="square" lIns="9144" rIns="9144" tIns="9144" bIns="9144">
            <a:spAutoFit/>
          </a:bodyPr>
          <a:lstStyle/>
          <a:p>
            <a:pPr>
              <a:lnSpc>
                <a:spcPct val="104000"/>
              </a:lnSpc>
              <a:spcAft>
                <a:spcPts val="300"/>
              </a:spcAft>
              <a:defRPr sz="900" b="0">
                <a:solidFill>
                  <a:srgbClr val="526779"/>
                </a:solidFill>
                <a:latin typeface="DejaVu Sans"/>
              </a:defRPr>
            </a:pPr>
            <a:r>
              <a:t>Nguồn: luuvan.pdf công thức 3.15–3.18; src/fidelity_framework.py; pilot_fidelity/run_seed42/summary.json.</a:t>
            </a:r>
          </a:p>
        </p:txBody>
      </p:sp>
      <p:sp>
        <p:nvSpPr>
          <p:cNvPr id="8" name="TextBox 7"/>
          <p:cNvSpPr txBox="1"/>
          <p:nvPr/>
        </p:nvSpPr>
        <p:spPr>
          <a:xfrm>
            <a:off x="11000232" y="6455664"/>
            <a:ext cx="685800" cy="228600"/>
          </a:xfrm>
          <a:prstGeom prst="rect">
            <a:avLst/>
          </a:prstGeom>
          <a:noFill/>
        </p:spPr>
        <p:txBody>
          <a:bodyPr wrap="square" lIns="9144" rIns="9144" tIns="9144" bIns="9144">
            <a:spAutoFit/>
          </a:bodyPr>
          <a:lstStyle/>
          <a:p>
            <a:pPr>
              <a:lnSpc>
                <a:spcPct val="104000"/>
              </a:lnSpc>
              <a:spcAft>
                <a:spcPts val="300"/>
              </a:spcAft>
              <a:defRPr sz="1000" b="1">
                <a:solidFill>
                  <a:srgbClr val="007F7A"/>
                </a:solidFill>
                <a:latin typeface="DejaVu Sans"/>
              </a:defRPr>
            </a:pPr>
            <a:r>
              <a:t>16 / 17</a:t>
            </a:r>
          </a:p>
        </p:txBody>
      </p:sp>
      <p:sp>
        <p:nvSpPr>
          <p:cNvPr id="9" name="Rectangle 8"/>
          <p:cNvSpPr/>
          <p:nvPr/>
        </p:nvSpPr>
        <p:spPr>
          <a:xfrm>
            <a:off x="502920" y="2130552"/>
            <a:ext cx="11183112" cy="438912"/>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231136"/>
            <a:ext cx="877824" cy="301751"/>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ĐỘ ĐO</a:t>
            </a:r>
          </a:p>
        </p:txBody>
      </p:sp>
      <p:sp>
        <p:nvSpPr>
          <p:cNvPr id="11" name="TextBox 10"/>
          <p:cNvSpPr txBox="1"/>
          <p:nvPr/>
        </p:nvSpPr>
        <p:spPr>
          <a:xfrm>
            <a:off x="1709928" y="2231136"/>
            <a:ext cx="5038344" cy="301751"/>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VẤN ĐỀ TOÁN HỌC</a:t>
            </a:r>
          </a:p>
        </p:txBody>
      </p:sp>
      <p:sp>
        <p:nvSpPr>
          <p:cNvPr id="12" name="TextBox 11"/>
          <p:cNvSpPr txBox="1"/>
          <p:nvPr/>
        </p:nvSpPr>
        <p:spPr>
          <a:xfrm>
            <a:off x="6967728" y="2231136"/>
            <a:ext cx="4608576" cy="301751"/>
          </a:xfrm>
          <a:prstGeom prst="rect">
            <a:avLst/>
          </a:prstGeom>
          <a:noFill/>
        </p:spPr>
        <p:txBody>
          <a:bodyPr wrap="square" lIns="9144" rIns="9144" tIns="9144" bIns="9144">
            <a:spAutoFit/>
          </a:bodyPr>
          <a:lstStyle/>
          <a:p>
            <a:pPr>
              <a:lnSpc>
                <a:spcPct val="104000"/>
              </a:lnSpc>
              <a:spcAft>
                <a:spcPts val="300"/>
              </a:spcAft>
              <a:defRPr sz="1200" b="1">
                <a:solidFill>
                  <a:srgbClr val="FFFFFF"/>
                </a:solidFill>
                <a:latin typeface="DejaVu Sans"/>
              </a:defRPr>
            </a:pPr>
            <a:r>
              <a:t>ĐIỀU CHỈNH VỪA ĐỦ</a:t>
            </a:r>
          </a:p>
        </p:txBody>
      </p:sp>
      <p:sp>
        <p:nvSpPr>
          <p:cNvPr id="13" name="Rectangle 12"/>
          <p:cNvSpPr/>
          <p:nvPr/>
        </p:nvSpPr>
        <p:spPr>
          <a:xfrm>
            <a:off x="502920" y="2569464"/>
            <a:ext cx="11183112"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697480"/>
            <a:ext cx="877824" cy="676656"/>
          </a:xfrm>
          <a:prstGeom prst="rect">
            <a:avLst/>
          </a:prstGeom>
          <a:noFill/>
        </p:spPr>
        <p:txBody>
          <a:bodyPr wrap="square" lIns="9144" rIns="9144" tIns="9144" bIns="9144">
            <a:spAutoFit/>
          </a:bodyPr>
          <a:lstStyle/>
          <a:p>
            <a:pPr>
              <a:lnSpc>
                <a:spcPct val="104000"/>
              </a:lnSpc>
              <a:spcAft>
                <a:spcPts val="300"/>
              </a:spcAft>
              <a:defRPr sz="1600" b="1">
                <a:solidFill>
                  <a:srgbClr val="17324D"/>
                </a:solidFill>
                <a:latin typeface="DejaVu Sans"/>
              </a:defRPr>
            </a:pPr>
            <a:r>
              <a:t>FF</a:t>
            </a:r>
          </a:p>
        </p:txBody>
      </p:sp>
      <p:sp>
        <p:nvSpPr>
          <p:cNvPr id="15" name="TextBox 14"/>
          <p:cNvSpPr txBox="1"/>
          <p:nvPr/>
        </p:nvSpPr>
        <p:spPr>
          <a:xfrm>
            <a:off x="1709928" y="2697480"/>
            <a:ext cx="5038344" cy="676656"/>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Mean |p−p_mask|/(p+ε) không bị chặn 1.</a:t>
            </a:r>
          </a:p>
          <a:p>
            <a:pPr>
              <a:lnSpc>
                <a:spcPct val="104000"/>
              </a:lnSpc>
              <a:spcAft>
                <a:spcPts val="300"/>
              </a:spcAft>
              <a:defRPr sz="1600" b="0">
                <a:solidFill>
                  <a:srgbClr val="17324D"/>
                </a:solidFill>
                <a:latin typeface="DejaVu Sans"/>
              </a:defRPr>
            </a:pPr>
            <a:r>
              <a:t>Pilot k = 25 cho FF thô ≈2,0045.</a:t>
            </a:r>
          </a:p>
        </p:txBody>
      </p:sp>
      <p:sp>
        <p:nvSpPr>
          <p:cNvPr id="16" name="TextBox 15"/>
          <p:cNvSpPr txBox="1"/>
          <p:nvPr/>
        </p:nvSpPr>
        <p:spPr>
          <a:xfrm>
            <a:off x="6967728" y="2697480"/>
            <a:ext cx="4608576" cy="676656"/>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Báo AUC drop và mean |Δp| riêng;</a:t>
            </a:r>
          </a:p>
          <a:p>
            <a:pPr>
              <a:lnSpc>
                <a:spcPct val="104000"/>
              </a:lnSpc>
              <a:spcAft>
                <a:spcPts val="300"/>
              </a:spcAft>
              <a:defRPr sz="1600" b="0">
                <a:solidFill>
                  <a:srgbClr val="526779"/>
                </a:solidFill>
                <a:latin typeface="DejaVu Sans"/>
              </a:defRPr>
            </a:pPr>
            <a:r>
              <a:t>khóa lại định nghĩa nếu thay FF.</a:t>
            </a:r>
          </a:p>
        </p:txBody>
      </p:sp>
      <p:sp>
        <p:nvSpPr>
          <p:cNvPr id="17" name="Rectangle 16"/>
          <p:cNvSpPr/>
          <p:nvPr/>
        </p:nvSpPr>
        <p:spPr>
          <a:xfrm>
            <a:off x="502920" y="3429000"/>
            <a:ext cx="11183112" cy="859536"/>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557016"/>
            <a:ext cx="877824" cy="676656"/>
          </a:xfrm>
          <a:prstGeom prst="rect">
            <a:avLst/>
          </a:prstGeom>
          <a:noFill/>
        </p:spPr>
        <p:txBody>
          <a:bodyPr wrap="square" lIns="9144" rIns="9144" tIns="9144" bIns="9144">
            <a:spAutoFit/>
          </a:bodyPr>
          <a:lstStyle/>
          <a:p>
            <a:pPr>
              <a:lnSpc>
                <a:spcPct val="104000"/>
              </a:lnSpc>
              <a:spcAft>
                <a:spcPts val="300"/>
              </a:spcAft>
              <a:defRPr sz="1600" b="1">
                <a:solidFill>
                  <a:srgbClr val="17324D"/>
                </a:solidFill>
                <a:latin typeface="DejaVu Sans"/>
              </a:defRPr>
            </a:pPr>
            <a:r>
              <a:t>EC</a:t>
            </a:r>
          </a:p>
        </p:txBody>
      </p:sp>
      <p:sp>
        <p:nvSpPr>
          <p:cNvPr id="19" name="TextBox 18"/>
          <p:cNvSpPr txBox="1"/>
          <p:nvPr/>
        </p:nvSpPr>
        <p:spPr>
          <a:xfrm>
            <a:off x="1709928" y="3557016"/>
            <a:ext cx="5038344" cy="676656"/>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Pearson r ∈[−1,1]; có thể âm.</a:t>
            </a:r>
          </a:p>
          <a:p>
            <a:pPr>
              <a:lnSpc>
                <a:spcPct val="104000"/>
              </a:lnSpc>
              <a:spcAft>
                <a:spcPts val="300"/>
              </a:spcAft>
              <a:defRPr sz="1600" b="0">
                <a:solidFill>
                  <a:srgbClr val="17324D"/>
                </a:solidFill>
                <a:latin typeface="DejaVu Sans"/>
              </a:defRPr>
            </a:pPr>
            <a:r>
              <a:t>Không là “tỉ lệ giải thích đúng”.</a:t>
            </a:r>
          </a:p>
        </p:txBody>
      </p:sp>
      <p:sp>
        <p:nvSpPr>
          <p:cNvPr id="20" name="TextBox 19"/>
          <p:cNvSpPr txBox="1"/>
          <p:nvPr/>
        </p:nvSpPr>
        <p:spPr>
          <a:xfrm>
            <a:off x="6967728" y="3557016"/>
            <a:ext cx="4608576" cy="676656"/>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Báo r, phép tương đồng và chuẩn hóa;</a:t>
            </a:r>
          </a:p>
          <a:p>
            <a:pPr>
              <a:lnSpc>
                <a:spcPct val="104000"/>
              </a:lnSpc>
              <a:spcAft>
                <a:spcPts val="300"/>
              </a:spcAft>
              <a:defRPr sz="1600" b="0">
                <a:solidFill>
                  <a:srgbClr val="526779"/>
                </a:solidFill>
                <a:latin typeface="DejaVu Sans"/>
              </a:defRPr>
            </a:pPr>
            <a:r>
              <a:t>không coi các cặp là độc lập.</a:t>
            </a:r>
          </a:p>
        </p:txBody>
      </p:sp>
      <p:sp>
        <p:nvSpPr>
          <p:cNvPr id="21" name="Rectangle 20"/>
          <p:cNvSpPr/>
          <p:nvPr/>
        </p:nvSpPr>
        <p:spPr>
          <a:xfrm>
            <a:off x="502920" y="4288536"/>
            <a:ext cx="11183112"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 y="4416551"/>
            <a:ext cx="877824" cy="676656"/>
          </a:xfrm>
          <a:prstGeom prst="rect">
            <a:avLst/>
          </a:prstGeom>
          <a:noFill/>
        </p:spPr>
        <p:txBody>
          <a:bodyPr wrap="square" lIns="9144" rIns="9144" tIns="9144" bIns="9144">
            <a:spAutoFit/>
          </a:bodyPr>
          <a:lstStyle/>
          <a:p>
            <a:pPr>
              <a:lnSpc>
                <a:spcPct val="104000"/>
              </a:lnSpc>
              <a:spcAft>
                <a:spcPts val="300"/>
              </a:spcAft>
              <a:defRPr sz="1600" b="1">
                <a:solidFill>
                  <a:srgbClr val="17324D"/>
                </a:solidFill>
                <a:latin typeface="DejaVu Sans"/>
              </a:defRPr>
            </a:pPr>
            <a:r>
              <a:t>CF</a:t>
            </a:r>
          </a:p>
        </p:txBody>
      </p:sp>
      <p:sp>
        <p:nvSpPr>
          <p:cNvPr id="23" name="TextBox 22"/>
          <p:cNvSpPr txBox="1"/>
          <p:nvPr/>
        </p:nvSpPr>
        <p:spPr>
          <a:xfrm>
            <a:off x="1709928" y="4416551"/>
            <a:ext cx="5038344" cy="676656"/>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||C₁−C₀||/max||φ|| có thể tới 2.</a:t>
            </a:r>
          </a:p>
          <a:p>
            <a:pPr>
              <a:lnSpc>
                <a:spcPct val="104000"/>
              </a:lnSpc>
              <a:spcAft>
                <a:spcPts val="300"/>
              </a:spcAft>
              <a:defRPr sz="1600" b="0">
                <a:solidFill>
                  <a:srgbClr val="17324D"/>
                </a:solidFill>
                <a:latin typeface="DejaVu Sans"/>
              </a:defRPr>
            </a:pPr>
            <a:r>
              <a:t>Phân tách lớp không đồng nghĩa fidelity.</a:t>
            </a:r>
          </a:p>
        </p:txBody>
      </p:sp>
      <p:sp>
        <p:nvSpPr>
          <p:cNvPr id="24" name="TextBox 23"/>
          <p:cNvSpPr txBox="1"/>
          <p:nvPr/>
        </p:nvSpPr>
        <p:spPr>
          <a:xfrm>
            <a:off x="6967728" y="4416551"/>
            <a:ext cx="4608576" cy="676656"/>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Báo như độ phân tách; nếu chuẩn hóa</a:t>
            </a:r>
          </a:p>
          <a:p>
            <a:pPr>
              <a:lnSpc>
                <a:spcPct val="104000"/>
              </a:lnSpc>
              <a:spcAft>
                <a:spcPts val="300"/>
              </a:spcAft>
              <a:defRPr sz="1600" b="0">
                <a:solidFill>
                  <a:srgbClr val="526779"/>
                </a:solidFill>
                <a:latin typeface="DejaVu Sans"/>
              </a:defRPr>
            </a:pPr>
            <a:r>
              <a:t>phải ghi công thức và lý do.</a:t>
            </a:r>
          </a:p>
        </p:txBody>
      </p:sp>
      <p:sp>
        <p:nvSpPr>
          <p:cNvPr id="25" name="Rectangle 24"/>
          <p:cNvSpPr/>
          <p:nvPr/>
        </p:nvSpPr>
        <p:spPr>
          <a:xfrm>
            <a:off x="502920" y="5148071"/>
            <a:ext cx="11183112" cy="859536"/>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648" y="5276087"/>
            <a:ext cx="877824" cy="676656"/>
          </a:xfrm>
          <a:prstGeom prst="rect">
            <a:avLst/>
          </a:prstGeom>
          <a:noFill/>
        </p:spPr>
        <p:txBody>
          <a:bodyPr wrap="square" lIns="9144" rIns="9144" tIns="9144" bIns="9144">
            <a:spAutoFit/>
          </a:bodyPr>
          <a:lstStyle/>
          <a:p>
            <a:pPr>
              <a:lnSpc>
                <a:spcPct val="104000"/>
              </a:lnSpc>
              <a:spcAft>
                <a:spcPts val="300"/>
              </a:spcAft>
              <a:defRPr sz="1600" b="1">
                <a:solidFill>
                  <a:srgbClr val="17324D"/>
                </a:solidFill>
                <a:latin typeface="DejaVu Sans"/>
              </a:defRPr>
            </a:pPr>
            <a:r>
              <a:t>OFS</a:t>
            </a:r>
          </a:p>
        </p:txBody>
      </p:sp>
      <p:sp>
        <p:nvSpPr>
          <p:cNvPr id="27" name="TextBox 26"/>
          <p:cNvSpPr txBox="1"/>
          <p:nvPr/>
        </p:nvSpPr>
        <p:spPr>
          <a:xfrm>
            <a:off x="1709928" y="5276087"/>
            <a:ext cx="5038344" cy="676656"/>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Trung bình điều hòa cần thành phần</a:t>
            </a:r>
          </a:p>
          <a:p>
            <a:pPr>
              <a:lnSpc>
                <a:spcPct val="104000"/>
              </a:lnSpc>
              <a:spcAft>
                <a:spcPts val="300"/>
              </a:spcAft>
              <a:defRPr sz="1600" b="0">
                <a:solidFill>
                  <a:srgbClr val="17324D"/>
                </a:solidFill>
                <a:latin typeface="DejaVu Sans"/>
              </a:defRPr>
            </a:pPr>
            <a:r>
              <a:t>dương, cùng hướng và thang đo phù hợp.</a:t>
            </a:r>
          </a:p>
        </p:txBody>
      </p:sp>
      <p:sp>
        <p:nvSpPr>
          <p:cNvPr id="28" name="TextBox 27"/>
          <p:cNvSpPr txBox="1"/>
          <p:nvPr/>
        </p:nvSpPr>
        <p:spPr>
          <a:xfrm>
            <a:off x="6967728" y="5276087"/>
            <a:ext cx="4608576" cy="676656"/>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Chưa tổng hợp khi miền chưa thống nhất;</a:t>
            </a:r>
          </a:p>
          <a:p>
            <a:pPr>
              <a:lnSpc>
                <a:spcPct val="104000"/>
              </a:lnSpc>
              <a:spcAft>
                <a:spcPts val="300"/>
              </a:spcAft>
              <a:defRPr sz="1600" b="0">
                <a:solidFill>
                  <a:srgbClr val="526779"/>
                </a:solidFill>
                <a:latin typeface="DejaVu Sans"/>
              </a:defRPr>
            </a:pPr>
            <a:r>
              <a:t>không clip hậu nghiệm để làm đẹp số.</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6F9"/>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0789920" cy="274320"/>
          </a:xfrm>
          <a:prstGeom prst="rect">
            <a:avLst/>
          </a:prstGeom>
          <a:noFill/>
        </p:spPr>
        <p:txBody>
          <a:bodyPr wrap="square" lIns="9144" rIns="9144" tIns="9144" bIns="9144">
            <a:spAutoFit/>
          </a:bodyPr>
          <a:lstStyle/>
          <a:p>
            <a:pPr>
              <a:lnSpc>
                <a:spcPct val="104000"/>
              </a:lnSpc>
              <a:spcAft>
                <a:spcPts val="300"/>
              </a:spcAft>
              <a:defRPr sz="1100" b="1">
                <a:solidFill>
                  <a:srgbClr val="007F7A"/>
                </a:solidFill>
                <a:latin typeface="DejaVu Sans"/>
              </a:defRPr>
            </a:pPr>
            <a:r>
              <a:t>PHỤ LỤC E / NGUỒN VÀ TÁI LẬP</a:t>
            </a:r>
          </a:p>
        </p:txBody>
      </p:sp>
      <p:sp>
        <p:nvSpPr>
          <p:cNvPr id="4" name="TextBox 3"/>
          <p:cNvSpPr txBox="1"/>
          <p:nvPr/>
        </p:nvSpPr>
        <p:spPr>
          <a:xfrm>
            <a:off x="502920" y="722376"/>
            <a:ext cx="11155680" cy="694944"/>
          </a:xfrm>
          <a:prstGeom prst="rect">
            <a:avLst/>
          </a:prstGeom>
          <a:noFill/>
        </p:spPr>
        <p:txBody>
          <a:bodyPr wrap="square" lIns="9144" rIns="9144" tIns="9144" bIns="9144">
            <a:spAutoFit/>
          </a:bodyPr>
          <a:lstStyle/>
          <a:p>
            <a:pPr>
              <a:lnSpc>
                <a:spcPct val="104000"/>
              </a:lnSpc>
              <a:spcAft>
                <a:spcPts val="300"/>
              </a:spcAft>
              <a:defRPr sz="2900" b="1">
                <a:solidFill>
                  <a:srgbClr val="17324D"/>
                </a:solidFill>
                <a:latin typeface="DejaVu Sans"/>
              </a:defRPr>
            </a:pPr>
            <a:r>
              <a:t>Số trên slide có cấu hình, dự đoán và log đi kèm</a:t>
            </a:r>
          </a:p>
        </p:txBody>
      </p:sp>
      <p:sp>
        <p:nvSpPr>
          <p:cNvPr id="5" name="TextBox 4"/>
          <p:cNvSpPr txBox="1"/>
          <p:nvPr/>
        </p:nvSpPr>
        <p:spPr>
          <a:xfrm>
            <a:off x="502920" y="1490472"/>
            <a:ext cx="11064240" cy="502920"/>
          </a:xfrm>
          <a:prstGeom prst="rect">
            <a:avLst/>
          </a:prstGeom>
          <a:noFill/>
        </p:spPr>
        <p:txBody>
          <a:bodyPr wrap="square" lIns="9144" rIns="9144" tIns="9144" bIns="9144">
            <a:spAutoFit/>
          </a:bodyPr>
          <a:lstStyle/>
          <a:p>
            <a:pPr>
              <a:lnSpc>
                <a:spcPct val="104000"/>
              </a:lnSpc>
              <a:spcAft>
                <a:spcPts val="300"/>
              </a:spcAft>
              <a:defRPr sz="1600" b="0">
                <a:solidFill>
                  <a:srgbClr val="526779"/>
                </a:solidFill>
                <a:latin typeface="DejaVu Sans"/>
              </a:defRPr>
            </a:pPr>
            <a:r>
              <a:t>Hai pilot độc lập về mô hình; dùng chung split để dễ kiểm tra, không cộng gộp các mức cải thiện.</a:t>
            </a:r>
          </a:p>
        </p:txBody>
      </p:sp>
      <p:cxnSp>
        <p:nvCxnSpPr>
          <p:cNvPr id="6" name="Connector 5"/>
          <p:cNvCxnSpPr/>
          <p:nvPr/>
        </p:nvCxnSpPr>
        <p:spPr>
          <a:xfrm>
            <a:off x="502920" y="6382512"/>
            <a:ext cx="11183112" cy="0"/>
          </a:xfrm>
          <a:prstGeom prst="line">
            <a:avLst/>
          </a:prstGeom>
          <a:ln w="12700">
            <a:solidFill>
              <a:srgbClr val="DCE5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464808"/>
            <a:ext cx="10744200" cy="210312"/>
          </a:xfrm>
          <a:prstGeom prst="rect">
            <a:avLst/>
          </a:prstGeom>
          <a:noFill/>
        </p:spPr>
        <p:txBody>
          <a:bodyPr wrap="square" lIns="9144" rIns="9144" tIns="9144" bIns="9144">
            <a:spAutoFit/>
          </a:bodyPr>
          <a:lstStyle/>
          <a:p>
            <a:pPr>
              <a:lnSpc>
                <a:spcPct val="104000"/>
              </a:lnSpc>
              <a:spcAft>
                <a:spcPts val="300"/>
              </a:spcAft>
              <a:defRPr sz="900" b="0">
                <a:solidFill>
                  <a:srgbClr val="526779"/>
                </a:solidFill>
                <a:latin typeface="DejaVu Sans"/>
              </a:defRPr>
            </a:pPr>
            <a:r>
              <a:t>Nguồn: ZIP kèm PowerPoint/PDF; dữ liệu đầu vào nằm tại doanhjut/thesis2026.</a:t>
            </a:r>
          </a:p>
        </p:txBody>
      </p:sp>
      <p:sp>
        <p:nvSpPr>
          <p:cNvPr id="8" name="TextBox 7"/>
          <p:cNvSpPr txBox="1"/>
          <p:nvPr/>
        </p:nvSpPr>
        <p:spPr>
          <a:xfrm>
            <a:off x="11000232" y="6455664"/>
            <a:ext cx="685800" cy="228600"/>
          </a:xfrm>
          <a:prstGeom prst="rect">
            <a:avLst/>
          </a:prstGeom>
          <a:noFill/>
        </p:spPr>
        <p:txBody>
          <a:bodyPr wrap="square" lIns="9144" rIns="9144" tIns="9144" bIns="9144">
            <a:spAutoFit/>
          </a:bodyPr>
          <a:lstStyle/>
          <a:p>
            <a:pPr>
              <a:lnSpc>
                <a:spcPct val="104000"/>
              </a:lnSpc>
              <a:spcAft>
                <a:spcPts val="300"/>
              </a:spcAft>
              <a:defRPr sz="1000" b="1">
                <a:solidFill>
                  <a:srgbClr val="007F7A"/>
                </a:solidFill>
                <a:latin typeface="DejaVu Sans"/>
              </a:defRPr>
            </a:pPr>
            <a:r>
              <a:t>17 / 17</a:t>
            </a:r>
          </a:p>
        </p:txBody>
      </p:sp>
      <p:sp>
        <p:nvSpPr>
          <p:cNvPr id="9" name="Rounded Rectangle 8"/>
          <p:cNvSpPr/>
          <p:nvPr/>
        </p:nvSpPr>
        <p:spPr>
          <a:xfrm>
            <a:off x="502920" y="2130552"/>
            <a:ext cx="5568696" cy="3346704"/>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2386584"/>
            <a:ext cx="5102352" cy="384048"/>
          </a:xfrm>
          <a:prstGeom prst="rect">
            <a:avLst/>
          </a:prstGeom>
          <a:noFill/>
        </p:spPr>
        <p:txBody>
          <a:bodyPr wrap="square" lIns="9144" rIns="9144" tIns="9144" bIns="9144">
            <a:spAutoFit/>
          </a:bodyPr>
          <a:lstStyle/>
          <a:p>
            <a:pPr>
              <a:lnSpc>
                <a:spcPct val="104000"/>
              </a:lnSpc>
              <a:spcAft>
                <a:spcPts val="300"/>
              </a:spcAft>
              <a:defRPr sz="2200" b="1">
                <a:solidFill>
                  <a:srgbClr val="007F7A"/>
                </a:solidFill>
                <a:latin typeface="DejaVu Sans"/>
              </a:defRPr>
            </a:pPr>
            <a:r>
              <a:t>Dấu vết thí nghiệm</a:t>
            </a:r>
          </a:p>
        </p:txBody>
      </p:sp>
      <p:sp>
        <p:nvSpPr>
          <p:cNvPr id="11" name="TextBox 10"/>
          <p:cNvSpPr txBox="1"/>
          <p:nvPr/>
        </p:nvSpPr>
        <p:spPr>
          <a:xfrm>
            <a:off x="722376" y="3008376"/>
            <a:ext cx="5074920" cy="2121408"/>
          </a:xfrm>
          <a:prstGeom prst="rect">
            <a:avLst/>
          </a:prstGeom>
          <a:noFill/>
        </p:spPr>
        <p:txBody>
          <a:bodyPr wrap="square" lIns="9144" rIns="9144" tIns="9144" bIns="9144">
            <a:spAutoFit/>
          </a:bodyPr>
          <a:lstStyle/>
          <a:p>
            <a:pPr>
              <a:lnSpc>
                <a:spcPct val="104000"/>
              </a:lnSpc>
              <a:spcAft>
                <a:spcPts val="300"/>
              </a:spcAft>
              <a:defRPr sz="1600" b="0">
                <a:solidFill>
                  <a:srgbClr val="17324D"/>
                </a:solidFill>
                <a:latin typeface="DejaVu Sans"/>
              </a:defRPr>
            </a:pPr>
            <a:r>
              <a:t>AL: 150 checkpoint / 12.500 truy vấn</a:t>
            </a:r>
          </a:p>
          <a:p>
            <a:pPr>
              <a:lnSpc>
                <a:spcPct val="104000"/>
              </a:lnSpc>
              <a:spcAft>
                <a:spcPts val="300"/>
              </a:spcAft>
              <a:defRPr sz="1600" b="0">
                <a:solidFill>
                  <a:srgbClr val="17324D"/>
                </a:solidFill>
                <a:latin typeface="DejaVu Sans"/>
              </a:defRPr>
            </a:pPr>
            <a:r>
              <a:t>120.000 dự đoán Val và Test.</a:t>
            </a:r>
          </a:p>
          <a:p>
            <a:pPr>
              <a:lnSpc>
                <a:spcPct val="104000"/>
              </a:lnSpc>
              <a:spcAft>
                <a:spcPts val="300"/>
              </a:spcAft>
              <a:defRPr sz="1600" b="0">
                <a:solidFill>
                  <a:srgbClr val="17324D"/>
                </a:solidFill>
                <a:latin typeface="DejaVu Sans"/>
              </a:defRPr>
            </a:pPr>
          </a:p>
          <a:p>
            <a:pPr>
              <a:lnSpc>
                <a:spcPct val="104000"/>
              </a:lnSpc>
              <a:spcAft>
                <a:spcPts val="300"/>
              </a:spcAft>
              <a:defRPr sz="1600" b="0">
                <a:solidFill>
                  <a:srgbClr val="17324D"/>
                </a:solidFill>
                <a:latin typeface="DejaVu Sans"/>
              </a:defRPr>
            </a:pPr>
            <a:r>
              <a:t>Fidelity: 3 mức k × 20 random masks</a:t>
            </a:r>
          </a:p>
          <a:p>
            <a:pPr>
              <a:lnSpc>
                <a:spcPct val="104000"/>
              </a:lnSpc>
              <a:spcAft>
                <a:spcPts val="300"/>
              </a:spcAft>
              <a:defRPr sz="1600" b="0">
                <a:solidFill>
                  <a:srgbClr val="17324D"/>
                </a:solidFill>
                <a:latin typeface="DejaVu Sans"/>
              </a:defRPr>
            </a:pPr>
            <a:r>
              <a:t>Lưu model, SHAP, mask và dự đoán.</a:t>
            </a:r>
          </a:p>
          <a:p>
            <a:pPr>
              <a:lnSpc>
                <a:spcPct val="104000"/>
              </a:lnSpc>
              <a:spcAft>
                <a:spcPts val="300"/>
              </a:spcAft>
              <a:defRPr sz="1600" b="0">
                <a:solidFill>
                  <a:srgbClr val="17324D"/>
                </a:solidFill>
                <a:latin typeface="DejaVu Sans"/>
              </a:defRPr>
            </a:pPr>
          </a:p>
          <a:p>
            <a:pPr>
              <a:lnSpc>
                <a:spcPct val="104000"/>
              </a:lnSpc>
              <a:spcAft>
                <a:spcPts val="300"/>
              </a:spcAft>
              <a:defRPr sz="1600" b="0">
                <a:solidFill>
                  <a:srgbClr val="17324D"/>
                </a:solidFill>
                <a:latin typeface="DejaVu Sans"/>
              </a:defRPr>
            </a:pPr>
            <a:r>
              <a:t>Cấu hình, split, seed, hash và mã chạy kèm ZIP.</a:t>
            </a:r>
          </a:p>
        </p:txBody>
      </p:sp>
      <p:sp>
        <p:nvSpPr>
          <p:cNvPr id="12" name="Rounded Rectangle 11"/>
          <p:cNvSpPr/>
          <p:nvPr/>
        </p:nvSpPr>
        <p:spPr>
          <a:xfrm>
            <a:off x="6272784" y="2130552"/>
            <a:ext cx="5413248" cy="3346704"/>
          </a:xfrm>
          <a:prstGeom prst="roundRect">
            <a:avLst>
              <a:gd name="adj" fmla="val 10000"/>
            </a:avLst>
          </a:prstGeom>
          <a:solidFill>
            <a:srgbClr val="FFFFFF"/>
          </a:solidFill>
          <a:ln w="8890">
            <a:solidFill>
              <a:srgbClr val="DC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386584"/>
            <a:ext cx="4965192" cy="384048"/>
          </a:xfrm>
          <a:prstGeom prst="rect">
            <a:avLst/>
          </a:prstGeom>
          <a:noFill/>
        </p:spPr>
        <p:txBody>
          <a:bodyPr wrap="square" lIns="9144" rIns="9144" tIns="9144" bIns="9144">
            <a:spAutoFit/>
          </a:bodyPr>
          <a:lstStyle/>
          <a:p>
            <a:pPr>
              <a:lnSpc>
                <a:spcPct val="104000"/>
              </a:lnSpc>
              <a:spcAft>
                <a:spcPts val="300"/>
              </a:spcAft>
              <a:defRPr sz="2200" b="1">
                <a:solidFill>
                  <a:srgbClr val="007F7A"/>
                </a:solidFill>
                <a:latin typeface="DejaVu Sans"/>
              </a:defRPr>
            </a:pPr>
            <a:r>
              <a:t>Nghiên cứu kế thừa</a:t>
            </a:r>
          </a:p>
        </p:txBody>
      </p:sp>
      <p:sp>
        <p:nvSpPr>
          <p:cNvPr id="14" name="TextBox 13"/>
          <p:cNvSpPr txBox="1"/>
          <p:nvPr/>
        </p:nvSpPr>
        <p:spPr>
          <a:xfrm>
            <a:off x="6492240" y="3008376"/>
            <a:ext cx="4937760" cy="2103120"/>
          </a:xfrm>
          <a:prstGeom prst="rect">
            <a:avLst/>
          </a:prstGeom>
          <a:noFill/>
        </p:spPr>
        <p:txBody>
          <a:bodyPr wrap="square" lIns="9144" rIns="9144" tIns="9144" bIns="9144">
            <a:spAutoFit/>
          </a:bodyPr>
          <a:lstStyle/>
          <a:p>
            <a:pPr>
              <a:lnSpc>
                <a:spcPct val="104000"/>
              </a:lnSpc>
              <a:spcAft>
                <a:spcPts val="300"/>
              </a:spcAft>
              <a:defRPr sz="1700" b="0">
                <a:solidFill>
                  <a:srgbClr val="17324D"/>
                </a:solidFill>
                <a:latin typeface="DejaVu Sans"/>
              </a:defRPr>
            </a:pPr>
            <a:r>
              <a:t>Anderson &amp; Roth (2018) — EMBER</a:t>
            </a:r>
          </a:p>
          <a:p>
            <a:pPr>
              <a:lnSpc>
                <a:spcPct val="104000"/>
              </a:lnSpc>
              <a:spcAft>
                <a:spcPts val="300"/>
              </a:spcAft>
              <a:defRPr sz="1700" b="0">
                <a:solidFill>
                  <a:srgbClr val="17324D"/>
                </a:solidFill>
                <a:latin typeface="DejaVu Sans"/>
              </a:defRPr>
            </a:pPr>
            <a:r>
              <a:t>Åström &amp; Hägglund (2001) — PID</a:t>
            </a:r>
          </a:p>
          <a:p>
            <a:pPr>
              <a:lnSpc>
                <a:spcPct val="104000"/>
              </a:lnSpc>
              <a:spcAft>
                <a:spcPts val="300"/>
              </a:spcAft>
              <a:defRPr sz="1700" b="0">
                <a:solidFill>
                  <a:srgbClr val="17324D"/>
                </a:solidFill>
                <a:latin typeface="DejaVu Sans"/>
              </a:defRPr>
            </a:pPr>
            <a:r>
              <a:t>Lundberg &amp; Lee (2017) — SHAP</a:t>
            </a:r>
          </a:p>
          <a:p>
            <a:pPr>
              <a:lnSpc>
                <a:spcPct val="104000"/>
              </a:lnSpc>
              <a:spcAft>
                <a:spcPts val="300"/>
              </a:spcAft>
              <a:defRPr sz="1700" b="0">
                <a:solidFill>
                  <a:srgbClr val="17324D"/>
                </a:solidFill>
                <a:latin typeface="DejaVu Sans"/>
              </a:defRPr>
            </a:pPr>
            <a:r>
              <a:t>Settles (2009) — Active Learning</a:t>
            </a:r>
          </a:p>
          <a:p>
            <a:pPr>
              <a:lnSpc>
                <a:spcPct val="104000"/>
              </a:lnSpc>
              <a:spcAft>
                <a:spcPts val="300"/>
              </a:spcAft>
              <a:defRPr sz="1700" b="0">
                <a:solidFill>
                  <a:srgbClr val="17324D"/>
                </a:solidFill>
                <a:latin typeface="DejaVu Sans"/>
              </a:defRPr>
            </a:pPr>
            <a:r>
              <a:t>Yeh và cs. (2019) — Infidelity / Sensitivity</a:t>
            </a:r>
          </a:p>
        </p:txBody>
      </p:sp>
      <p:sp>
        <p:nvSpPr>
          <p:cNvPr id="15" name="Rounded Rectangle 14"/>
          <p:cNvSpPr/>
          <p:nvPr/>
        </p:nvSpPr>
        <p:spPr>
          <a:xfrm>
            <a:off x="502920" y="5596128"/>
            <a:ext cx="11183112" cy="539496"/>
          </a:xfrm>
          <a:prstGeom prst="roundRect">
            <a:avLst>
              <a:gd name="adj" fmla="val 10000"/>
            </a:avLst>
          </a:prstGeom>
          <a:solidFill>
            <a:srgbClr val="FFF1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5696712"/>
            <a:ext cx="10844784" cy="384048"/>
          </a:xfrm>
          <a:prstGeom prst="rect">
            <a:avLst/>
          </a:prstGeom>
          <a:noFill/>
        </p:spPr>
        <p:txBody>
          <a:bodyPr wrap="square" lIns="9144" rIns="9144" tIns="9144" bIns="9144">
            <a:spAutoFit/>
          </a:bodyPr>
          <a:lstStyle/>
          <a:p>
            <a:pPr>
              <a:lnSpc>
                <a:spcPct val="104000"/>
              </a:lnSpc>
              <a:spcAft>
                <a:spcPts val="300"/>
              </a:spcAft>
              <a:defRPr sz="1350" b="1">
                <a:solidFill>
                  <a:srgbClr val="A66B16"/>
                </a:solidFill>
                <a:latin typeface="DejaVu Sans"/>
              </a:defRPr>
            </a:pPr>
            <a:r>
              <a:t>Chưa có hash tệp PE, họ hoặc thời gian nguồn: split theo dòng chưa thay được kiểm chứng theo họ/thời gian.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 đóng góp và bằng chứng thực nghiệm</dc:title>
  <dc:subject>Kết quả thực nghiệm và tiếp thu góp ý Seminar</dc:subject>
  <dc:creator>Lưu Văn Doanh</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