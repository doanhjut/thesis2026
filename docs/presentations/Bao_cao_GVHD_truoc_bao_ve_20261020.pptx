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2148840" cy="310896"/>
          </a:xfrm>
          <a:prstGeom prst="round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9496"/>
            <a:ext cx="2148840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BÁO CÁO VỚI GVHD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10607040" cy="10789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Noto Sans"/>
              </a:rPr>
              <a:t>Bằng chứng thực nghiệm cho
ba đóng góp của luận văn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96312"/>
            <a:ext cx="987552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CBBCF"/>
                </a:solidFill>
                <a:latin typeface="Noto Sans"/>
              </a:rPr>
              <a:t>Phát hiện mã độc đa tầng • PID Fusion • XAI-Guided Active Learning • Fidelity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03320"/>
            <a:ext cx="3337560" cy="139903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840480"/>
            <a:ext cx="300837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Noto Sans"/>
              </a:rPr>
              <a:t>ĐÃ XÁC NHẬN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160520"/>
            <a:ext cx="300837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2 đóng góp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663440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AL và Fidelity • 5-fold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3703320"/>
            <a:ext cx="3337560" cy="139903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3840480"/>
            <a:ext cx="300837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BE52"/>
                </a:solidFill>
                <a:latin typeface="Noto Sans"/>
              </a:rPr>
              <a:t>ĐÃ CHẠY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4160520"/>
            <a:ext cx="300837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PID • n = 199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4663440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Pipeline end-to-end • 5-fold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1544" y="3703320"/>
            <a:ext cx="3337560" cy="139903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46136" y="3840480"/>
            <a:ext cx="300837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0D0FF"/>
                </a:solidFill>
                <a:latin typeface="Noto Sans"/>
              </a:rPr>
              <a:t>THỜI GIAN CÒN LẠI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6136" y="4160520"/>
            <a:ext cx="300837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20 ngày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4663440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Hoàn tất PID và khóa luận văn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607040" cy="3383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Noto Sans"/>
              </a:rPr>
              <a:t>Học viên: Lưu Văn Doanh   |   GVHD: PGS.TS. Trương Ninh Thuận   |   20/10/2026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54496"/>
            <a:ext cx="10607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Mục tiêu buổi làm việc: thống nhất phạm vi kết luận và kế hoạch chốt bản bảo vệ.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01 / ĐỊNH VỊ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Điểm mới nằm ở ba khoảng trống có thể đo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So sánh trực tiếp cách làm phổ biến với cơ chế đề xuất và bằng chứng tương ứng.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3136392" cy="39319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12264"/>
            <a:ext cx="2743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ACBBCF"/>
                </a:solidFill>
                <a:latin typeface="Noto Sans"/>
              </a:rPr>
              <a:t>Cách làm phổ biến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ACBBCF"/>
                </a:solidFill>
                <a:latin typeface="Noto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679192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Trọng số tĩnh–động cố định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ACBBCF"/>
                </a:solidFill>
                <a:latin typeface="Noto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3621024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Lấy mẫu theo bất định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81144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ACBBCF"/>
                </a:solidFill>
                <a:latin typeface="Not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4562856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SHAP chỉ để minh họa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78224" y="1901952"/>
            <a:ext cx="3136392" cy="39319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112264"/>
            <a:ext cx="2743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40D0FF"/>
                </a:solidFill>
                <a:latin typeface="Noto Sans"/>
              </a:rPr>
              <a:t>Đóng góp của luận văn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2697480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79192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Noto Sans"/>
              </a:rPr>
              <a:t>PID điều chỉnh trọng số theo tiến trình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3639312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621024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Thêm H và V từ cấu trúc 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4581144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562856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Deletion + stability theo đối chứng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34656" y="1901952"/>
            <a:ext cx="3136392" cy="39319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35824" y="2112264"/>
            <a:ext cx="2743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42D392"/>
                </a:solidFill>
                <a:latin typeface="Noto Sans"/>
              </a:rPr>
              <a:t>Đại lượng chứng minh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2697480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Noto San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679192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P / PI / PID • AUC, AP, FPR, TPR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3639312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Noto San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621024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AULC • nhãn để đạt mục tiêu • overhead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4581144"/>
            <a:ext cx="292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Noto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562856"/>
            <a:ext cx="2286000" cy="5852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Noto Sans"/>
              </a:rPr>
              <a:t>Top-SHAP vs random • nhiều k /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Phạm vi đo: mã độc Windows/EMBER; các phát biểu ransomware-specific chỉ dùng khi nhãn nguồn hỗ trợ.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02 / 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Một hệ thống, ba câu hỏi nghiên cứu tách biệt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Mỗi đóng góp có đối chứng và tiêu chí đánh giá riêng để tránh gộp hiệu quả.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621792" y="2011680"/>
            <a:ext cx="2057400" cy="1078992"/>
          </a:xfrm>
          <a:prstGeom prst="chevron">
            <a:avLst/>
          </a:prstGeom>
          <a:solidFill>
            <a:srgbClr val="1A2A44"/>
          </a:solidFill>
          <a:ln w="15240">
            <a:solidFill>
              <a:srgbClr val="6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57984"/>
            <a:ext cx="1673352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6089FF"/>
                </a:solidFill>
                <a:latin typeface="Noto Sans"/>
              </a:rPr>
              <a:t>Tĩnh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1655064" cy="51206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40" b="0">
                <a:solidFill>
                  <a:srgbClr val="ACBBCF"/>
                </a:solidFill>
                <a:latin typeface="Noto Sans"/>
              </a:rPr>
              <a:t>Đặc trưng PE → pₛ</a:t>
            </a:r>
          </a:p>
        </p:txBody>
      </p:sp>
      <p:sp>
        <p:nvSpPr>
          <p:cNvPr id="10" name="Chevron 9"/>
          <p:cNvSpPr/>
          <p:nvPr/>
        </p:nvSpPr>
        <p:spPr>
          <a:xfrm>
            <a:off x="2852928" y="2011680"/>
            <a:ext cx="2057400" cy="1078992"/>
          </a:xfrm>
          <a:prstGeom prst="chevron">
            <a:avLst/>
          </a:prstGeom>
          <a:solidFill>
            <a:srgbClr val="1A2A44"/>
          </a:solidFill>
          <a:ln w="15240">
            <a:solidFill>
              <a:srgbClr val="FF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2157984"/>
            <a:ext cx="1673352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FFBE52"/>
                </a:solidFill>
                <a:latin typeface="Noto Sans"/>
              </a:rPr>
              <a:t>Cổng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487168"/>
            <a:ext cx="1655064" cy="51206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40" b="0">
                <a:solidFill>
                  <a:srgbClr val="ACBBCF"/>
                </a:solidFill>
                <a:latin typeface="Noto Sans"/>
              </a:rPr>
              <a:t>Bất định quyết định chạy động</a:t>
            </a:r>
          </a:p>
        </p:txBody>
      </p:sp>
      <p:sp>
        <p:nvSpPr>
          <p:cNvPr id="13" name="Chevron 12"/>
          <p:cNvSpPr/>
          <p:nvPr/>
        </p:nvSpPr>
        <p:spPr>
          <a:xfrm>
            <a:off x="5084064" y="2011680"/>
            <a:ext cx="2057400" cy="1078992"/>
          </a:xfrm>
          <a:prstGeom prst="chevron">
            <a:avLst/>
          </a:prstGeom>
          <a:solidFill>
            <a:srgbClr val="1A2A44"/>
          </a:solidFill>
          <a:ln w="1524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157984"/>
            <a:ext cx="1673352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42D392"/>
                </a:solidFill>
                <a:latin typeface="Noto Sans"/>
              </a:rPr>
              <a:t>Động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487168"/>
            <a:ext cx="1655064" cy="51206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40" b="0">
                <a:solidFill>
                  <a:srgbClr val="ACBBCF"/>
                </a:solidFill>
                <a:latin typeface="Noto Sans"/>
              </a:rPr>
              <a:t>Chuỗi API → p_d</a:t>
            </a:r>
          </a:p>
        </p:txBody>
      </p:sp>
      <p:sp>
        <p:nvSpPr>
          <p:cNvPr id="16" name="Chevron 15"/>
          <p:cNvSpPr/>
          <p:nvPr/>
        </p:nvSpPr>
        <p:spPr>
          <a:xfrm>
            <a:off x="7315200" y="2011680"/>
            <a:ext cx="2057400" cy="1078992"/>
          </a:xfrm>
          <a:prstGeom prst="chevron">
            <a:avLst/>
          </a:prstGeom>
          <a:solidFill>
            <a:srgbClr val="1A2A44"/>
          </a:solidFill>
          <a:ln w="15240">
            <a:solidFill>
              <a:srgbClr val="40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2157984"/>
            <a:ext cx="1673352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40D0FF"/>
                </a:solidFill>
                <a:latin typeface="Noto Sans"/>
              </a:rPr>
              <a:t>PID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2487168"/>
            <a:ext cx="1655064" cy="51206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40" b="0">
                <a:solidFill>
                  <a:srgbClr val="ACBBCF"/>
                </a:solidFill>
                <a:latin typeface="Noto Sans"/>
              </a:rPr>
              <a:t>pₛ + p_d → quyết định</a:t>
            </a:r>
          </a:p>
        </p:txBody>
      </p:sp>
      <p:sp>
        <p:nvSpPr>
          <p:cNvPr id="19" name="Chevron 18"/>
          <p:cNvSpPr/>
          <p:nvPr/>
        </p:nvSpPr>
        <p:spPr>
          <a:xfrm>
            <a:off x="9546336" y="2011680"/>
            <a:ext cx="2057400" cy="1078992"/>
          </a:xfrm>
          <a:prstGeom prst="chevron">
            <a:avLst/>
          </a:prstGeom>
          <a:solidFill>
            <a:srgbClr val="1A2A44"/>
          </a:solidFill>
          <a:ln w="1524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3" y="2157984"/>
            <a:ext cx="1673352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Noto Sans"/>
              </a:rPr>
              <a:t>Đầu 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3" y="2487168"/>
            <a:ext cx="1655064" cy="51206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40" b="0">
                <a:solidFill>
                  <a:srgbClr val="ACBBCF"/>
                </a:solidFill>
                <a:latin typeface="Noto Sans"/>
              </a:rPr>
              <a:t>Score + giải thích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03320"/>
            <a:ext cx="5321808" cy="14173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3895344"/>
            <a:ext cx="1124712" cy="310896"/>
          </a:xfrm>
          <a:prstGeom prst="roundRect">
            <a:avLst/>
          </a:prstGeom>
          <a:solidFill>
            <a:srgbClr val="6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3904487"/>
            <a:ext cx="1124712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Noto Sans"/>
              </a:rPr>
              <a:t>ĐÓNG GÓP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4343400"/>
            <a:ext cx="475488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"/>
              </a:rPr>
              <a:t>XAI-Guided 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709160"/>
            <a:ext cx="4800600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ACBBCF"/>
                </a:solidFill>
                <a:latin typeface="Noto Sans"/>
              </a:rPr>
              <a:t>Chọn mẫu cần nhãn → cập nhật mô hình tĩnh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703320"/>
            <a:ext cx="5440680" cy="14173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3895344"/>
            <a:ext cx="1124712" cy="310896"/>
          </a:xfrm>
          <a:prstGeom prst="round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904487"/>
            <a:ext cx="1124712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ĐÓNG GÓP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43400"/>
            <a:ext cx="475488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"/>
              </a:rPr>
              <a:t>Fidelity &amp; Stability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709160"/>
            <a:ext cx="4800600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ACBBCF"/>
                </a:solidFill>
                <a:latin typeface="Noto Sans"/>
              </a:rPr>
              <a:t>Kiểm tra giải thích bằng tác động và độ lặp lại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05856"/>
            <a:ext cx="10698480" cy="3931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40D0FF"/>
                </a:solidFill>
                <a:latin typeface="Noto Sans"/>
              </a:rPr>
              <a:t>Luận điểm trung tâm: hiệu quả được đánh giá bằng vận hành, chi phí nhãn và độ tin cậy — không chỉ một giá trị Accuracy.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Nguồn thiết kế: src/pid_fusion.py • src/xai_active_learning.py • src/fidelity_framework.py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03 / ĐÓNG GÓP 1 — PID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Pilot xác nhận dung hợp; thành phần D chưa tạo hiệu ứng riêng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199 mẫu ghép cặp tĩnh–động • 5 outer folds • tham số và ngưỡng chọn ngoài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856231"/>
            <a:ext cx="5715000" cy="406908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525780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Noto Sans"/>
              </a:rPr>
              <a:t>ROC-AUC cuối chuỗi sự kiện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60320"/>
            <a:ext cx="950976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0">
                <a:solidFill>
                  <a:srgbClr val="F5F8FC"/>
                </a:solidFill>
                <a:latin typeface="Noto Sans"/>
              </a:rPr>
              <a:t>Static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664" y="2683459"/>
            <a:ext cx="3474720" cy="175564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83664" y="2683459"/>
            <a:ext cx="1260826" cy="175564"/>
          </a:xfrm>
          <a:prstGeom prst="rect">
            <a:avLst/>
          </a:prstGeom>
          <a:solidFill>
            <a:srgbClr val="6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6" y="2560320"/>
            <a:ext cx="640080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6089FF"/>
                </a:solidFill>
                <a:latin typeface="Noto Sans"/>
              </a:rPr>
              <a:t>0.9254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47999"/>
            <a:ext cx="950976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Noto Sans"/>
              </a:rPr>
              <a:t>Dynamic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83664" y="3171139"/>
            <a:ext cx="3474720" cy="175564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83664" y="3171139"/>
            <a:ext cx="1712540" cy="175564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3047999"/>
            <a:ext cx="640080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42D392"/>
                </a:solidFill>
                <a:latin typeface="Noto Sans"/>
              </a:rPr>
              <a:t>0.9345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535680"/>
            <a:ext cx="950976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0">
                <a:solidFill>
                  <a:srgbClr val="F5F8FC"/>
                </a:solidFill>
                <a:latin typeface="Noto Sans"/>
              </a:rPr>
              <a:t>Fixed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83664" y="3658819"/>
            <a:ext cx="3474720" cy="175564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3658819"/>
            <a:ext cx="2060012" cy="175564"/>
          </a:xfrm>
          <a:prstGeom prst="rect">
            <a:avLst/>
          </a:prstGeom>
          <a:solidFill>
            <a:srgbClr val="ACB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3535680"/>
            <a:ext cx="640080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ACBBCF"/>
                </a:solidFill>
                <a:latin typeface="Noto Sans"/>
              </a:rPr>
              <a:t>0.9415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023359"/>
            <a:ext cx="950976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Noto Sans"/>
              </a:rPr>
              <a:t>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83664" y="4146499"/>
            <a:ext cx="3474720" cy="175564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83664" y="4146499"/>
            <a:ext cx="2938620" cy="175564"/>
          </a:xfrm>
          <a:prstGeom prst="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4023359"/>
            <a:ext cx="640080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40D0FF"/>
                </a:solidFill>
                <a:latin typeface="Noto Sans"/>
              </a:rPr>
              <a:t>0.9592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511039"/>
            <a:ext cx="950976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0">
                <a:solidFill>
                  <a:srgbClr val="F5F8FC"/>
                </a:solidFill>
                <a:latin typeface="Noto Sans"/>
              </a:rPr>
              <a:t>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83664" y="4634179"/>
            <a:ext cx="3474720" cy="175564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83664" y="4634179"/>
            <a:ext cx="2893945" cy="175564"/>
          </a:xfrm>
          <a:prstGeom prst="rect">
            <a:avLst/>
          </a:prstGeom>
          <a:solidFill>
            <a:srgbClr val="FFB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6" y="4511039"/>
            <a:ext cx="640080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FFBE52"/>
                </a:solidFill>
                <a:latin typeface="Noto Sans"/>
              </a:rPr>
              <a:t>0.9583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998719"/>
            <a:ext cx="950976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0">
                <a:solidFill>
                  <a:srgbClr val="F5F8FC"/>
                </a:solidFill>
                <a:latin typeface="Noto Sans"/>
              </a:rPr>
              <a:t>PID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5121859"/>
            <a:ext cx="3474720" cy="175564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83664" y="5121859"/>
            <a:ext cx="2893945" cy="175564"/>
          </a:xfrm>
          <a:prstGeom prst="rect">
            <a:avLst/>
          </a:prstGeom>
          <a:solidFill>
            <a:srgbClr val="FFB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4998719"/>
            <a:ext cx="640080" cy="4511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FFBE52"/>
                </a:solidFill>
                <a:latin typeface="Noto Sans"/>
              </a:rPr>
              <a:t>0.9583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577840"/>
            <a:ext cx="52578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80" b="0">
                <a:solidFill>
                  <a:srgbClr val="ACBBCF"/>
                </a:solidFill>
                <a:latin typeface="Noto Sans"/>
              </a:rPr>
              <a:t>Trung bình 5 fold; thanh bắt đầu tại AUC = 0,90.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1856231"/>
            <a:ext cx="2286000" cy="117043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1993391"/>
            <a:ext cx="195681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0D0FF"/>
                </a:solidFill>
                <a:latin typeface="Noto Sans"/>
              </a:rPr>
              <a:t>PID − FIXED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2313432"/>
            <a:ext cx="195681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+0,0130 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2587751"/>
            <a:ext cx="195681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95% CI: −0,0086 → +0,0409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9992" y="1856231"/>
            <a:ext cx="2496312" cy="117043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1993391"/>
            <a:ext cx="2167128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Noto Sans"/>
              </a:rPr>
              <a:t>ĐÁNH ĐỔI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2313432"/>
            <a:ext cx="216712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+4,10 pp TPR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2587751"/>
            <a:ext cx="216712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95% CI: +0,94 → +8,26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236976"/>
            <a:ext cx="2286000" cy="117043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8272" y="3374136"/>
            <a:ext cx="195681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6978"/>
                </a:solidFill>
                <a:latin typeface="Noto Sans"/>
              </a:rPr>
              <a:t>FPR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3694176"/>
            <a:ext cx="195681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+5,06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195681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PID cao hơn Fixed trong pilot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79992" y="3236976"/>
            <a:ext cx="2496312" cy="117043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44584" y="3374136"/>
            <a:ext cx="2167128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BE52"/>
                </a:solidFill>
                <a:latin typeface="Noto Sans"/>
              </a:rPr>
              <a:t>P SO VỚI PID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3694176"/>
            <a:ext cx="216712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P: 0,9592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3968496"/>
            <a:ext cx="216712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PID: 0,9583 • gần như trùng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4617720"/>
            <a:ext cx="4992624" cy="1307592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03136" y="4828032"/>
            <a:ext cx="4553712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BE52"/>
                </a:solidFill>
                <a:latin typeface="Noto Sans"/>
              </a:rPr>
              <a:t>KẾT LUẬN ĐÚNG MỨC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3136" y="5193792"/>
            <a:ext cx="4553712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30" b="0">
                <a:solidFill>
                  <a:srgbClr val="F5F8FC"/>
                </a:solidFill>
                <a:latin typeface="Noto Sans"/>
              </a:rPr>
              <a:t>Dung hợp thích nghi cải thiện khả năng xếp hạng; PI và PID không đổi quyết định nào. Cần cohort lớn để kiểm định D và FPR.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Nguồn: measured_20261020_malbehavd_pid_pilot200 • bootstrap ghép cặp 1.000 lần.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04 / ĐÓNG GÓP 2 — XAI-GUIDED 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Tín hiệu XAI giảm số nhãn cần thiết và cải thiện đường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2.000 mẫu EMBER có định danh • 5 folds × 5 seeds • cùng split, pool và ngân sách.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856231"/>
            <a:ext cx="5623560" cy="4087368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5138928" cy="3017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Noto Sans"/>
              </a:rPr>
              <a:t>Số nhãn huấn luyện để đạt AUC validation mục tiêu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42616"/>
            <a:ext cx="1207007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0">
                <a:solidFill>
                  <a:srgbClr val="F5F8FC"/>
                </a:solidFill>
                <a:latin typeface="Noto Sans"/>
              </a:rPr>
              <a:t>Random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9696" y="2773887"/>
            <a:ext cx="3328415" cy="185659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9696" y="2773887"/>
            <a:ext cx="2779227" cy="185659"/>
          </a:xfrm>
          <a:prstGeom prst="rect">
            <a:avLst/>
          </a:prstGeom>
          <a:solidFill>
            <a:srgbClr val="ACB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3" y="2642616"/>
            <a:ext cx="438912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ACBBCF"/>
                </a:solidFill>
                <a:latin typeface="Noto Sans"/>
              </a:rPr>
              <a:t>584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158337"/>
            <a:ext cx="1207007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0">
                <a:solidFill>
                  <a:srgbClr val="F5F8FC"/>
                </a:solidFill>
                <a:latin typeface="Noto Sans"/>
              </a:rPr>
              <a:t>Uncertainty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3289608"/>
            <a:ext cx="3328415" cy="185659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9696" y="3289608"/>
            <a:ext cx="2246680" cy="185659"/>
          </a:xfrm>
          <a:prstGeom prst="rect">
            <a:avLst/>
          </a:prstGeom>
          <a:solidFill>
            <a:srgbClr val="6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1263" y="3158337"/>
            <a:ext cx="438912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6089FF"/>
                </a:solidFill>
                <a:latin typeface="Noto Sans"/>
              </a:rPr>
              <a:t>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674059"/>
            <a:ext cx="1207007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0">
                <a:solidFill>
                  <a:srgbClr val="F5F8FC"/>
                </a:solidFill>
                <a:latin typeface="Noto Sans"/>
              </a:rPr>
              <a:t>U +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9696" y="3805330"/>
            <a:ext cx="3328415" cy="185659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39696" y="3805330"/>
            <a:ext cx="2146828" cy="185659"/>
          </a:xfrm>
          <a:prstGeom prst="rect">
            <a:avLst/>
          </a:prstGeom>
          <a:solidFill>
            <a:srgbClr val="FFB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3" y="3674059"/>
            <a:ext cx="438912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FFBE52"/>
                </a:solidFill>
                <a:latin typeface="Noto Sans"/>
              </a:rPr>
              <a:t>508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189780"/>
            <a:ext cx="1207007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Noto Sans"/>
              </a:rPr>
              <a:t>U + 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9696" y="4321052"/>
            <a:ext cx="3328415" cy="185659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39696" y="4321052"/>
            <a:ext cx="1980407" cy="185659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1263" y="4189780"/>
            <a:ext cx="438912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42D392"/>
                </a:solidFill>
                <a:latin typeface="Noto Sans"/>
              </a:rPr>
              <a:t>488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705502"/>
            <a:ext cx="1207007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Noto Sans"/>
              </a:rPr>
              <a:t>XAI full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9696" y="4836773"/>
            <a:ext cx="3328415" cy="185659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39696" y="4836773"/>
            <a:ext cx="2013691" cy="185659"/>
          </a:xfrm>
          <a:prstGeom prst="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3" y="4705502"/>
            <a:ext cx="438912" cy="47914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20" b="1">
                <a:solidFill>
                  <a:srgbClr val="40D0FF"/>
                </a:solidFill>
                <a:latin typeface="Noto Sans"/>
              </a:rPr>
              <a:t>492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376672"/>
            <a:ext cx="5138928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40D0FF"/>
                </a:solidFill>
                <a:latin typeface="Noto Sans"/>
              </a:rPr>
              <a:t>XAI full tiết kiệm 92 nhãn (15,8%) so với Random
và 28 nhãn (5,4%) so với Uncertainty.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856231"/>
            <a:ext cx="2395728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1" y="1993391"/>
            <a:ext cx="206654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Noto Sans"/>
              </a:rPr>
              <a:t>U+H − RANDOM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1" y="2313432"/>
            <a:ext cx="2066544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+0,00425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1" y="2679191"/>
            <a:ext cx="2066544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ROC-AULC • thắng 5/5 folds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424" y="1856231"/>
            <a:ext cx="2468880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1993391"/>
            <a:ext cx="213969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Noto Sans"/>
              </a:rPr>
              <a:t>U+H − RANDOM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2313432"/>
            <a:ext cx="213969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+0,01498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2679191"/>
            <a:ext cx="213969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AP-AULC • thắng 5/5 folds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355848"/>
            <a:ext cx="2395728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3493008"/>
            <a:ext cx="206654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0D0FF"/>
                </a:solidFill>
                <a:latin typeface="Noto Sans"/>
              </a:rPr>
              <a:t>XAI FULL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1" y="3813048"/>
            <a:ext cx="2066544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492 nhãn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1" y="4178808"/>
            <a:ext cx="2066544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Random cần 584 nhãn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07424" y="3355848"/>
            <a:ext cx="2468880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2016" y="3493008"/>
            <a:ext cx="213969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BE52"/>
                </a:solidFill>
                <a:latin typeface="Noto Sans"/>
              </a:rPr>
              <a:t>OVERHEAD TRUY VẤN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2016" y="3813048"/>
            <a:ext cx="213969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5,42%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2016" y="4178808"/>
            <a:ext cx="213969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Tỷ trọng query/(train+query)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4855464"/>
            <a:ext cx="5084064" cy="1088136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9984" y="5074920"/>
            <a:ext cx="4626864" cy="52120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Noto Sans"/>
              </a:rPr>
              <a:t>H giúp chất lượng đường học; V/full score giúp đạt mục tiêu với ít nhãn hơn. Đóng góp được chứng minh theo từng thành phần.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Nguồn: confirmatory_20261019_ember_identity/al • 25 cặp fold–seed; nhãn là oracle query.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05 / ĐÓNG GÓP 3 — ĐÁNH GIÁ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Top-SHAP ảnh hưởng dự đoán mạnh hơn đối chứng ngẫu nhiên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25 mô hình • mean/median masking • k = 10, 25, 50 • kiểm tra thêm độ ổn định thứ hạng.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856231"/>
            <a:ext cx="6565392" cy="4078224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6035040" cy="3017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Noto Sans"/>
              </a:rPr>
              <a:t>AUC drop sau masking — baseline =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24912"/>
            <a:ext cx="530352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"/>
              </a:rPr>
              <a:t>k=10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743200"/>
            <a:ext cx="4526280" cy="182880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2743200"/>
            <a:ext cx="655857" cy="182880"/>
          </a:xfrm>
          <a:prstGeom prst="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4184" y="2688336"/>
            <a:ext cx="841248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50" b="1">
                <a:solidFill>
                  <a:srgbClr val="40D0FF"/>
                </a:solidFill>
                <a:latin typeface="Noto Sans"/>
              </a:rPr>
              <a:t>0.0478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3054096"/>
            <a:ext cx="4526280" cy="10972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3054096"/>
            <a:ext cx="22860" cy="109728"/>
          </a:xfrm>
          <a:prstGeom prst="rect">
            <a:avLst/>
          </a:prstGeom>
          <a:solidFill>
            <a:srgbClr val="ACB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4184" y="2990088"/>
            <a:ext cx="841248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19" b="1">
                <a:solidFill>
                  <a:srgbClr val="ACBBCF"/>
                </a:solidFill>
                <a:latin typeface="Noto Sans"/>
              </a:rPr>
              <a:t>0.0002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584448"/>
            <a:ext cx="530352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"/>
              </a:rPr>
              <a:t>k=25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602736"/>
            <a:ext cx="4526280" cy="182880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3602736"/>
            <a:ext cx="1863359" cy="182880"/>
          </a:xfrm>
          <a:prstGeom prst="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3547872"/>
            <a:ext cx="841248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50" b="1">
                <a:solidFill>
                  <a:srgbClr val="40D0FF"/>
                </a:solidFill>
                <a:latin typeface="Noto Sans"/>
              </a:rPr>
              <a:t>0.1359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913632"/>
            <a:ext cx="4526280" cy="10972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3913632"/>
            <a:ext cx="22860" cy="109728"/>
          </a:xfrm>
          <a:prstGeom prst="rect">
            <a:avLst/>
          </a:prstGeom>
          <a:solidFill>
            <a:srgbClr val="ACB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184" y="3849624"/>
            <a:ext cx="841248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19" b="1">
                <a:solidFill>
                  <a:srgbClr val="ACBBCF"/>
                </a:solidFill>
                <a:latin typeface="Noto Sans"/>
              </a:rPr>
              <a:t>0.0005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443983"/>
            <a:ext cx="530352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"/>
              </a:rPr>
              <a:t>k=50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462271"/>
            <a:ext cx="4526280" cy="182880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63040" y="4462271"/>
            <a:ext cx="4207094" cy="182880"/>
          </a:xfrm>
          <a:prstGeom prst="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44184" y="4407407"/>
            <a:ext cx="841248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50" b="1">
                <a:solidFill>
                  <a:srgbClr val="40D0FF"/>
                </a:solidFill>
                <a:latin typeface="Noto Sans"/>
              </a:rPr>
              <a:t>0.3067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773168"/>
            <a:ext cx="4526280" cy="10972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63040" y="4773168"/>
            <a:ext cx="22860" cy="109728"/>
          </a:xfrm>
          <a:prstGeom prst="rect">
            <a:avLst/>
          </a:prstGeom>
          <a:solidFill>
            <a:srgbClr val="ACB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44184" y="4709159"/>
            <a:ext cx="841248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19" b="1">
                <a:solidFill>
                  <a:srgbClr val="ACBBCF"/>
                </a:solidFill>
                <a:latin typeface="Noto Sans"/>
              </a:rPr>
              <a:t>0.0010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5413248"/>
            <a:ext cx="1170432" cy="310896"/>
          </a:xfrm>
          <a:prstGeom prst="round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5422392"/>
            <a:ext cx="1170432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TOP-SHAP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79776" y="5413248"/>
            <a:ext cx="1143000" cy="310896"/>
          </a:xfrm>
          <a:prstGeom prst="roundRect">
            <a:avLst/>
          </a:prstGeom>
          <a:solidFill>
            <a:srgbClr val="ACB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5422392"/>
            <a:ext cx="1143000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RANDOM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4927" y="1856231"/>
            <a:ext cx="1929384" cy="128016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19" y="1993391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Noto Sans"/>
              </a:rPr>
              <a:t>SPEARMAN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2313432"/>
            <a:ext cx="160020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0,614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2697479"/>
            <a:ext cx="16002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within-fold • 50 cặp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82912" y="1856231"/>
            <a:ext cx="1993392" cy="128016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47504" y="1993391"/>
            <a:ext cx="1664208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BE52"/>
                </a:solidFill>
                <a:latin typeface="Noto Sans"/>
              </a:rPr>
              <a:t>SPEARMAN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7504" y="2313432"/>
            <a:ext cx="166420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0,551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504" y="2697479"/>
            <a:ext cx="16642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across-fold • 250 cặp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24927" y="3383280"/>
            <a:ext cx="1929384" cy="128016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19" y="3520440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0D0FF"/>
                </a:solidFill>
                <a:latin typeface="Noto Sans"/>
              </a:rPr>
              <a:t>TOP-25 DROP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19" y="3840480"/>
            <a:ext cx="160020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0,1359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24527"/>
            <a:ext cx="16002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random: 0,0005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82912" y="3383280"/>
            <a:ext cx="1993392" cy="128016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47504" y="3520440"/>
            <a:ext cx="1664208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089FF"/>
                </a:solidFill>
                <a:latin typeface="Noto Sans"/>
              </a:rPr>
              <a:t>MÔ HÌNH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47504" y="3840480"/>
            <a:ext cx="166420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47504" y="4224527"/>
            <a:ext cx="16642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5 folds × 5 seeds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24927" y="4910328"/>
            <a:ext cx="4151376" cy="1024128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44383" y="5111496"/>
            <a:ext cx="3703320" cy="52120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80" b="1">
                <a:solidFill>
                  <a:srgbClr val="F5F8FC"/>
                </a:solidFill>
                <a:latin typeface="Noto Sans"/>
              </a:rPr>
              <a:t>Không gộp OFS khi chưa có chuẩn hóa chung; báo riêng fidelity, contrast và stability.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Nguồn: confirmatory_20261019_ember_identity/fidelity • masking trong không gian đặc trưng EMBER.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06 / TIẾP THU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Mỗi nhận xét đã được chuyển thành một phép kiểm chứng cụ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Tách rõ điều đã đo, kết luận được phép nói và phần đang hoàn tất.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10972800" cy="557784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3822191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30" b="1">
                <a:solidFill>
                  <a:srgbClr val="F5F8FC"/>
                </a:solidFill>
                <a:latin typeface="Noto Sans"/>
              </a:rPr>
              <a:t>PID có cần thiết? P/PI/PID khác gì?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1965960"/>
            <a:ext cx="523036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10" b="0">
                <a:solidFill>
                  <a:srgbClr val="ACBBCF"/>
                </a:solidFill>
                <a:latin typeface="Noto Sans"/>
              </a:rPr>
              <a:t>Ablation 7 cấu hình + bootstrap ghép cặp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22408" y="1988819"/>
            <a:ext cx="1207008" cy="310896"/>
          </a:xfrm>
          <a:prstGeom prst="roundRect">
            <a:avLst/>
          </a:prstGeom>
          <a:solidFill>
            <a:srgbClr val="FFB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22408" y="1997963"/>
            <a:ext cx="1207008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523744"/>
            <a:ext cx="10972800" cy="557784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7"/>
            <a:ext cx="3822191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30" b="1">
                <a:solidFill>
                  <a:srgbClr val="F5F8FC"/>
                </a:solidFill>
                <a:latin typeface="Noto Sans"/>
              </a:rPr>
              <a:t>Chỉ số XAI có phù hợp với mã độc?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24327"/>
            <a:ext cx="523036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10" b="0">
                <a:solidFill>
                  <a:srgbClr val="ACBBCF"/>
                </a:solidFill>
                <a:latin typeface="Noto Sans"/>
              </a:rPr>
              <a:t>Mean/median masking + random control + 3 mức 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22408" y="2647187"/>
            <a:ext cx="1207008" cy="310896"/>
          </a:xfrm>
          <a:prstGeom prst="round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2408" y="2656331"/>
            <a:ext cx="1207008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ĐÃ ĐO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182112"/>
            <a:ext cx="10972800" cy="557784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282696"/>
            <a:ext cx="3822191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30" b="1">
                <a:solidFill>
                  <a:srgbClr val="F5F8FC"/>
                </a:solidFill>
                <a:latin typeface="Noto Sans"/>
              </a:rPr>
              <a:t>Kết quả gán nhãn chưa thuyết phục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282696"/>
            <a:ext cx="523036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10" b="0">
                <a:solidFill>
                  <a:srgbClr val="ACBBCF"/>
                </a:solidFill>
                <a:latin typeface="Noto Sans"/>
              </a:rPr>
              <a:t>5 folds × 5 seeds; AULC + budget-to-target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22408" y="3305556"/>
            <a:ext cx="1207008" cy="310896"/>
          </a:xfrm>
          <a:prstGeom prst="round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2408" y="3314700"/>
            <a:ext cx="1207008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ĐÃ ĐO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840480"/>
            <a:ext cx="10972800" cy="557784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941064"/>
            <a:ext cx="3822191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30" b="1">
                <a:solidFill>
                  <a:srgbClr val="F5F8FC"/>
                </a:solidFill>
                <a:latin typeface="Noto Sans"/>
              </a:rPr>
              <a:t>AUC tăng ít có ý nghĩa gì?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941064"/>
            <a:ext cx="523036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10" b="0">
                <a:solidFill>
                  <a:srgbClr val="ACBBCF"/>
                </a:solidFill>
                <a:latin typeface="Noto Sans"/>
              </a:rPr>
              <a:t>Báo CI, AP, FPR/TPR, low-FPR và chi phí nhãn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22408" y="3963924"/>
            <a:ext cx="1207008" cy="310896"/>
          </a:xfrm>
          <a:prstGeom prst="round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2408" y="3973068"/>
            <a:ext cx="1207008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ĐÃ SỬA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498848"/>
            <a:ext cx="10972800" cy="557784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599432"/>
            <a:ext cx="3822191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30" b="1">
                <a:solidFill>
                  <a:srgbClr val="F5F8FC"/>
                </a:solidFill>
                <a:latin typeface="Noto Sans"/>
              </a:rPr>
              <a:t>Tĩnh / động / kết hợp đóng góp gì?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599432"/>
            <a:ext cx="523036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10" b="0">
                <a:solidFill>
                  <a:srgbClr val="ACBBCF"/>
                </a:solidFill>
                <a:latin typeface="Noto Sans"/>
              </a:rPr>
              <a:t>Static, Dynamic, Fixed, P, PI, PID cùng protocol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22408" y="4622292"/>
            <a:ext cx="1207008" cy="310896"/>
          </a:xfrm>
          <a:prstGeom prst="roundRect">
            <a:avLst/>
          </a:prstGeom>
          <a:solidFill>
            <a:srgbClr val="FFB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4631436"/>
            <a:ext cx="1207008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PILOT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157216"/>
            <a:ext cx="10972800" cy="557784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257800"/>
            <a:ext cx="3822191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30" b="1">
                <a:solidFill>
                  <a:srgbClr val="F5F8FC"/>
                </a:solidFill>
                <a:latin typeface="Noto Sans"/>
              </a:rPr>
              <a:t>Toàn hệ thống được gì?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5257800"/>
            <a:ext cx="523036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10" b="0">
                <a:solidFill>
                  <a:srgbClr val="ACBBCF"/>
                </a:solidFill>
                <a:latin typeface="Noto Sans"/>
              </a:rPr>
              <a:t>Claim–evidence map; không cộng chéo metric khác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22408" y="5280659"/>
            <a:ext cx="1207008" cy="310896"/>
          </a:xfrm>
          <a:prstGeom prst="round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5289803"/>
            <a:ext cx="1207008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ĐÃ SỬA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Nguyên tắc khóa luận: mọi con số trên slide truy về một artifact; kết quả âm vẫn được giữ.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07 / MỨC SẴN SÀNG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Phần còn lại tập trung vào xác nhận PID trên cohort đầy đủ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Pipeline, split, audit và artifact schema đã khóa; không cần thiết kế lại nghiên cứu.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856231"/>
            <a:ext cx="2560320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93391"/>
            <a:ext cx="223113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089FF"/>
                </a:solidFill>
                <a:latin typeface="Noto Sans"/>
              </a:rPr>
              <a:t>COHORT PID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13432"/>
            <a:ext cx="223113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1.923 mẫu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79191"/>
            <a:ext cx="22311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932 benign • 991 malware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856231"/>
            <a:ext cx="2560320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93391"/>
            <a:ext cx="223113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BE52"/>
                </a:solidFill>
                <a:latin typeface="Noto Sans"/>
              </a:rPr>
              <a:t>ĐÃ THU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13432"/>
            <a:ext cx="223113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493 mẫu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79191"/>
            <a:ext cx="22311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25,64% • cân bằng theo fold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56231"/>
            <a:ext cx="2560320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93391"/>
            <a:ext cx="223113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0D0FF"/>
                </a:solidFill>
                <a:latin typeface="Noto Sans"/>
              </a:rPr>
              <a:t>NGƯỠNG CHẠY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13432"/>
            <a:ext cx="223113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≥ 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679191"/>
            <a:ext cx="22311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1.731 mẫu usable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856231"/>
            <a:ext cx="2633472" cy="1261872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993391"/>
            <a:ext cx="2304288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Noto Sans"/>
              </a:rPr>
              <a:t>CẦN THÊM TỐI THIỂU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313432"/>
            <a:ext cx="230428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Noto Sans"/>
              </a:rPr>
              <a:t>1.238 mẫu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679191"/>
            <a:ext cx="230428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CBBCF"/>
                </a:solidFill>
                <a:latin typeface="Noto Sans"/>
              </a:rPr>
              <a:t>Sau đó chạy đúng protocol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456432"/>
            <a:ext cx="2121408" cy="201168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57600"/>
            <a:ext cx="179222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1">
                <a:solidFill>
                  <a:srgbClr val="FFBE52"/>
                </a:solidFill>
                <a:latin typeface="Noto Sans"/>
              </a:rPr>
              <a:t>D−20 → D−16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050791"/>
            <a:ext cx="1792224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20" b="1">
                <a:solidFill>
                  <a:srgbClr val="F5F8FC"/>
                </a:solidFill>
                <a:latin typeface="Noto Sans"/>
              </a:rPr>
              <a:t>Thu đủ 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700016"/>
            <a:ext cx="1792224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ACBBCF"/>
                </a:solidFill>
                <a:latin typeface="Noto Sans"/>
              </a:rPr>
              <a:t>Audit coverage ≥90%; khóa manifest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3456432"/>
            <a:ext cx="2121408" cy="201168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9232" y="3657600"/>
            <a:ext cx="179222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1">
                <a:solidFill>
                  <a:srgbClr val="40D0FF"/>
                </a:solidFill>
                <a:latin typeface="Noto Sans"/>
              </a:rPr>
              <a:t>D−15 → D−12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4050791"/>
            <a:ext cx="1792224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20" b="1">
                <a:solidFill>
                  <a:srgbClr val="F5F8FC"/>
                </a:solidFill>
                <a:latin typeface="Noto Sans"/>
              </a:rPr>
              <a:t>Chạy PID confirmatory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4700016"/>
            <a:ext cx="1792224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ACBBCF"/>
                </a:solidFill>
                <a:latin typeface="Noto Sans"/>
              </a:rPr>
              <a:t>5-fold; P/PI/PID; CI và sensitivity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7488" y="3456432"/>
            <a:ext cx="2121408" cy="201168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9" y="3657600"/>
            <a:ext cx="179222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1">
                <a:solidFill>
                  <a:srgbClr val="42D392"/>
                </a:solidFill>
                <a:latin typeface="Noto Sans"/>
              </a:rPr>
              <a:t>D−11 → D−7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4050791"/>
            <a:ext cx="1792224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20" b="1">
                <a:solidFill>
                  <a:srgbClr val="F5F8FC"/>
                </a:solidFill>
                <a:latin typeface="Noto Sans"/>
              </a:rPr>
              <a:t>Cập nhật luận văn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9" y="4700016"/>
            <a:ext cx="1792224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ACBBCF"/>
                </a:solidFill>
                <a:latin typeface="Noto Sans"/>
              </a:rPr>
              <a:t>Bảng, hình, phạm vi kết luận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0336" y="3456432"/>
            <a:ext cx="2121408" cy="201168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4927" y="3657600"/>
            <a:ext cx="179222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1">
                <a:solidFill>
                  <a:srgbClr val="6089FF"/>
                </a:solidFill>
                <a:latin typeface="Noto Sans"/>
              </a:rPr>
              <a:t>D−6 → D−3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7" y="4050791"/>
            <a:ext cx="1792224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20" b="1">
                <a:solidFill>
                  <a:srgbClr val="F5F8FC"/>
                </a:solidFill>
                <a:latin typeface="Noto Sans"/>
              </a:rPr>
              <a:t>Khóa slide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4700016"/>
            <a:ext cx="1792224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ACBBCF"/>
                </a:solidFill>
                <a:latin typeface="Noto Sans"/>
              </a:rPr>
              <a:t>Đối soát số và nguồn artifact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73184" y="3456432"/>
            <a:ext cx="2121408" cy="201168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7776" y="3657600"/>
            <a:ext cx="179222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1">
                <a:solidFill>
                  <a:srgbClr val="F5F8FC"/>
                </a:solidFill>
                <a:latin typeface="Noto Sans"/>
              </a:rPr>
              <a:t>D−2 → D−0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4050791"/>
            <a:ext cx="1792224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20" b="1">
                <a:solidFill>
                  <a:srgbClr val="F5F8FC"/>
                </a:solidFill>
                <a:latin typeface="Noto Sans"/>
              </a:rPr>
              <a:t>Luyện bảo vệ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7776" y="4700016"/>
            <a:ext cx="1792224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ACBBCF"/>
                </a:solidFill>
                <a:latin typeface="Noto Sans"/>
              </a:rPr>
              <a:t>Q&amp;A PID, overhead, OFS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5797296"/>
            <a:ext cx="10716768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50" b="1">
                <a:solidFill>
                  <a:srgbClr val="40D0FF"/>
                </a:solidFill>
                <a:latin typeface="Noto Sans"/>
              </a:rPr>
              <a:t>Điều kiện chốt: chỉ thay bảng PID pilot bằng kết quả full-cohort sau khi verification và hash artifact đều đạt.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Tiến độ đo tại 20/10/2026: measured_20261020_malbehavd_pid_full_collection_progress.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08 / ĐỀ XUẤT CHỐT PHẠM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Noto Sans"/>
              </a:rPr>
              <a:t>Có cơ sở để tiếp tục bảo vệ trong đợt này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ACBBCF"/>
                </a:solidFill>
                <a:latin typeface="Noto Sans"/>
              </a:rPr>
              <a:t>Hai đóng góp đã có confirmatory evidence; PID có pilot tái lập và kế hoạch xác nhận trong 20 ngày.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38912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ACBBCF"/>
                </a:solidFill>
                <a:latin typeface="Noto San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45952" cy="18288"/>
          </a:xfrm>
          <a:prstGeom prst="rect">
            <a:avLst/>
          </a:prstGeom>
          <a:solidFill>
            <a:srgbClr val="39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920240"/>
            <a:ext cx="3218688" cy="25603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30552"/>
            <a:ext cx="475488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BE52"/>
                </a:solidFill>
                <a:latin typeface="Not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2761488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"/>
              </a:rPr>
              <a:t>PID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172968"/>
            <a:ext cx="1417320" cy="310896"/>
          </a:xfrm>
          <a:prstGeom prst="roundRect">
            <a:avLst/>
          </a:prstGeom>
          <a:solidFill>
            <a:srgbClr val="FFB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82112"/>
            <a:ext cx="1417320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PILOT ĐÃ ĐO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57600"/>
            <a:ext cx="2761488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ACBBCF"/>
                </a:solidFill>
                <a:latin typeface="Noto Sans"/>
              </a:rPr>
              <a:t>AUC +0,013 so với Fixed; cần cohort lớn để chốt D/FPR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1920240"/>
            <a:ext cx="3218688" cy="25603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130552"/>
            <a:ext cx="475488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2D392"/>
                </a:solidFill>
                <a:latin typeface="Noto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87752"/>
            <a:ext cx="2761488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"/>
              </a:rPr>
              <a:t>XAI-Guided 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172968"/>
            <a:ext cx="1417320" cy="310896"/>
          </a:xfrm>
          <a:prstGeom prst="round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3182112"/>
            <a:ext cx="1417320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ĐÃ XÁC NHẬN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657600"/>
            <a:ext cx="2761488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ACBBCF"/>
                </a:solidFill>
                <a:latin typeface="Noto Sans"/>
              </a:rPr>
              <a:t>−15,8% nhãn so với Random; AULC cải thiện 5/5 folds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920240"/>
            <a:ext cx="3218688" cy="2560320"/>
          </a:xfrm>
          <a:prstGeom prst="round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2130552"/>
            <a:ext cx="475488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2D392"/>
                </a:solidFill>
                <a:latin typeface="Noto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587752"/>
            <a:ext cx="2761488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"/>
              </a:rPr>
              <a:t>Fidelity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0688" y="3172968"/>
            <a:ext cx="1417320" cy="310896"/>
          </a:xfrm>
          <a:prstGeom prst="round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3182112"/>
            <a:ext cx="1417320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ĐÃ XÁC NHẬN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657600"/>
            <a:ext cx="2761488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ACBBCF"/>
                </a:solidFill>
                <a:latin typeface="Noto Sans"/>
              </a:rPr>
              <a:t>Top-SHAP deletion &gt;&gt; random; stability đo trên 25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818888"/>
            <a:ext cx="10168128" cy="109728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10912"/>
            <a:ext cx="6876288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D0FF"/>
                </a:solidFill>
                <a:latin typeface="Noto Sans"/>
              </a:rPr>
              <a:t>ĐỀ NGHỊ THẦY HƯỚNG DẪN THỐNG NHẤT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04104"/>
            <a:ext cx="687628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20" b="1">
                <a:solidFill>
                  <a:srgbClr val="F5F8FC"/>
                </a:solidFill>
                <a:latin typeface="Noto Sans"/>
              </a:rPr>
              <a:t>Giữ ba đóng góp; ưu tiên hoàn tất PID; khóa phát biểu theo đúng bằng chứng đo được.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1" y="5166360"/>
            <a:ext cx="2212848" cy="310896"/>
          </a:xfrm>
          <a:prstGeom prst="roundRect">
            <a:avLst/>
          </a:prstGeom>
          <a:solidFill>
            <a:srgbClr val="4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5175504"/>
            <a:ext cx="2212848" cy="2651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0A1222"/>
                </a:solidFill>
                <a:latin typeface="Noto Sans"/>
              </a:rPr>
              <a:t>20 NGÀY ĐỂ CHỐT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6144768"/>
            <a:ext cx="10625328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60" b="1">
                <a:solidFill>
                  <a:srgbClr val="F5F8FC"/>
                </a:solidFill>
                <a:latin typeface="Noto Sans"/>
              </a:rPr>
              <a:t>Thông điệp bảo vệ: giá trị của hệ thống nằm ở dung hợp thích nghi, tiết kiệm nhãn và giải thích có thể kiểm chứng.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CBBCF"/>
                </a:solidFill>
                <a:latin typeface="Noto Sans"/>
              </a:rPr>
              <a:t>Tất cả số liệu trong deck lấy từ artifact đã đo; không dùng bảng giả lập hoặc số bản thảo chưa xác minh.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GVHD trước bảo vệ — bằng chứng cho ba đóng góp</dc:title>
  <dc:subject>Kết quả thực nghiệm đo thật và kế hoạch hoàn tất trong 20 ngày</dc:subject>
  <dc:creator>Lưu Văn Doanh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